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•  Day 2 of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Performance &amp; Integration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14400" y="4434840"/>
            <a:ext cx="27432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572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Taming the bill, wiring the pipeline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9601200" y="2011680"/>
            <a:ext cx="2194560" cy="2194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852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  •  90 minutes  •  Hands-on demo included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ORIENTATION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Arjun nailed yesterday — and today's mission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530352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00200"/>
            <a:ext cx="530352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00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locked ✓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4028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2128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= object storage (buckets, keys, prefixes)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889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761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Azure-to-AWS mental model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3756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3101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policies vs bucket policies vs ACLs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8620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38587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Public Access — the safety net</a:t>
            </a:r>
            <a:endParaRPr lang="en-US" sz="13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3484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71600" y="44074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+ delete markers</a:t>
            </a:r>
            <a:endParaRPr lang="en-US" sz="13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983480"/>
            <a:ext cx="320040" cy="3200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371600" y="49560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CRR / SRR replication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6309360" y="160020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6309360" y="1600200"/>
            <a:ext cx="5120640" cy="4572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3" name="Text 15"/>
          <p:cNvSpPr/>
          <p:nvPr/>
        </p:nvSpPr>
        <p:spPr>
          <a:xfrm>
            <a:off x="640080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today's mission</a:t>
            </a:r>
            <a:endParaRPr lang="en-US" sz="14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2240280"/>
            <a:ext cx="320040" cy="32004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949440" y="22128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classes + lifecycle rules</a:t>
            </a:r>
            <a:endParaRPr lang="en-US" sz="13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2788920"/>
            <a:ext cx="320040" cy="32004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949440" y="27614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(at-rest + in-transit)</a:t>
            </a:r>
            <a:endParaRPr lang="en-US" sz="13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3337560"/>
            <a:ext cx="320040" cy="32004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949440" y="33101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(multipart, byte-range, Transfer Accel)</a:t>
            </a:r>
            <a:endParaRPr lang="en-US" sz="13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3886200"/>
            <a:ext cx="320040" cy="32004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949440" y="3858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notifications + EventBridge</a:t>
            </a:r>
            <a:endParaRPr lang="en-US" sz="13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2240" y="4434840"/>
            <a:ext cx="320040" cy="32004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949440" y="4407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partitioning patterns</a:t>
            </a:r>
            <a:endParaRPr lang="en-US" sz="1300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240" y="4983480"/>
            <a:ext cx="320040" cy="320040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6949440" y="49560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+ recap of full S3</a:t>
            </a:r>
            <a:endParaRPr lang="en-US" sz="1300" dirty="0"/>
          </a:p>
        </p:txBody>
      </p:sp>
      <p:sp>
        <p:nvSpPr>
          <p:cNvPr id="36" name="Text 2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37" name="Text 23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Amazon S3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90 minutes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64792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647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min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80136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60320" y="1709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Arjun Day 2 hook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560320" y="2039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yesterday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2359152"/>
            <a:ext cx="10728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432304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232F3E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43230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5–25 min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4688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0320" y="2377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classes + Lifecycle rules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560320" y="2706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classes, 2 real scenarios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31520" y="3026664"/>
            <a:ext cx="10728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1520" y="3099816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232F3E"/>
          </a:solidFill>
          <a:ln/>
        </p:spPr>
      </p:sp>
      <p:sp>
        <p:nvSpPr>
          <p:cNvPr id="19" name="Text 15"/>
          <p:cNvSpPr/>
          <p:nvPr/>
        </p:nvSpPr>
        <p:spPr>
          <a:xfrm>
            <a:off x="731520" y="309981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25–40 min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3136392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560320" y="30449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(4 methods)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2560320" y="33741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SSE-S3, SSE-KMS, SSE-C, client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31520" y="3694176"/>
            <a:ext cx="10728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31520" y="3767328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232F3E"/>
          </a:solidFill>
          <a:ln/>
        </p:spPr>
      </p:sp>
      <p:sp>
        <p:nvSpPr>
          <p:cNvPr id="25" name="Text 20"/>
          <p:cNvSpPr/>
          <p:nvPr/>
        </p:nvSpPr>
        <p:spPr>
          <a:xfrm>
            <a:off x="731520" y="376732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40–53 min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3803904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560320" y="37124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Performance tricks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2560320" y="40416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Multipart, Transfer Accel, byte-range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731520" y="4361688"/>
            <a:ext cx="10728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31520" y="4434840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232F3E"/>
          </a:solidFill>
          <a:ln/>
        </p:spPr>
      </p:sp>
      <p:sp>
        <p:nvSpPr>
          <p:cNvPr id="31" name="Text 25"/>
          <p:cNvSpPr/>
          <p:nvPr/>
        </p:nvSpPr>
        <p:spPr>
          <a:xfrm>
            <a:off x="731520" y="44348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53–68 min</a:t>
            </a:r>
            <a:endParaRPr lang="en-US" sz="11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4471416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560320" y="437997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notifications + EventBridge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2560320" y="4709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 trigger pattern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731520" y="5029200"/>
            <a:ext cx="10728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731520" y="5102352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232F3E"/>
          </a:solidFill>
          <a:ln/>
        </p:spPr>
      </p:sp>
      <p:sp>
        <p:nvSpPr>
          <p:cNvPr id="37" name="Text 30"/>
          <p:cNvSpPr/>
          <p:nvPr/>
        </p:nvSpPr>
        <p:spPr>
          <a:xfrm>
            <a:off x="731520" y="510235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68–80 min</a:t>
            </a:r>
            <a:endParaRPr lang="en-US" sz="11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1680" y="5138928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2560320" y="504748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partitioning patterns</a:t>
            </a:r>
            <a:endParaRPr lang="en-US" sz="1600" dirty="0"/>
          </a:p>
        </p:txBody>
      </p:sp>
      <p:sp>
        <p:nvSpPr>
          <p:cNvPr id="40" name="Text 32"/>
          <p:cNvSpPr/>
          <p:nvPr/>
        </p:nvSpPr>
        <p:spPr>
          <a:xfrm>
            <a:off x="2560320" y="5376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Athena &amp; Glue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731520" y="5696712"/>
            <a:ext cx="10728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731520" y="5769864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232F3E"/>
          </a:solidFill>
          <a:ln/>
        </p:spPr>
      </p:sp>
      <p:sp>
        <p:nvSpPr>
          <p:cNvPr id="43" name="Text 35"/>
          <p:cNvSpPr/>
          <p:nvPr/>
        </p:nvSpPr>
        <p:spPr>
          <a:xfrm>
            <a:off x="731520" y="576986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80–90 min</a:t>
            </a:r>
            <a:endParaRPr lang="en-US" sz="110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1680" y="5806440"/>
            <a:ext cx="365760" cy="36576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2560320" y="57150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S3 recap + demo + Q&amp;A</a:t>
            </a:r>
            <a:endParaRPr lang="en-US" sz="1600" dirty="0"/>
          </a:p>
        </p:txBody>
      </p:sp>
      <p:sp>
        <p:nvSpPr>
          <p:cNvPr id="46" name="Text 37"/>
          <p:cNvSpPr/>
          <p:nvPr/>
        </p:nvSpPr>
        <p:spPr>
          <a:xfrm>
            <a:off x="2560320" y="60441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 on both days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48" name="Text 39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Amazon S3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CONTINUES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Arjun's Day 2 problem — the bill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10728655" cy="1188720"/>
          </a:xfrm>
          <a:prstGeom prst="roundRect">
            <a:avLst>
              <a:gd name="adj" fmla="val 7692"/>
            </a:avLst>
          </a:prstGeom>
          <a:solidFill>
            <a:srgbClr val="232F3E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6002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"Arjun, our AWS bill came in. </a:t>
            </a:r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costs $48,000 this month.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finance team is asking questions. Can you fix it?"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3246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329184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3977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on Standard storage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443484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logs from 3 years ago cost the same as yesterday's hot data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26280" y="306324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3246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329184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709160" y="3977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lifecycle policies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709160" y="443484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versions of objects never cleaned — versioning bloat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321040" y="306324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549640" y="3246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2" name="Text 18"/>
          <p:cNvSpPr/>
          <p:nvPr/>
        </p:nvSpPr>
        <p:spPr>
          <a:xfrm>
            <a:off x="85496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3291840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503920" y="3977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from Australia uncompressed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503920" y="443484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ingestion costs, slow transfer speeds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731520" y="594360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fix all three of Arjun's problems. Storage classes handle #1. Lifecycle policies handle #2. Performance tricks handle #3.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Amazon S3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Classes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data is equal — so why pay the same for all of it?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9326880" y="137160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120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minutes  •  exam favourite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CLASSES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storage classes — pick by access frequency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72768"/>
            <a:ext cx="11094415" cy="365760"/>
          </a:xfrm>
          <a:prstGeom prst="roundRect">
            <a:avLst>
              <a:gd name="adj" fmla="val 17500"/>
            </a:avLst>
          </a:prstGeom>
          <a:solidFill>
            <a:srgbClr val="FF7A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72768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 —  frequent access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92808"/>
            <a:ext cx="11094415" cy="621792"/>
          </a:xfrm>
          <a:prstGeom prst="roundRect">
            <a:avLst>
              <a:gd name="adj" fmla="val 5882"/>
            </a:avLst>
          </a:prstGeom>
          <a:solidFill>
            <a:srgbClr val="FFF4E0"/>
          </a:solidFill>
          <a:ln w="6350">
            <a:solidFill>
              <a:srgbClr val="FF7A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92808"/>
            <a:ext cx="64008" cy="621792"/>
          </a:xfrm>
          <a:prstGeom prst="rect">
            <a:avLst/>
          </a:prstGeom>
          <a:solidFill>
            <a:srgbClr val="FF7A0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38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2402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99.99% avail • 3+ AZs • $0.023/GB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62495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data, streaming, real-time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478024"/>
            <a:ext cx="11094415" cy="365760"/>
          </a:xfrm>
          <a:prstGeom prst="roundRect">
            <a:avLst>
              <a:gd name="adj" fmla="val 17500"/>
            </a:avLst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478024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 —  infrequent access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798064"/>
            <a:ext cx="11094415" cy="621792"/>
          </a:xfrm>
          <a:prstGeom prst="roundRect">
            <a:avLst>
              <a:gd name="adj" fmla="val 5882"/>
            </a:avLst>
          </a:prstGeom>
          <a:solidFill>
            <a:srgbClr val="E0F7F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798064"/>
            <a:ext cx="64008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8437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Standard-IA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314553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99.9% avail • 3+ AZs • $0.0125/GB + retrieval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62495" y="287121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backups, accessed &lt; monthly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328416"/>
            <a:ext cx="11094415" cy="621792"/>
          </a:xfrm>
          <a:prstGeom prst="roundRect">
            <a:avLst>
              <a:gd name="adj" fmla="val 5882"/>
            </a:avLst>
          </a:prstGeom>
          <a:solidFill>
            <a:srgbClr val="E0F7F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328416"/>
            <a:ext cx="64008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3741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Zone-IA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36758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99.5% avail • 1 AZ only • $0.01/GB + retrieval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62495" y="34015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Recreatable data, dev backups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858768"/>
            <a:ext cx="11094415" cy="621792"/>
          </a:xfrm>
          <a:prstGeom prst="roundRect">
            <a:avLst>
              <a:gd name="adj" fmla="val 5882"/>
            </a:avLst>
          </a:prstGeom>
          <a:solidFill>
            <a:srgbClr val="E0F7F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858768"/>
            <a:ext cx="64008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904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Intelligent-Tiering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7240" y="42062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Auto-moves • no retrieval fees • monitoring cost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62495" y="3931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or changing access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443984"/>
            <a:ext cx="11094415" cy="365760"/>
          </a:xfrm>
          <a:prstGeom prst="roundRect">
            <a:avLst>
              <a:gd name="adj" fmla="val 17500"/>
            </a:avLst>
          </a:pr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443984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 —  archive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764024"/>
            <a:ext cx="11094415" cy="621792"/>
          </a:xfrm>
          <a:prstGeom prst="roundRect">
            <a:avLst>
              <a:gd name="adj" fmla="val 5882"/>
            </a:avLst>
          </a:prstGeom>
          <a:solidFill>
            <a:srgbClr val="EEF2FF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764024"/>
            <a:ext cx="64008" cy="62179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8097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 Instant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77240" y="511149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Millisecond retrieval • $0.004/GB • 90-day min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62495" y="48371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access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294376"/>
            <a:ext cx="11094415" cy="621792"/>
          </a:xfrm>
          <a:prstGeom prst="roundRect">
            <a:avLst>
              <a:gd name="adj" fmla="val 5882"/>
            </a:avLst>
          </a:prstGeom>
          <a:solidFill>
            <a:srgbClr val="EEF2FF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5294376"/>
            <a:ext cx="64008" cy="62179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53400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 Flexible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77240" y="564184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1–5 min / 3–5 hr / 5–12 hr • $0.0036/GB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162495" y="5367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data, annual access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5824728"/>
            <a:ext cx="11094415" cy="621792"/>
          </a:xfrm>
          <a:prstGeom prst="roundRect">
            <a:avLst>
              <a:gd name="adj" fmla="val 5882"/>
            </a:avLst>
          </a:prstGeom>
          <a:solidFill>
            <a:srgbClr val="EEF2FF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5824728"/>
            <a:ext cx="64008" cy="62179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" y="5870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 Deep Archive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77240" y="61722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hr / 48 hr • $0.00099/GB • 180-day min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62495" y="5897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7-year regulatory archive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Amazon S3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class — the cost/speed tradeoff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10728655" cy="685800"/>
          </a:xfrm>
          <a:prstGeom prst="roundRect">
            <a:avLst>
              <a:gd name="adj" fmla="val 10667"/>
            </a:avLst>
          </a:prstGeom>
          <a:solidFill>
            <a:srgbClr val="E0F7FA"/>
          </a:solidFill>
          <a:ln w="12700">
            <a:solidFill>
              <a:srgbClr val="00A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engineers: 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Tier → Standard  |  Cool Tier → Standard-IA  |  Archive Tier → Glacier Deep Archive.  The logic is identical; the pricing and retrieval speeds differ.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10728655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468880"/>
            <a:ext cx="73152" cy="713232"/>
          </a:xfrm>
          <a:prstGeom prst="rect">
            <a:avLst/>
          </a:prstGeom>
          <a:solidFill>
            <a:srgbClr val="FF7A0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54203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daily or more?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25237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Standard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852928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Arjun's bronze/silver/gold active data, dashboards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264408"/>
            <a:ext cx="10728655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264408"/>
            <a:ext cx="73152" cy="7132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3375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monthly or less, but need instant retrieval?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0" y="3319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Standard-IA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648456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Raw layer older than 30 days, DR 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059936"/>
            <a:ext cx="10728655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059936"/>
            <a:ext cx="73152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13308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pattern unpredictable?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0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Intelligent-Tiering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443984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Let AWS move automatically — no retrieval fee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855464"/>
            <a:ext cx="10728655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855464"/>
            <a:ext cx="73152" cy="7132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92861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quarter, can wait 1–5 min?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0" y="4910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Glacier Instant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523951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Compliance data accessed for audits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5650992"/>
            <a:ext cx="10728655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5650992"/>
            <a:ext cx="73152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572414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year or less, hours are fine?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0" y="57058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Glacier Flexible / Deep Archive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0120" y="603504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7-year regulatory archive, legal hold data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Amazon S3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Intelligent-Tiering — let AWS decide for you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5029200" cy="731520"/>
          </a:xfrm>
          <a:prstGeom prst="roundRect">
            <a:avLst>
              <a:gd name="adj" fmla="val 7500"/>
            </a:avLst>
          </a:prstGeom>
          <a:solidFill>
            <a:srgbClr val="FFF4E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45920"/>
            <a:ext cx="64008" cy="731520"/>
          </a:xfrm>
          <a:prstGeom prst="rect">
            <a:avLst/>
          </a:prstGeom>
          <a:solidFill>
            <a:srgbClr val="FF7A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19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Access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029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7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$0.023/GB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95728"/>
            <a:ext cx="274320" cy="16459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31520" y="2560320"/>
            <a:ext cx="4800600" cy="731520"/>
          </a:xfrm>
          <a:prstGeom prst="roundRect">
            <a:avLst>
              <a:gd name="adj" fmla="val 7500"/>
            </a:avLst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2560320"/>
            <a:ext cx="64008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26334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Infrequent Access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294436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idle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886200" y="2633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$0.0125/GB</a:t>
            </a:r>
            <a:endParaRPr lang="en-US" sz="13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310128"/>
            <a:ext cx="274320" cy="16459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31520" y="3474720"/>
            <a:ext cx="4572000" cy="731520"/>
          </a:xfrm>
          <a:prstGeom prst="roundRect">
            <a:avLst>
              <a:gd name="adj" fmla="val 7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474720"/>
            <a:ext cx="64008" cy="7315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Text 16"/>
          <p:cNvSpPr/>
          <p:nvPr/>
        </p:nvSpPr>
        <p:spPr>
          <a:xfrm>
            <a:off x="914400" y="3547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Instant Access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914400" y="3858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 idle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657600" y="3547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$0.004/GB</a:t>
            </a:r>
            <a:endParaRPr lang="en-US" sz="13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224528"/>
            <a:ext cx="274320" cy="164592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31520" y="4389120"/>
            <a:ext cx="4343400" cy="731520"/>
          </a:xfrm>
          <a:prstGeom prst="roundRect">
            <a:avLst>
              <a:gd name="adj" fmla="val 75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31520" y="4389120"/>
            <a:ext cx="64008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1"/>
          <p:cNvSpPr/>
          <p:nvPr/>
        </p:nvSpPr>
        <p:spPr>
          <a:xfrm>
            <a:off x="914400" y="44622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Access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914400" y="47731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90–700 days (optional)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3429000" y="4462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$0.0036/GB</a:t>
            </a:r>
            <a:endParaRPr lang="en-US" sz="13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5138928"/>
            <a:ext cx="274320" cy="164592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731520" y="5303520"/>
            <a:ext cx="4114800" cy="731520"/>
          </a:xfrm>
          <a:prstGeom prst="roundRect">
            <a:avLst>
              <a:gd name="adj" fmla="val 7500"/>
            </a:avLst>
          </a:prstGeom>
          <a:solidFill>
            <a:srgbClr val="EDE9FE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31520" y="5303520"/>
            <a:ext cx="64008" cy="73152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2" name="Text 26"/>
          <p:cNvSpPr/>
          <p:nvPr/>
        </p:nvSpPr>
        <p:spPr>
          <a:xfrm>
            <a:off x="914400" y="5376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Archive Access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914400" y="5687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180–700 days (optional)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3200400" y="5376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$0.00099/GB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658368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special</a:t>
            </a:r>
            <a:endParaRPr lang="en-US" sz="1700" dirty="0"/>
          </a:p>
        </p:txBody>
      </p:sp>
      <p:sp>
        <p:nvSpPr>
          <p:cNvPr id="36" name="Shape 30"/>
          <p:cNvSpPr/>
          <p:nvPr/>
        </p:nvSpPr>
        <p:spPr>
          <a:xfrm>
            <a:off x="6583680" y="2148840"/>
            <a:ext cx="48463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583680" y="2148840"/>
            <a:ext cx="64008" cy="74980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8" name="Text 32"/>
          <p:cNvSpPr/>
          <p:nvPr/>
        </p:nvSpPr>
        <p:spPr>
          <a:xfrm>
            <a:off x="676656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retrieval fees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6766560" y="25328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storage class that never charges per-GB retrieval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583680" y="3017520"/>
            <a:ext cx="48463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6583680" y="3017520"/>
            <a:ext cx="64008" cy="74980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2" name="Text 36"/>
          <p:cNvSpPr/>
          <p:nvPr/>
        </p:nvSpPr>
        <p:spPr>
          <a:xfrm>
            <a:off x="6766560" y="3081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Auto-moves on access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6766560" y="3401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accessed → immediately back to Frequent Access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6583680" y="3886200"/>
            <a:ext cx="48463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6583680" y="3886200"/>
            <a:ext cx="64008" cy="74980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6" name="Text 40"/>
          <p:cNvSpPr/>
          <p:nvPr/>
        </p:nvSpPr>
        <p:spPr>
          <a:xfrm>
            <a:off x="6766560" y="3950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fee</a:t>
            </a:r>
            <a:endParaRPr lang="en-US" sz="1300" dirty="0"/>
          </a:p>
        </p:txBody>
      </p:sp>
      <p:sp>
        <p:nvSpPr>
          <p:cNvPr id="47" name="Text 41"/>
          <p:cNvSpPr/>
          <p:nvPr/>
        </p:nvSpPr>
        <p:spPr>
          <a:xfrm>
            <a:off x="6766560" y="4270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$0.0025 per 1,000 objects/month — not free, but usually worth it</a:t>
            </a:r>
            <a:endParaRPr lang="en-US" sz="1100" dirty="0"/>
          </a:p>
        </p:txBody>
      </p:sp>
      <p:sp>
        <p:nvSpPr>
          <p:cNvPr id="48" name="Shape 42"/>
          <p:cNvSpPr/>
          <p:nvPr/>
        </p:nvSpPr>
        <p:spPr>
          <a:xfrm>
            <a:off x="6583680" y="4754880"/>
            <a:ext cx="48463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6583680" y="4754880"/>
            <a:ext cx="64008" cy="74980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0" name="Text 44"/>
          <p:cNvSpPr/>
          <p:nvPr/>
        </p:nvSpPr>
        <p:spPr>
          <a:xfrm>
            <a:off x="67665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archive tiers</a:t>
            </a:r>
            <a:endParaRPr lang="en-US" sz="1300" dirty="0"/>
          </a:p>
        </p:txBody>
      </p:sp>
      <p:sp>
        <p:nvSpPr>
          <p:cNvPr id="51" name="Text 45"/>
          <p:cNvSpPr/>
          <p:nvPr/>
        </p:nvSpPr>
        <p:spPr>
          <a:xfrm>
            <a:off x="6766560" y="5138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+ Deep Archive tiers require manual activation; retrieval hours not ms</a:t>
            </a:r>
            <a:endParaRPr lang="en-US" sz="1100" dirty="0"/>
          </a:p>
        </p:txBody>
      </p:sp>
      <p:sp>
        <p:nvSpPr>
          <p:cNvPr id="52" name="Shape 46"/>
          <p:cNvSpPr/>
          <p:nvPr/>
        </p:nvSpPr>
        <p:spPr>
          <a:xfrm>
            <a:off x="6583680" y="5623560"/>
            <a:ext cx="48463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6583680" y="5623560"/>
            <a:ext cx="64008" cy="74980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4" name="Text 48"/>
          <p:cNvSpPr/>
          <p:nvPr/>
        </p:nvSpPr>
        <p:spPr>
          <a:xfrm>
            <a:off x="6766560" y="5687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unknown patterns</a:t>
            </a:r>
            <a:endParaRPr lang="en-US" sz="1300" dirty="0"/>
          </a:p>
        </p:txBody>
      </p:sp>
      <p:sp>
        <p:nvSpPr>
          <p:cNvPr id="55" name="Text 49"/>
          <p:cNvSpPr/>
          <p:nvPr/>
        </p:nvSpPr>
        <p:spPr>
          <a:xfrm>
            <a:off x="6766560" y="6007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→ set Intelligent-Tiering → forget</a:t>
            </a:r>
            <a:endParaRPr lang="en-US" sz="1100" dirty="0"/>
          </a:p>
        </p:txBody>
      </p:sp>
      <p:sp>
        <p:nvSpPr>
          <p:cNvPr id="56" name="Text 5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57" name="Text 51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Amazon S3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Lifecycle Rules — automate the cost journey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00200"/>
            <a:ext cx="534924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002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Actions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cheaper storage over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560320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25420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Standard-IA after 30 days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063240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0449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Glacier Flexible after 90 days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566160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35478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Glacier Deep Archive after 365 days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069080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40507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specific prefixes (orders/) or tags (Tier=Raw)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160020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1600200"/>
            <a:ext cx="534924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6002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Actions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37960" y="21945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delete objects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256032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5420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objects after X days (access logs → 365 days)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306324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30449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old versions (if versioning enabled)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356616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35478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incomplete multipart uploads (save hidden cost!)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37960" y="406908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40507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by prefix, suffix, or tag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4983480"/>
            <a:ext cx="1072865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14400" y="5074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Arjun's lifecycle rule for raw orders data: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2960" y="544068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FF7A00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4406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0: Standard</a:t>
            </a:r>
            <a:endParaRPr lang="en-US" sz="100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8648" y="5669280"/>
            <a:ext cx="182880" cy="18288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063240" y="544068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/>
        </p:spPr>
      </p:sp>
      <p:sp>
        <p:nvSpPr>
          <p:cNvPr id="36" name="Text 33"/>
          <p:cNvSpPr/>
          <p:nvPr/>
        </p:nvSpPr>
        <p:spPr>
          <a:xfrm>
            <a:off x="3108960" y="54406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30: Standard-IA</a:t>
            </a:r>
            <a:endParaRPr lang="en-US" sz="1000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5669280"/>
            <a:ext cx="182880" cy="182880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5303520" y="544068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6366F1"/>
          </a:solidFill>
          <a:ln/>
        </p:spPr>
      </p:sp>
      <p:sp>
        <p:nvSpPr>
          <p:cNvPr id="39" name="Text 35"/>
          <p:cNvSpPr/>
          <p:nvPr/>
        </p:nvSpPr>
        <p:spPr>
          <a:xfrm>
            <a:off x="5349240" y="54406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90: Glacier Flexible</a:t>
            </a:r>
            <a:endParaRPr lang="en-US" sz="1000" dirty="0"/>
          </a:p>
        </p:txBody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5669280"/>
            <a:ext cx="182880" cy="182880"/>
          </a:xfrm>
          <a:prstGeom prst="rect">
            <a:avLst/>
          </a:prstGeom>
        </p:spPr>
      </p:pic>
      <p:sp>
        <p:nvSpPr>
          <p:cNvPr id="41" name="Shape 36"/>
          <p:cNvSpPr/>
          <p:nvPr/>
        </p:nvSpPr>
        <p:spPr>
          <a:xfrm>
            <a:off x="7543800" y="544068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</p:sp>
      <p:sp>
        <p:nvSpPr>
          <p:cNvPr id="42" name="Text 37"/>
          <p:cNvSpPr/>
          <p:nvPr/>
        </p:nvSpPr>
        <p:spPr>
          <a:xfrm>
            <a:off x="7589520" y="54406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365: Glacier Deep Archive</a:t>
            </a:r>
            <a:endParaRPr lang="en-US" sz="1000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88" y="5669280"/>
            <a:ext cx="182880" cy="182880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9784080" y="544068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/>
        </p:spPr>
      </p:sp>
      <p:sp>
        <p:nvSpPr>
          <p:cNvPr id="45" name="Text 39"/>
          <p:cNvSpPr/>
          <p:nvPr/>
        </p:nvSpPr>
        <p:spPr>
          <a:xfrm>
            <a:off x="9829800" y="54406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2555 (7yr): Expire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Amazon S3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PRACTICE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lifecycle scenarios — real interview questions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10728655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002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— Profile photo thumbnails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creates thumbnails after profile photo uploads. Thumbnails are easily re-creatable, kept 60 days only. Source photos must be instantly available for 60 days, then a 6-hour wait is acceptable.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photos → Standard. Lifecycle rule: transition to Glacier Flexible after 60 days.  |  Thumbnails → One Zone-IA (recreatable). Lifecycle expiration after 60 days.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10728655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749040"/>
            <a:ext cx="10728655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7490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— Versioned bucket with 2-tier recovery SLA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2976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deleted objects must be recoverable immediately for 30 days. After 30 days, recoverable within 48 hours for up to 365 days.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84632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Versioning so deletes are logical (delete marker). Lifecycle: transition noncurrent versions to Standard-IA after 30 days. Then to Glacier Deep Archive after 365 days.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60807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Exam tip: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always specifies versioning + noncurrent-version transitions. The word 'noncurrent' = versioning is required.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Amazon S3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A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key? Everything else follows from that question.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9326880" y="137160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120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minutes  •  very exam-relevant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ways to encrypt S3 data — pick by key ownership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0200"/>
            <a:ext cx="2788920" cy="48463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00200"/>
            <a:ext cx="278892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SSE-S3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23042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owns &amp; manages the key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788920"/>
            <a:ext cx="2514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26080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on all new buckets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x-amz-server-side-encryption: AES256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management overhead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562356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9FAFB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6235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choice — use this unless you need audit trail or BYOK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84448" y="1600200"/>
            <a:ext cx="2788920" cy="48463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84448" y="1600200"/>
            <a:ext cx="278892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3721608" y="17830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SSE-KMS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21608" y="23042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manages your key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21608" y="2788920"/>
            <a:ext cx="2514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21608" y="2926080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KMS key in AWS KMS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every access via CloudTrail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x-amz-server-side-encryption: aws:kms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Hits KMS API quota at scale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75888" y="562356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9FAFB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21608" y="56235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/ regulated data needing key audit trail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83096" y="1600200"/>
            <a:ext cx="2788920" cy="48463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83096" y="1600200"/>
            <a:ext cx="2788920" cy="1097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6620256" y="17830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SSE-C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620256" y="23042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provide the key per request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0256" y="2788920"/>
            <a:ext cx="2514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0256" y="2926080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sent in HTTPS header every request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encrypts, but never stores key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mandatory (no HTTP)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key management burden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74536" y="562356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9FAFB"/>
          </a:solidFill>
          <a:ln w="6350">
            <a:solidFill>
              <a:srgbClr val="FF9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0256" y="56235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key systems that can't use KMS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381744" y="1600200"/>
            <a:ext cx="2788920" cy="48463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381744" y="1600200"/>
            <a:ext cx="2788920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9518904" y="17830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518904" y="23042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encrypt before upload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518904" y="2788920"/>
            <a:ext cx="2514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18904" y="2926080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encrypted by your code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never sees plaintext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S3 Client-Side Encryption SDK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responsibility: encrypt, decrypt, rotate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473184" y="562356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9FAFB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18904" y="56235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requirements — you don't trust AWS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Amazon S3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encryption details that trip everyone up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10728655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00200"/>
            <a:ext cx="91440" cy="1508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709928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SSE-KMS quota caveat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S3 PUT calls GenerateDataKey on KMS. Every GET calls Decrypt. These hit your KMS quota (5,500–30,000 req/s by region). At 100,000 requests/second, you'll throttle. Fix: request quota increase, use S3 Bucket Keys (reduces KMS calls by ~99%), or switch to SSE-S3.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10728655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291840"/>
            <a:ext cx="91440" cy="15087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401568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encryption ≠ mandatory encryption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7947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SSE-S3 is default — objects are encrypted if you don't specify anything. But a bucket policy can go further: DENY any PutObject that doesn't include the SSE-KMS header. That forces a specific method. Bucket policies are evaluated BEFORE default encryption — policy trumps default.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983480"/>
            <a:ext cx="10728655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983480"/>
            <a:ext cx="91440" cy="1508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5093208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is always required for SSE-C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548640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SSE-C sends your encryption key in the HTTP header with every request. HTTP = plaintext = your key travels in the clear. AWS enforces HTTPS for SSE-C. For SSE-S3 and SSE-KMS, HTTPS is recommended but not enforced (use a bucket policy to force it).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Amazon S3  |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Arjun uploads 30TB fast and reads it even faster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9326880" y="137160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120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 minutes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1/3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baseline performance — and the prefix trick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232F3E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9164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PUT/COPY/POST/DELETE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second per prefix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60020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232F3E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69164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5,500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617720" y="26060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GET/HEAD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second per prefix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160020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232F3E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169164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100–200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412480" y="26060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latency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611880"/>
            <a:ext cx="10728655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prefix trick — multiply your throughput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160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prefixes → 4 × 5,500 = 22,000 GET/HEAD per second on one bucket: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s3://swiggy-datalake/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4480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orders/year=2026/month=04/day=18/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89520" y="4480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5,500 GET/s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773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s3://swiggy-datalake/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orders/year=2026/month=04/day=17/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89520" y="4773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5,500 GET/s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50657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s3://swiggy-datalake/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26080" y="50657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clickstream/year=2026/month=04/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5065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5,500 GET/s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53583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s3://swiggy-datalake/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53583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payments/year=2026/month=04/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89520" y="53583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5,500 GET/s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566928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cost. Just smart prefix design.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Amazon S3  |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2/3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upload + Transfer Acceleration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00200"/>
            <a:ext cx="548640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00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Upload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2240280"/>
            <a:ext cx="4114800" cy="502920"/>
          </a:xfrm>
          <a:prstGeom prst="roundRect">
            <a:avLst>
              <a:gd name="adj" fmla="val 9091"/>
            </a:avLst>
          </a:prstGeom>
          <a:solidFill>
            <a:srgbClr val="232F3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40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order-data-2026-04.parquet  (8 GB)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788920"/>
            <a:ext cx="32004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651760" y="2816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parts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14400" y="3154680"/>
            <a:ext cx="960120" cy="502920"/>
          </a:xfrm>
          <a:prstGeom prst="roundRect">
            <a:avLst>
              <a:gd name="adj" fmla="val 7273"/>
            </a:avLst>
          </a:prstGeom>
          <a:solidFill>
            <a:srgbClr val="FF9900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1546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(1 GB)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965960" y="3154680"/>
            <a:ext cx="960120" cy="502920"/>
          </a:xfrm>
          <a:prstGeom prst="roundRect">
            <a:avLst>
              <a:gd name="adj" fmla="val 7273"/>
            </a:avLst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1965960" y="31546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(1 GB)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017520" y="3154680"/>
            <a:ext cx="960120" cy="502920"/>
          </a:xfrm>
          <a:prstGeom prst="roundRect">
            <a:avLst>
              <a:gd name="adj" fmla="val 7273"/>
            </a:avLst>
          </a:prstGeom>
          <a:solidFill>
            <a:srgbClr val="6366F1"/>
          </a:solidFill>
          <a:ln/>
        </p:spPr>
      </p:sp>
      <p:sp>
        <p:nvSpPr>
          <p:cNvPr id="18" name="Text 15"/>
          <p:cNvSpPr/>
          <p:nvPr/>
        </p:nvSpPr>
        <p:spPr>
          <a:xfrm>
            <a:off x="3017520" y="31546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(1 GB)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069080" y="3154680"/>
            <a:ext cx="960120" cy="502920"/>
          </a:xfrm>
          <a:prstGeom prst="roundRect">
            <a:avLst>
              <a:gd name="adj" fmla="val 7273"/>
            </a:avLst>
          </a:prstGeom>
          <a:solidFill>
            <a:srgbClr val="059669"/>
          </a:solidFill>
          <a:ln/>
        </p:spPr>
      </p:sp>
      <p:sp>
        <p:nvSpPr>
          <p:cNvPr id="20" name="Text 17"/>
          <p:cNvSpPr/>
          <p:nvPr/>
        </p:nvSpPr>
        <p:spPr>
          <a:xfrm>
            <a:off x="4069080" y="31546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1440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all uploaded in parallel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14400" y="40690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files &gt; </a:t>
            </a:r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MB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14400" y="44805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files &gt; </a:t>
            </a:r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GB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14400" y="48920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Parallelises upload  → 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14400" y="53035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Resilient: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part restarts alone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92240" y="1600200"/>
            <a:ext cx="498348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92240" y="1600200"/>
            <a:ext cx="498348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5"/>
          <p:cNvSpPr/>
          <p:nvPr/>
        </p:nvSpPr>
        <p:spPr>
          <a:xfrm>
            <a:off x="6675120" y="16002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Transfer Acceleration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6675120" y="224028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232F3E"/>
          </a:solidFill>
          <a:ln/>
        </p:spPr>
      </p:sp>
      <p:sp>
        <p:nvSpPr>
          <p:cNvPr id="30" name="Text 27"/>
          <p:cNvSpPr/>
          <p:nvPr/>
        </p:nvSpPr>
        <p:spPr>
          <a:xfrm>
            <a:off x="6675120" y="2240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22960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Edge Location (Sydney) →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0378440" y="2240280"/>
            <a:ext cx="914400" cy="548640"/>
          </a:xfrm>
          <a:prstGeom prst="roundRect">
            <a:avLst>
              <a:gd name="adj" fmla="val 8333"/>
            </a:avLst>
          </a:prstGeom>
          <a:solidFill>
            <a:srgbClr val="FF9900"/>
          </a:solidFill>
          <a:ln/>
        </p:spPr>
      </p:sp>
      <p:sp>
        <p:nvSpPr>
          <p:cNvPr id="33" name="Text 30"/>
          <p:cNvSpPr/>
          <p:nvPr/>
        </p:nvSpPr>
        <p:spPr>
          <a:xfrm>
            <a:off x="10378440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67512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public internet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50392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private backbone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675120" y="32918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CloudFront edge locations (~450 globally)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675120" y="373075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uploaded to nearest edge → AWS backbone to bucket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675120" y="416966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uploading from far regions (Australia → ap-south-1)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675120" y="460857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multipart upload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675120" y="50474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extra per GB transferred (check if savings justify)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675120" y="54864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format: bucket.s3-accelerate.amazonaws.com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Amazon S3  |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3/3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Byte-Range Fetches — smart parallel reads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00200"/>
            <a:ext cx="5394960" cy="4572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00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1: Speed up large file downloads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194560"/>
            <a:ext cx="4114800" cy="45720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orders-full.parquet (4 GB)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834640"/>
            <a:ext cx="960120" cy="548640"/>
          </a:xfrm>
          <a:prstGeom prst="roundRect">
            <a:avLst>
              <a:gd name="adj" fmla="val 6667"/>
            </a:avLst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8346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0–1GB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38528" y="2834640"/>
            <a:ext cx="960120" cy="548640"/>
          </a:xfrm>
          <a:prstGeom prst="roundRect">
            <a:avLst>
              <a:gd name="adj" fmla="val 6667"/>
            </a:avLst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1938528" y="28346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1–2GB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62656" y="2834640"/>
            <a:ext cx="960120" cy="548640"/>
          </a:xfrm>
          <a:prstGeom prst="roundRect">
            <a:avLst>
              <a:gd name="adj" fmla="val 6667"/>
            </a:avLst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2962656" y="28346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2–3GB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86784" y="2834640"/>
            <a:ext cx="960120" cy="548640"/>
          </a:xfrm>
          <a:prstGeom prst="roundRect">
            <a:avLst>
              <a:gd name="adj" fmla="val 6667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3986784" y="28346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3–4GB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4564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parts requested simultaneously  →  4× faster download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8221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part fails, retry only that byte range — not the full file.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1600200"/>
            <a:ext cx="507492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1600200"/>
            <a:ext cx="507492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16002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2: Read only file metadata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83680" y="2194560"/>
            <a:ext cx="4709160" cy="45720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2194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orders-2026-04.parquet (2 GB)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2834640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2834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KB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28432" y="2834640"/>
            <a:ext cx="3291840" cy="502920"/>
          </a:xfrm>
          <a:prstGeom prst="roundRect">
            <a:avLst>
              <a:gd name="adj" fmla="val 7273"/>
            </a:avLst>
          </a:prstGeom>
          <a:solidFill>
            <a:srgbClr val="E5E7EB"/>
          </a:solidFill>
          <a:ln/>
        </p:spPr>
      </p:sp>
      <p:sp>
        <p:nvSpPr>
          <p:cNvPr id="29" name="Text 27"/>
          <p:cNvSpPr/>
          <p:nvPr/>
        </p:nvSpPr>
        <p:spPr>
          <a:xfrm>
            <a:off x="8028432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of file (not fetched)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34290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footer (schema, row group metadata) lives at the start of the file. Read only the first 256 KB → get the schema and decide if you need the rest.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42976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Athena, Glue, and Spark scan Parquet without reading every byte.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" y="6035040"/>
            <a:ext cx="10728655" cy="502920"/>
          </a:xfrm>
          <a:prstGeom prst="roundRect">
            <a:avLst>
              <a:gd name="adj" fmla="val 10909"/>
            </a:avLst>
          </a:prstGeom>
          <a:solidFill>
            <a:srgbClr val="FFF4E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603504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link: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Byte-range fetches are how Athena does partition pruning and column projection on Parquet/ORC files stored in S3. You'll see this again in Section 7 (Athena).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Amazon S3  |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as the trigger — wiring the rest of the pipeline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9326880" y="137160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120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minutes  •  the most important DE pattern today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NOTIFICATIONS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Event Notifications — S3 calls the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10728655" cy="73152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6002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your pipeline polling S3, </a:t>
            </a:r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tells your pipeline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something happens. Event-driven DE.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events can fire: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s3:ObjectCreated:*  (Put, Post, Copy, Multipart)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s3:ObjectRemoved:*  (Delete, DeleteMarker)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s3:ObjectRestore:*  (from Glacier)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s3:Replication:*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by prefix (orders/) or suffix (.json)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514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notifications go: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288036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9900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0" y="34290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function per object — transform, enrich, trigger Glue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411480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224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83680" y="46634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events for ordered, reliable downstream processing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534924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5458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83680" y="58978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Fan-out: one event to multiple subscribers simultaneously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5806440"/>
            <a:ext cx="10728655" cy="640080"/>
          </a:xfrm>
          <a:prstGeom prst="roundRect">
            <a:avLst>
              <a:gd name="adj" fmla="val 8571"/>
            </a:avLst>
          </a:prstGeom>
          <a:solidFill>
            <a:srgbClr val="FFF4E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80644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Arjun's pattern: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app writes JSON to raw/orders/ → ObjectCreated fires → Lambda validates schema → kicks off Glue job → bronze layer ready in minutes. Zero polling. Zero lag.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Amazon S3  |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EventBridge — the upgrade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53035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00200"/>
            <a:ext cx="530352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S3 Notifications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402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2128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destinations: Lambda, SQS, SNS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260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8986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filtering by prefix/suffix only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118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5844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per event+prefix combination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9768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42702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archiving or replay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98348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71600" y="49560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seconds delivery, sometimes minutes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6263640" y="160020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6263640" y="1600200"/>
            <a:ext cx="5212080" cy="4572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1" name="Text 14"/>
          <p:cNvSpPr/>
          <p:nvPr/>
        </p:nvSpPr>
        <p:spPr>
          <a:xfrm>
            <a:off x="644652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→ EventBridge  (recommended)</a:t>
            </a:r>
            <a:endParaRPr lang="en-US" sz="14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240280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858000" y="22128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destination services (Step Functions, Kinesis, Firehose…)</a:t>
            </a:r>
            <a:endParaRPr lang="en-US" sz="12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2926080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858000" y="28986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JSON filtering (by object size, metadata, key pattern…)</a:t>
            </a:r>
            <a:endParaRPr lang="en-US" sz="12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611880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858000" y="35844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rules on same event, multiple destinations</a:t>
            </a:r>
            <a:endParaRPr lang="en-US" sz="12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297680"/>
            <a:ext cx="274320" cy="27432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858000" y="42702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+ replay: re-process events from the past</a:t>
            </a:r>
            <a:endParaRPr lang="en-US" sz="12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4983480"/>
            <a:ext cx="274320" cy="27432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858000" y="49560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delivery + observability built-in</a:t>
            </a:r>
            <a:endParaRPr lang="en-US" sz="1200" dirty="0"/>
          </a:p>
        </p:txBody>
      </p:sp>
      <p:sp>
        <p:nvSpPr>
          <p:cNvPr id="32" name="Shape 20"/>
          <p:cNvSpPr/>
          <p:nvPr/>
        </p:nvSpPr>
        <p:spPr>
          <a:xfrm>
            <a:off x="731520" y="6446520"/>
            <a:ext cx="10728655" cy="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33" name="Text 21"/>
          <p:cNvSpPr/>
          <p:nvPr/>
        </p:nvSpPr>
        <p:spPr>
          <a:xfrm>
            <a:off x="914400" y="64922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enable: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→ Properties → Amazon EventBridge → toggle ON. Zero extra cost for enabling. EventBridge charges apply per event processed.</a:t>
            </a:r>
            <a:endParaRPr lang="en-US" sz="1200" dirty="0"/>
          </a:p>
        </p:txBody>
      </p:sp>
      <p:sp>
        <p:nvSpPr>
          <p:cNvPr id="34" name="Text 2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35" name="Text 23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Amazon S3  | 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Design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strategies that make Athena &amp; Glue fast and cheap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9326880" y="137160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120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minutes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PATTERNS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partitioning — design for your query, not your ingest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10728655" cy="685800"/>
          </a:xfrm>
          <a:prstGeom prst="roundRect">
            <a:avLst>
              <a:gd name="adj" fmla="val 10667"/>
            </a:avLst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key = the dimension you filter on most. Wrong partitioning makes Athena scan the entire lake.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468880"/>
            <a:ext cx="539496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A: Time-first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3017520"/>
            <a:ext cx="5120640" cy="50292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17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raw/orders/year=2026/month=04/day=18/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657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3657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query by date range: 'last 7 days revenue'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297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4297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prunes entire days/months — scans minimal 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937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49377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by restaurant_id still scans all partitions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5577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Suited to: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5577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reporting, dashboards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246888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2468880"/>
            <a:ext cx="539496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B: Entity-first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37960" y="3017520"/>
            <a:ext cx="5120640" cy="50292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017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raw/orders/restaurant_id=4521/year=2026/month=04/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3657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3657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query by entity: 'show all orders for restaurant X'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4297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0" y="4297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jumps straight to the restaurant's partition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4937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0" y="49377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queries now fan out across all restaurant partitions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5577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Suited to: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0" y="5577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queries, per-entity reports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Amazon S3  | 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FORMATS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matters as much as partitioning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95250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861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84020" y="1600200"/>
            <a:ext cx="88900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1729740" y="1600200"/>
            <a:ext cx="79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73020" y="1600200"/>
            <a:ext cx="152400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2618740" y="1600200"/>
            <a:ext cx="143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performance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97020" y="1600200"/>
            <a:ext cx="76200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4142740" y="1600200"/>
            <a:ext cx="67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59020" y="1600200"/>
            <a:ext cx="107950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5" name="Text 13"/>
          <p:cNvSpPr/>
          <p:nvPr/>
        </p:nvSpPr>
        <p:spPr>
          <a:xfrm>
            <a:off x="4904740" y="1600200"/>
            <a:ext cx="988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vs CSV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38520" y="1600200"/>
            <a:ext cx="137160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5984240" y="1600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2084832"/>
            <a:ext cx="95250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084832"/>
            <a:ext cx="8610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CSV/JSON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84020" y="2084832"/>
            <a:ext cx="88900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29740" y="2084832"/>
            <a:ext cx="79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Row-based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73020" y="2084832"/>
            <a:ext cx="152400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18740" y="2084832"/>
            <a:ext cx="143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(but scans all columns)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97020" y="2084832"/>
            <a:ext cx="76200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42740" y="2084832"/>
            <a:ext cx="67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59020" y="2084832"/>
            <a:ext cx="107950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4740" y="2084832"/>
            <a:ext cx="9880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38520" y="2084832"/>
            <a:ext cx="137160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4240" y="208483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 only. Compress with gzip.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2651760"/>
            <a:ext cx="952500" cy="530352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2651760"/>
            <a:ext cx="8610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684020" y="2651760"/>
            <a:ext cx="889000" cy="530352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29740" y="2651760"/>
            <a:ext cx="79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73020" y="2651760"/>
            <a:ext cx="1524000" cy="530352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18740" y="2651760"/>
            <a:ext cx="143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 Very fast — column skip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097020" y="2651760"/>
            <a:ext cx="762000" cy="530352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42740" y="2651760"/>
            <a:ext cx="67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59020" y="2651760"/>
            <a:ext cx="1079500" cy="530352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4740" y="2651760"/>
            <a:ext cx="9880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~5–10× smaller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38520" y="2651760"/>
            <a:ext cx="1371600" cy="530352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4240" y="265176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Gold/silver layer. Athena favourite.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1520" y="3218688"/>
            <a:ext cx="95250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3218688"/>
            <a:ext cx="8610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684020" y="3218688"/>
            <a:ext cx="88900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29740" y="3218688"/>
            <a:ext cx="79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573020" y="3218688"/>
            <a:ext cx="152400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18740" y="3218688"/>
            <a:ext cx="143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 Fast — predicate pushdown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097020" y="3218688"/>
            <a:ext cx="76200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42740" y="3218688"/>
            <a:ext cx="67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59020" y="3218688"/>
            <a:ext cx="107950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04740" y="3218688"/>
            <a:ext cx="9880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~5–10× smaller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938520" y="3218688"/>
            <a:ext cx="137160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84240" y="3218688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Hive / EMR workloads.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31520" y="3785616"/>
            <a:ext cx="952500" cy="530352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7240" y="3785616"/>
            <a:ext cx="8610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Avro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684020" y="3785616"/>
            <a:ext cx="889000" cy="530352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29740" y="3785616"/>
            <a:ext cx="79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Row-based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573020" y="3785616"/>
            <a:ext cx="1524000" cy="530352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18740" y="3785616"/>
            <a:ext cx="143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097020" y="3785616"/>
            <a:ext cx="762000" cy="530352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42740" y="3785616"/>
            <a:ext cx="67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859020" y="3785616"/>
            <a:ext cx="1079500" cy="530352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04740" y="3785616"/>
            <a:ext cx="9880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938520" y="3785616"/>
            <a:ext cx="1371600" cy="530352"/>
          </a:xfrm>
          <a:prstGeom prst="rect">
            <a:avLst/>
          </a:prstGeom>
          <a:solidFill>
            <a:srgbClr val="F8F9FA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84240" y="3785616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evolution, Kafka output.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31520" y="4389120"/>
            <a:ext cx="10728655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914400" y="4480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Glue Crawlers see your S3 data lake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914400" y="4892040"/>
            <a:ext cx="103628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Crawler scans S3 → detects format (Parquet, CSV, JSON) → extracts schema → populates the </a:t>
            </a:r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Data Catalog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Once catalogued, Athena and Redshift Spectrum can query it like a relational table.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partition key design (year=/month=/day=) is auto-detected by the crawler as Hive-style partitions.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Amazon S3  | 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 &amp; Storage Lens — enterprise S3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00200"/>
            <a:ext cx="539496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00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Access Points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giant bucket policy with 50 statements, create named endpoints per team: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788920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862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finance-ap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862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/finance/**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3264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 — R/W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794760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867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analytics-ap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3867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4270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— Read-only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4800600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8737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ingestion-ap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3280" y="4873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/raw/**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5276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svc — Write-only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5760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supports VPC-only access — traffic never leaves your private network.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1600200"/>
            <a:ext cx="507492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0" y="1600200"/>
            <a:ext cx="507492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16002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Storage Lens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583680" y="21945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visibility into storage cost and usage: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2743200"/>
            <a:ext cx="64008" cy="594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27797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metrics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3063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storage, object count per bucket/prefix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0" y="3493008"/>
            <a:ext cx="64008" cy="594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35295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Cost-optimisation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3813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incomplete multipart uploads, noncurrent version bloat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0" y="4242816"/>
            <a:ext cx="64008" cy="594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6766560" y="4279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66560" y="45628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buckets have no versioning, no SSE-KMS?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0" y="4992624"/>
            <a:ext cx="64008" cy="594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metrics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66560" y="53126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GET/PUT patterns, 403/404 error rates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83680" y="5742432"/>
            <a:ext cx="64008" cy="594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6766560" y="5779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aggregation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66560" y="6062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raw/ vs gold/ cost breakdown (paid tier)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Amazon S3  |  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Arjun's complete S3 architecture — both days combined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2788920" cy="29260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2788920" cy="4389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304288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2677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Firehose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008376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971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(CDC)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712464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6758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AppFlow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6704" y="2880360"/>
            <a:ext cx="109728" cy="3200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447288" y="1645920"/>
            <a:ext cx="2788920" cy="29260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9050">
            <a:solidFill>
              <a:srgbClr val="FF7A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47288" y="1645920"/>
            <a:ext cx="2788920" cy="438912"/>
          </a:xfrm>
          <a:prstGeom prst="rect">
            <a:avLst/>
          </a:prstGeom>
          <a:solidFill>
            <a:srgbClr val="FF7A00"/>
          </a:solidFill>
          <a:ln/>
        </p:spPr>
      </p:sp>
      <p:sp>
        <p:nvSpPr>
          <p:cNvPr id="18" name="Text 15"/>
          <p:cNvSpPr/>
          <p:nvPr/>
        </p:nvSpPr>
        <p:spPr>
          <a:xfrm>
            <a:off x="35387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(Bronze)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584448" y="2304288"/>
            <a:ext cx="182880" cy="182880"/>
          </a:xfrm>
          <a:prstGeom prst="ellipse">
            <a:avLst/>
          </a:prstGeom>
          <a:solidFill>
            <a:srgbClr val="FF7A00"/>
          </a:solidFill>
          <a:ln/>
        </p:spPr>
      </p:sp>
      <p:sp>
        <p:nvSpPr>
          <p:cNvPr id="20" name="Text 17"/>
          <p:cNvSpPr/>
          <p:nvPr/>
        </p:nvSpPr>
        <p:spPr>
          <a:xfrm>
            <a:off x="3858768" y="22677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JSON/CSV uncompressed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584448" y="3008376"/>
            <a:ext cx="182880" cy="182880"/>
          </a:xfrm>
          <a:prstGeom prst="ellipse">
            <a:avLst/>
          </a:prstGeom>
          <a:solidFill>
            <a:srgbClr val="FF7A00"/>
          </a:solidFill>
          <a:ln/>
        </p:spPr>
      </p:sp>
      <p:sp>
        <p:nvSpPr>
          <p:cNvPr id="22" name="Text 19"/>
          <p:cNvSpPr/>
          <p:nvPr/>
        </p:nvSpPr>
        <p:spPr>
          <a:xfrm>
            <a:off x="3858768" y="2971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storage class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584448" y="3712464"/>
            <a:ext cx="182880" cy="182880"/>
          </a:xfrm>
          <a:prstGeom prst="ellipse">
            <a:avLst/>
          </a:prstGeom>
          <a:solidFill>
            <a:srgbClr val="FF7A00"/>
          </a:solidFill>
          <a:ln/>
        </p:spPr>
      </p:sp>
      <p:sp>
        <p:nvSpPr>
          <p:cNvPr id="24" name="Text 21"/>
          <p:cNvSpPr/>
          <p:nvPr/>
        </p:nvSpPr>
        <p:spPr>
          <a:xfrm>
            <a:off x="3858768" y="36758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ON</a:t>
            </a:r>
            <a:endParaRPr lang="en-US" sz="12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2880360"/>
            <a:ext cx="109728" cy="32004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6345936" y="1645920"/>
            <a:ext cx="2788920" cy="29260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345936" y="1645920"/>
            <a:ext cx="2788920" cy="43891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4"/>
          <p:cNvSpPr/>
          <p:nvPr/>
        </p:nvSpPr>
        <p:spPr>
          <a:xfrm>
            <a:off x="6437376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(Silver/Gold)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6483096" y="2304288"/>
            <a:ext cx="182880" cy="1828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0" name="Text 26"/>
          <p:cNvSpPr/>
          <p:nvPr/>
        </p:nvSpPr>
        <p:spPr>
          <a:xfrm>
            <a:off x="6757416" y="22677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via Glue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483096" y="3008376"/>
            <a:ext cx="182880" cy="1828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2" name="Text 28"/>
          <p:cNvSpPr/>
          <p:nvPr/>
        </p:nvSpPr>
        <p:spPr>
          <a:xfrm>
            <a:off x="6757416" y="2971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Standard-IA after 30d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483096" y="3712464"/>
            <a:ext cx="182880" cy="1828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4" name="Text 30"/>
          <p:cNvSpPr/>
          <p:nvPr/>
        </p:nvSpPr>
        <p:spPr>
          <a:xfrm>
            <a:off x="6757416" y="36758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to Glacier @90d</a:t>
            </a:r>
            <a:endParaRPr lang="en-US" sz="12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880360"/>
            <a:ext cx="109728" cy="320040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9244584" y="1645920"/>
            <a:ext cx="2788920" cy="29260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9244584" y="1645920"/>
            <a:ext cx="2788920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3"/>
          <p:cNvSpPr/>
          <p:nvPr/>
        </p:nvSpPr>
        <p:spPr>
          <a:xfrm>
            <a:off x="9336024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Layer</a:t>
            </a:r>
            <a:endParaRPr lang="en-US" sz="1300" dirty="0"/>
          </a:p>
        </p:txBody>
      </p:sp>
      <p:sp>
        <p:nvSpPr>
          <p:cNvPr id="39" name="Shape 34"/>
          <p:cNvSpPr/>
          <p:nvPr/>
        </p:nvSpPr>
        <p:spPr>
          <a:xfrm>
            <a:off x="9381744" y="2304288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Text 35"/>
          <p:cNvSpPr/>
          <p:nvPr/>
        </p:nvSpPr>
        <p:spPr>
          <a:xfrm>
            <a:off x="9656064" y="22677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(serverless SQL)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9381744" y="3008376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37"/>
          <p:cNvSpPr/>
          <p:nvPr/>
        </p:nvSpPr>
        <p:spPr>
          <a:xfrm>
            <a:off x="9656064" y="2971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Spectrum</a:t>
            </a:r>
            <a:endParaRPr lang="en-US" sz="1200" dirty="0"/>
          </a:p>
        </p:txBody>
      </p:sp>
      <p:sp>
        <p:nvSpPr>
          <p:cNvPr id="43" name="Shape 38"/>
          <p:cNvSpPr/>
          <p:nvPr/>
        </p:nvSpPr>
        <p:spPr>
          <a:xfrm>
            <a:off x="9381744" y="3712464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4" name="Text 39"/>
          <p:cNvSpPr/>
          <p:nvPr/>
        </p:nvSpPr>
        <p:spPr>
          <a:xfrm>
            <a:off x="9656064" y="36758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Crawler catalogs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548640" y="4773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Crosscutting across all layers:</a:t>
            </a:r>
            <a:endParaRPr lang="en-US" sz="1300" dirty="0"/>
          </a:p>
        </p:txBody>
      </p:sp>
      <p:sp>
        <p:nvSpPr>
          <p:cNvPr id="46" name="Shape 41"/>
          <p:cNvSpPr/>
          <p:nvPr/>
        </p:nvSpPr>
        <p:spPr>
          <a:xfrm>
            <a:off x="548640" y="5138928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58368" y="519379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48" name="Text 43"/>
          <p:cNvSpPr/>
          <p:nvPr/>
        </p:nvSpPr>
        <p:spPr>
          <a:xfrm>
            <a:off x="658368" y="5541264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+ Bucket Policy + BPA + SSE-KMS for PII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3447288" y="5138928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3557016" y="519379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300" dirty="0"/>
          </a:p>
        </p:txBody>
      </p:sp>
      <p:sp>
        <p:nvSpPr>
          <p:cNvPr id="51" name="Text 46"/>
          <p:cNvSpPr/>
          <p:nvPr/>
        </p:nvSpPr>
        <p:spPr>
          <a:xfrm>
            <a:off x="3557016" y="5541264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→ IA @30d → Glacier @90d → Deep Archive @365d → Expire @7yr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6345936" y="5138928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455664" y="519379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300" dirty="0"/>
          </a:p>
        </p:txBody>
      </p:sp>
      <p:sp>
        <p:nvSpPr>
          <p:cNvPr id="54" name="Text 49"/>
          <p:cNvSpPr/>
          <p:nvPr/>
        </p:nvSpPr>
        <p:spPr>
          <a:xfrm>
            <a:off x="6455664" y="5541264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ObjectCreated → EventBridge → Lambda/Step Functions → Glue trigger</a:t>
            </a:r>
            <a:endParaRPr lang="en-US" sz="1000" dirty="0"/>
          </a:p>
        </p:txBody>
      </p:sp>
      <p:sp>
        <p:nvSpPr>
          <p:cNvPr id="55" name="Shape 50"/>
          <p:cNvSpPr/>
          <p:nvPr/>
        </p:nvSpPr>
        <p:spPr>
          <a:xfrm>
            <a:off x="9244584" y="5138928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9354312" y="519379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1300" dirty="0"/>
          </a:p>
        </p:txBody>
      </p:sp>
      <p:sp>
        <p:nvSpPr>
          <p:cNvPr id="57" name="Text 52"/>
          <p:cNvSpPr/>
          <p:nvPr/>
        </p:nvSpPr>
        <p:spPr>
          <a:xfrm>
            <a:off x="9354312" y="5541264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CRR to us-east-1 for DR • SRR to analytics account</a:t>
            </a:r>
            <a:endParaRPr lang="en-US" sz="1000" dirty="0"/>
          </a:p>
        </p:txBody>
      </p:sp>
      <p:sp>
        <p:nvSpPr>
          <p:cNvPr id="58" name="Text 5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Amazon S3  |  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TIME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quick demos — cost, encryption, event notification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9326880" y="1371600"/>
            <a:ext cx="2011680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5166360"/>
            <a:ext cx="274320" cy="2743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71600" y="51206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— Change object storage class + view lifecycle rule UI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14400" y="5568696"/>
            <a:ext cx="274320" cy="2743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5568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371600" y="5522976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— Enable SSE-KMS on a bucket. Inspect object encryption tab.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14400" y="5971032"/>
            <a:ext cx="274320" cy="2743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5971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0" y="592531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— Create S3 event notification to SQS. Upload file. Show message.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locked down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916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659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8562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classes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00200" y="22402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→ IA → Glacier → Deep Archive — cost follows access frequency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0" y="16916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659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562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rules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223760" y="22402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transitions + expirations. Two interview scenarios nailed.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3264408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3872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429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600200" y="381304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SSE-S3 default, SSE-KMS for audit, SSE-C for BYOK, client-side for zero-trust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355080" y="3264408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538728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23760" y="3429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7223760" y="381304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for big files, Transfer Accel for far regions, byte-range for smart reads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31520" y="4837176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111496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00200" y="50017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notifications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600200" y="5385816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→ EventBridge → 18 services. The trigger pattern for event-driven DE.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355080" y="4837176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5111496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223760" y="50017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patterns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7223760" y="5385816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query dimension. Parquet/ORC for Athena. Glue Crawlers catalog it.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Amazon S3  |  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WRAP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complete — what you now know vs what's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6642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Buckets, objects, keys — how storage actually works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9397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0665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Azure-to-AWS mental model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9631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24688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+ bucket policies + BPA — 3-layer security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98648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287121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+ delete markers + MFA Delete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300984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88720" y="32735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CRR + SRR replication</a:t>
            </a:r>
            <a:endParaRPr lang="en-US" sz="11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703320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188720" y="36758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storage classes + Intelligent-Tiering</a:t>
            </a:r>
            <a:endParaRPr lang="en-US" sz="11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105656"/>
            <a:ext cx="274320" cy="27432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188720" y="407822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rules (transition + expiration)</a:t>
            </a:r>
            <a:endParaRPr lang="en-US" sz="11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507992"/>
            <a:ext cx="274320" cy="27432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188720" y="44805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Encryption: SSE-S3, SSE-KMS, SSE-C, client-side</a:t>
            </a:r>
            <a:endParaRPr lang="en-US" sz="11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4910328"/>
            <a:ext cx="274320" cy="27432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188720" y="488289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+ Transfer Accel + byte-range reads</a:t>
            </a:r>
            <a:endParaRPr lang="en-US" sz="115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312664"/>
            <a:ext cx="274320" cy="27432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188720" y="52852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notifications + EventBridge integration</a:t>
            </a:r>
            <a:endParaRPr lang="en-US" sz="115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5715000"/>
            <a:ext cx="274320" cy="27432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1188720" y="56875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partitioning + Parquet/ORC + Glue Crawlers</a:t>
            </a:r>
            <a:endParaRPr lang="en-US" sz="1150" dirty="0"/>
          </a:p>
        </p:txBody>
      </p:sp>
      <p:sp>
        <p:nvSpPr>
          <p:cNvPr id="28" name="Shape 15"/>
          <p:cNvSpPr/>
          <p:nvPr/>
        </p:nvSpPr>
        <p:spPr>
          <a:xfrm>
            <a:off x="6583680" y="1691640"/>
            <a:ext cx="4892040" cy="5029200"/>
          </a:xfrm>
          <a:prstGeom prst="roundRect">
            <a:avLst>
              <a:gd name="adj" fmla="val 1869"/>
            </a:avLst>
          </a:prstGeom>
          <a:solidFill>
            <a:srgbClr val="232F3E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9" name="Text 16"/>
          <p:cNvSpPr/>
          <p:nvPr/>
        </p:nvSpPr>
        <p:spPr>
          <a:xfrm>
            <a:off x="676656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000" dirty="0"/>
          </a:p>
        </p:txBody>
      </p:sp>
      <p:sp>
        <p:nvSpPr>
          <p:cNvPr id="30" name="Shape 17"/>
          <p:cNvSpPr/>
          <p:nvPr/>
        </p:nvSpPr>
        <p:spPr>
          <a:xfrm>
            <a:off x="6766560" y="2423160"/>
            <a:ext cx="4526280" cy="896112"/>
          </a:xfrm>
          <a:prstGeom prst="roundRect">
            <a:avLst>
              <a:gd name="adj" fmla="val 5102"/>
            </a:avLst>
          </a:prstGeom>
          <a:solidFill>
            <a:srgbClr val="394155"/>
          </a:solidFill>
          <a:ln w="6350">
            <a:solidFill>
              <a:srgbClr val="FF9900"/>
            </a:solidFill>
            <a:prstDash val="solid"/>
          </a:ln>
        </p:spPr>
      </p:sp>
      <p:sp>
        <p:nvSpPr>
          <p:cNvPr id="31" name="Text 18"/>
          <p:cNvSpPr/>
          <p:nvPr/>
        </p:nvSpPr>
        <p:spPr>
          <a:xfrm>
            <a:off x="6903720" y="24780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100" dirty="0"/>
          </a:p>
        </p:txBody>
      </p:sp>
      <p:sp>
        <p:nvSpPr>
          <p:cNvPr id="32" name="Text 19"/>
          <p:cNvSpPr/>
          <p:nvPr/>
        </p:nvSpPr>
        <p:spPr>
          <a:xfrm>
            <a:off x="8046720" y="2478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 deep dive</a:t>
            </a:r>
            <a:endParaRPr lang="en-US" sz="1200" dirty="0"/>
          </a:p>
        </p:txBody>
      </p:sp>
      <p:sp>
        <p:nvSpPr>
          <p:cNvPr id="33" name="Text 20"/>
          <p:cNvSpPr/>
          <p:nvPr/>
        </p:nvSpPr>
        <p:spPr>
          <a:xfrm>
            <a:off x="6903720" y="289864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policies, cross-account — everything sitting on top of S3</a:t>
            </a:r>
            <a:endParaRPr lang="en-US" sz="1000" dirty="0"/>
          </a:p>
        </p:txBody>
      </p:sp>
      <p:sp>
        <p:nvSpPr>
          <p:cNvPr id="34" name="Shape 21"/>
          <p:cNvSpPr/>
          <p:nvPr/>
        </p:nvSpPr>
        <p:spPr>
          <a:xfrm>
            <a:off x="6766560" y="3456432"/>
            <a:ext cx="4526280" cy="896112"/>
          </a:xfrm>
          <a:prstGeom prst="roundRect">
            <a:avLst>
              <a:gd name="adj" fmla="val 5102"/>
            </a:avLst>
          </a:prstGeom>
          <a:solidFill>
            <a:srgbClr val="394155"/>
          </a:solidFill>
          <a:ln w="6350">
            <a:solidFill>
              <a:srgbClr val="FF9900"/>
            </a:solidFill>
            <a:prstDash val="solid"/>
          </a:ln>
        </p:spPr>
      </p:sp>
      <p:sp>
        <p:nvSpPr>
          <p:cNvPr id="35" name="Text 22"/>
          <p:cNvSpPr/>
          <p:nvPr/>
        </p:nvSpPr>
        <p:spPr>
          <a:xfrm>
            <a:off x="6903720" y="35112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100" dirty="0"/>
          </a:p>
        </p:txBody>
      </p:sp>
      <p:sp>
        <p:nvSpPr>
          <p:cNvPr id="36" name="Text 23"/>
          <p:cNvSpPr/>
          <p:nvPr/>
        </p:nvSpPr>
        <p:spPr>
          <a:xfrm>
            <a:off x="8046720" y="35112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</a:t>
            </a:r>
            <a:endParaRPr lang="en-US" sz="1200" dirty="0"/>
          </a:p>
        </p:txBody>
      </p:sp>
      <p:sp>
        <p:nvSpPr>
          <p:cNvPr id="37" name="Text 24"/>
          <p:cNvSpPr/>
          <p:nvPr/>
        </p:nvSpPr>
        <p:spPr>
          <a:xfrm>
            <a:off x="6903720" y="393192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Crawlers catalog your S3 lake. Glue jobs transform it.</a:t>
            </a:r>
            <a:endParaRPr lang="en-US" sz="1000" dirty="0"/>
          </a:p>
        </p:txBody>
      </p:sp>
      <p:sp>
        <p:nvSpPr>
          <p:cNvPr id="38" name="Shape 25"/>
          <p:cNvSpPr/>
          <p:nvPr/>
        </p:nvSpPr>
        <p:spPr>
          <a:xfrm>
            <a:off x="6766560" y="4489704"/>
            <a:ext cx="4526280" cy="896112"/>
          </a:xfrm>
          <a:prstGeom prst="roundRect">
            <a:avLst>
              <a:gd name="adj" fmla="val 5102"/>
            </a:avLst>
          </a:prstGeom>
          <a:solidFill>
            <a:srgbClr val="394155"/>
          </a:solidFill>
          <a:ln w="6350">
            <a:solidFill>
              <a:srgbClr val="FF9900"/>
            </a:solidFill>
            <a:prstDash val="solid"/>
          </a:ln>
        </p:spPr>
      </p:sp>
      <p:sp>
        <p:nvSpPr>
          <p:cNvPr id="39" name="Text 26"/>
          <p:cNvSpPr/>
          <p:nvPr/>
        </p:nvSpPr>
        <p:spPr>
          <a:xfrm>
            <a:off x="6903720" y="4544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100" dirty="0"/>
          </a:p>
        </p:txBody>
      </p:sp>
      <p:sp>
        <p:nvSpPr>
          <p:cNvPr id="40" name="Text 27"/>
          <p:cNvSpPr/>
          <p:nvPr/>
        </p:nvSpPr>
        <p:spPr>
          <a:xfrm>
            <a:off x="8046720" y="4544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Athena</a:t>
            </a:r>
            <a:endParaRPr lang="en-US" sz="1200" dirty="0"/>
          </a:p>
        </p:txBody>
      </p:sp>
      <p:sp>
        <p:nvSpPr>
          <p:cNvPr id="41" name="Text 28"/>
          <p:cNvSpPr/>
          <p:nvPr/>
        </p:nvSpPr>
        <p:spPr>
          <a:xfrm>
            <a:off x="6903720" y="496519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SQL on S3 Parquet. Byte-range fetches you just learned.</a:t>
            </a:r>
            <a:endParaRPr lang="en-US" sz="1000" dirty="0"/>
          </a:p>
        </p:txBody>
      </p:sp>
      <p:sp>
        <p:nvSpPr>
          <p:cNvPr id="42" name="Shape 29"/>
          <p:cNvSpPr/>
          <p:nvPr/>
        </p:nvSpPr>
        <p:spPr>
          <a:xfrm>
            <a:off x="6766560" y="5522976"/>
            <a:ext cx="4526280" cy="896112"/>
          </a:xfrm>
          <a:prstGeom prst="roundRect">
            <a:avLst>
              <a:gd name="adj" fmla="val 5102"/>
            </a:avLst>
          </a:prstGeom>
          <a:solidFill>
            <a:srgbClr val="394155"/>
          </a:solidFill>
          <a:ln w="6350">
            <a:solidFill>
              <a:srgbClr val="FF9900"/>
            </a:solidFill>
            <a:prstDash val="solid"/>
          </a:ln>
        </p:spPr>
      </p:sp>
      <p:sp>
        <p:nvSpPr>
          <p:cNvPr id="43" name="Text 30"/>
          <p:cNvSpPr/>
          <p:nvPr/>
        </p:nvSpPr>
        <p:spPr>
          <a:xfrm>
            <a:off x="6903720" y="5577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100" dirty="0"/>
          </a:p>
        </p:txBody>
      </p:sp>
      <p:sp>
        <p:nvSpPr>
          <p:cNvPr id="44" name="Text 31"/>
          <p:cNvSpPr/>
          <p:nvPr/>
        </p:nvSpPr>
        <p:spPr>
          <a:xfrm>
            <a:off x="8046720" y="5577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Redshift</a:t>
            </a:r>
            <a:endParaRPr lang="en-US" sz="1200" dirty="0"/>
          </a:p>
        </p:txBody>
      </p:sp>
      <p:sp>
        <p:nvSpPr>
          <p:cNvPr id="45" name="Text 32"/>
          <p:cNvSpPr/>
          <p:nvPr/>
        </p:nvSpPr>
        <p:spPr>
          <a:xfrm>
            <a:off x="6903720" y="5998464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Spectrum queries S3. COPY loads from S3.</a:t>
            </a:r>
            <a:endParaRPr lang="en-US" sz="1000" dirty="0"/>
          </a:p>
        </p:txBody>
      </p:sp>
      <p:sp>
        <p:nvSpPr>
          <p:cNvPr id="46" name="Text 3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47" name="Text 34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Amazon S3  |  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— close the loop before Section 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bucket you built yesterday. Add 3 new capabilities to 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10728655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2889504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889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816352"/>
            <a:ext cx="9448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lifecycle rule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3163824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raw/ prefix: transition to Standard-IA after 30 days, expire after 365 days. Screenshot the rule.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10728655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3849624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776472"/>
            <a:ext cx="9448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SSE-KMS encryption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123944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default bucket encryption to SSE-KMS. Upload an object. On the object Properties tab, confirm KMS key ARN is shown.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663440"/>
            <a:ext cx="10728655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4809744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809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4736592"/>
            <a:ext cx="9448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SQS event notification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5084064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SQS standard queue. Add an S3 event notification for s3:ObjectCreated on prefix raw/. Upload a file. Go to SQS → Poll messages → confirm the event JSON arrived.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5623560"/>
            <a:ext cx="10728655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672" y="5769864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5769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040" y="5696712"/>
            <a:ext cx="9448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an upload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6044184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3 files using the prefix raw/orders/year=2026/month=04/day=22/. Verify Glue Crawler (if set up) or Athena DDL recognises them as Hive-style partitions.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653796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Post screenshots for tasks 1–3 in #aws-de-course on Slack before Section 5 starts.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Amazon S3  |  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448" y="128016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3832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914400" y="46634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classes, lifecycle, encryption, performance, notifications — what's still fuzzy?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  •  AWS Data Engineering for the AI Era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S3 Day 2 — Cost, Performance &amp; Integration</dc:title>
  <dc:subject>PptxGenJS Presentation</dc:subject>
  <dc:creator>Keystone Edtech Pvt Ltd</dc:creator>
  <cp:lastModifiedBy>Keystone Edtech Pvt Ltd</cp:lastModifiedBy>
  <cp:revision>1</cp:revision>
  <dcterms:created xsi:type="dcterms:W3CDTF">2026-04-20T23:32:16Z</dcterms:created>
  <dcterms:modified xsi:type="dcterms:W3CDTF">2026-04-20T23:32:16Z</dcterms:modified>
</cp:coreProperties>
</file>