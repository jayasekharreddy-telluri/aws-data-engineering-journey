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280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 •  AWS DATA ENGINEERING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91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 •  Day 1 of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914400" y="34290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Foundations, Security &amp; Resilience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14400" y="4434840"/>
            <a:ext cx="2743200" cy="3657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572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backbone of every AWS data pipeline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9601200" y="2011680"/>
            <a:ext cx="2194560" cy="21945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852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session  •  90 minutes  •  Hands-on demo included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8229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in the course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560320"/>
            <a:ext cx="2194560" cy="1828800"/>
          </a:xfrm>
          <a:prstGeom prst="roundRect">
            <a:avLst>
              <a:gd name="adj" fmla="val 5000"/>
            </a:avLst>
          </a:prstGeom>
          <a:solidFill>
            <a:srgbClr val="E5E7EB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7889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429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3840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063240" y="2560320"/>
            <a:ext cx="2194560" cy="1828800"/>
          </a:xfrm>
          <a:prstGeom prst="roundRect">
            <a:avLst>
              <a:gd name="adj" fmla="val 5000"/>
            </a:avLst>
          </a:prstGeom>
          <a:solidFill>
            <a:srgbClr val="E5E7EB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27889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154680" y="3429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154680" y="3840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394960" y="2560320"/>
            <a:ext cx="2194560" cy="1828800"/>
          </a:xfrm>
          <a:prstGeom prst="roundRect">
            <a:avLst>
              <a:gd name="adj" fmla="val 5000"/>
            </a:avLst>
          </a:prstGeom>
          <a:solidFill>
            <a:srgbClr val="E5E7EB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7889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0" y="3429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5486400" y="3840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7726680" y="2560320"/>
            <a:ext cx="2194560" cy="1828800"/>
          </a:xfrm>
          <a:prstGeom prst="roundRect">
            <a:avLst>
              <a:gd name="adj" fmla="val 5000"/>
            </a:avLst>
          </a:prstGeom>
          <a:solidFill>
            <a:srgbClr val="232F3E"/>
          </a:solidFill>
          <a:ln/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278892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818120" y="3429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7818120" y="3840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— YOU ARE HERE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10058400" y="2560320"/>
            <a:ext cx="219456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972800" y="2834640"/>
            <a:ext cx="365760" cy="365760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24" name="Text 18"/>
          <p:cNvSpPr/>
          <p:nvPr/>
        </p:nvSpPr>
        <p:spPr>
          <a:xfrm>
            <a:off x="10149840" y="3429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→ Glue → Redshift → ...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10149840" y="3840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5–28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731520" y="493776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is Section 4 — but it's referenced in every section after it. Nail it here.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 •  AWS Data Engineering for the AI Era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8991295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Amazon S3  |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8229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90 minutes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83080"/>
            <a:ext cx="1005840" cy="502920"/>
          </a:xfrm>
          <a:prstGeom prst="roundRect">
            <a:avLst>
              <a:gd name="adj" fmla="val 14545"/>
            </a:avLst>
          </a:prstGeom>
          <a:solidFill>
            <a:srgbClr val="232F3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830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 min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18288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560320" y="1737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+ S3 intro + use cases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560320" y="2075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S3 matters for every DE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31520" y="2423160"/>
            <a:ext cx="1072865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" y="2532888"/>
            <a:ext cx="1005840" cy="502920"/>
          </a:xfrm>
          <a:prstGeom prst="roundRect">
            <a:avLst>
              <a:gd name="adj" fmla="val 14545"/>
            </a:avLst>
          </a:prstGeom>
          <a:solidFill>
            <a:srgbClr val="232F3E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53288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10–25 min</a:t>
            </a:r>
            <a:endParaRPr lang="en-US" sz="11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2578608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60320" y="2487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 &amp; Objects deep dive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2560320" y="2825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rules, keys, metadata, tags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31520" y="3172968"/>
            <a:ext cx="1072865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31520" y="3282696"/>
            <a:ext cx="1005840" cy="502920"/>
          </a:xfrm>
          <a:prstGeom prst="roundRect">
            <a:avLst>
              <a:gd name="adj" fmla="val 14545"/>
            </a:avLst>
          </a:prstGeom>
          <a:solidFill>
            <a:srgbClr val="232F3E"/>
          </a:solidFill>
          <a:ln/>
        </p:spPr>
      </p:sp>
      <p:sp>
        <p:nvSpPr>
          <p:cNvPr id="19" name="Text 15"/>
          <p:cNvSpPr/>
          <p:nvPr/>
        </p:nvSpPr>
        <p:spPr>
          <a:xfrm>
            <a:off x="731520" y="3282696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25–50 min</a:t>
            </a:r>
            <a:endParaRPr lang="en-US" sz="11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3328416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560320" y="323697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— IAM, Bucket Policies, ACLs, BPA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2560320" y="35753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confusion area for Azure folks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731520" y="3922776"/>
            <a:ext cx="1072865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31520" y="4032504"/>
            <a:ext cx="1005840" cy="502920"/>
          </a:xfrm>
          <a:prstGeom prst="roundRect">
            <a:avLst>
              <a:gd name="adj" fmla="val 14545"/>
            </a:avLst>
          </a:prstGeom>
          <a:solidFill>
            <a:srgbClr val="232F3E"/>
          </a:solidFill>
          <a:ln/>
        </p:spPr>
      </p:sp>
      <p:sp>
        <p:nvSpPr>
          <p:cNvPr id="25" name="Text 20"/>
          <p:cNvSpPr/>
          <p:nvPr/>
        </p:nvSpPr>
        <p:spPr>
          <a:xfrm>
            <a:off x="731520" y="403250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50–60 min</a:t>
            </a:r>
            <a:endParaRPr lang="en-US" sz="11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0" y="4078224"/>
            <a:ext cx="411480" cy="4114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2560320" y="39867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2560320" y="4325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markers, rollback, MFA Delete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731520" y="4672584"/>
            <a:ext cx="1072865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731520" y="4782312"/>
            <a:ext cx="1005840" cy="502920"/>
          </a:xfrm>
          <a:prstGeom prst="roundRect">
            <a:avLst>
              <a:gd name="adj" fmla="val 14545"/>
            </a:avLst>
          </a:prstGeom>
          <a:solidFill>
            <a:srgbClr val="232F3E"/>
          </a:solidFill>
          <a:ln/>
        </p:spPr>
      </p:sp>
      <p:sp>
        <p:nvSpPr>
          <p:cNvPr id="31" name="Text 25"/>
          <p:cNvSpPr/>
          <p:nvPr/>
        </p:nvSpPr>
        <p:spPr>
          <a:xfrm>
            <a:off x="731520" y="478231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60–75 min</a:t>
            </a:r>
            <a:endParaRPr lang="en-US" sz="11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680" y="4828032"/>
            <a:ext cx="411480" cy="41148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2560320" y="47365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(CRR &amp; SRR)</a:t>
            </a:r>
            <a:endParaRPr lang="en-US" sz="1600" dirty="0"/>
          </a:p>
        </p:txBody>
      </p:sp>
      <p:sp>
        <p:nvSpPr>
          <p:cNvPr id="34" name="Text 27"/>
          <p:cNvSpPr/>
          <p:nvPr/>
        </p:nvSpPr>
        <p:spPr>
          <a:xfrm>
            <a:off x="2560320" y="5074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DR, compliance, cross-region strategies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731520" y="5422392"/>
            <a:ext cx="1072865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731520" y="5532120"/>
            <a:ext cx="1005840" cy="502920"/>
          </a:xfrm>
          <a:prstGeom prst="roundRect">
            <a:avLst>
              <a:gd name="adj" fmla="val 14545"/>
            </a:avLst>
          </a:prstGeom>
          <a:solidFill>
            <a:srgbClr val="232F3E"/>
          </a:solidFill>
          <a:ln/>
        </p:spPr>
      </p:sp>
      <p:sp>
        <p:nvSpPr>
          <p:cNvPr id="37" name="Text 30"/>
          <p:cNvSpPr/>
          <p:nvPr/>
        </p:nvSpPr>
        <p:spPr>
          <a:xfrm>
            <a:off x="731520" y="55321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75–90 min</a:t>
            </a:r>
            <a:endParaRPr lang="en-US" sz="1100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1680" y="5577840"/>
            <a:ext cx="411480" cy="41148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2560320" y="5486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+ Q&amp;A</a:t>
            </a:r>
            <a:endParaRPr lang="en-US" sz="1600" dirty="0"/>
          </a:p>
        </p:txBody>
      </p:sp>
      <p:sp>
        <p:nvSpPr>
          <p:cNvPr id="40" name="Text 32"/>
          <p:cNvSpPr/>
          <p:nvPr/>
        </p:nvSpPr>
        <p:spPr>
          <a:xfrm>
            <a:off x="2560320" y="5824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in the AWS console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 •  AWS Data Engineering for the AI Era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8991295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Amazon S3  |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8229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Arjun's Monday morning problem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83080"/>
            <a:ext cx="566928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9202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Arjun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data engineer at Swiggy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2697480"/>
            <a:ext cx="5303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834640"/>
            <a:ext cx="5303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his first Monday, the CTO drops this on him: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process 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million orders a day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Every order creates clickstream logs, images, GPS pings, payment events. We need to store 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cheaply, durably, and in a format our analytics team can query tomorrow.”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766560" y="1783080"/>
            <a:ext cx="2331720" cy="1965960"/>
          </a:xfrm>
          <a:prstGeom prst="roundRect">
            <a:avLst>
              <a:gd name="adj" fmla="val 4651"/>
            </a:avLst>
          </a:prstGeom>
          <a:solidFill>
            <a:srgbClr val="232F3E"/>
          </a:solidFill>
          <a:ln/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2011680"/>
            <a:ext cx="365760" cy="3657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858000" y="24231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12M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6858000" y="31546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orders/day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281160" y="1783080"/>
            <a:ext cx="2331720" cy="1965960"/>
          </a:xfrm>
          <a:prstGeom prst="roundRect">
            <a:avLst>
              <a:gd name="adj" fmla="val 4651"/>
            </a:avLst>
          </a:prstGeom>
          <a:solidFill>
            <a:srgbClr val="232F3E"/>
          </a:solidFill>
          <a:ln/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201168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372600" y="24231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30TB</a:t>
            </a:r>
            <a:endParaRPr lang="en-US" sz="3600" dirty="0"/>
          </a:p>
        </p:txBody>
      </p:sp>
      <p:sp>
        <p:nvSpPr>
          <p:cNvPr id="18" name="Text 14"/>
          <p:cNvSpPr/>
          <p:nvPr/>
        </p:nvSpPr>
        <p:spPr>
          <a:xfrm>
            <a:off x="9372600" y="31546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data/day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766560" y="3931920"/>
            <a:ext cx="2331720" cy="1965960"/>
          </a:xfrm>
          <a:prstGeom prst="roundRect">
            <a:avLst>
              <a:gd name="adj" fmla="val 4651"/>
            </a:avLst>
          </a:prstGeom>
          <a:solidFill>
            <a:srgbClr val="232F3E"/>
          </a:solidFill>
          <a:ln/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416052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58000" y="45720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11x9s</a:t>
            </a:r>
            <a:endParaRPr lang="en-US" sz="3600" dirty="0"/>
          </a:p>
        </p:txBody>
      </p:sp>
      <p:sp>
        <p:nvSpPr>
          <p:cNvPr id="22" name="Text 17"/>
          <p:cNvSpPr/>
          <p:nvPr/>
        </p:nvSpPr>
        <p:spPr>
          <a:xfrm>
            <a:off x="6858000" y="53035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 required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9281160" y="3931920"/>
            <a:ext cx="2331720" cy="1965960"/>
          </a:xfrm>
          <a:prstGeom prst="roundRect">
            <a:avLst>
              <a:gd name="adj" fmla="val 4651"/>
            </a:avLst>
          </a:prstGeom>
          <a:solidFill>
            <a:srgbClr val="232F3E"/>
          </a:solidFill>
          <a:ln/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416052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372600" y="45720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yrs</a:t>
            </a:r>
            <a:endParaRPr lang="en-US" sz="3600" dirty="0"/>
          </a:p>
        </p:txBody>
      </p:sp>
      <p:sp>
        <p:nvSpPr>
          <p:cNvPr id="26" name="Text 20"/>
          <p:cNvSpPr/>
          <p:nvPr/>
        </p:nvSpPr>
        <p:spPr>
          <a:xfrm>
            <a:off x="9372600" y="53035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(compliance)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731520" y="617220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solve Part 1 of Arjun's problem: where does the data land, who can touch it, and how do we never lose it.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 •  AWS Data Engineering for the AI Era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8991295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Amazon S3  |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8229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Amazon S3?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37360"/>
            <a:ext cx="10728655" cy="1188720"/>
          </a:xfrm>
          <a:prstGeom prst="roundRect">
            <a:avLst>
              <a:gd name="adj" fmla="val 7692"/>
            </a:avLst>
          </a:prstGeom>
          <a:solidFill>
            <a:srgbClr val="232F3E"/>
          </a:solidFill>
          <a:ln/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78308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Storage Service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for the internet, scaled infinitely.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file, get a URL. That's the 30-second pitch. Everything else is just knobs on top.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26974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3246120"/>
            <a:ext cx="73152" cy="2468880"/>
          </a:xfrm>
          <a:prstGeom prst="rect">
            <a:avLst/>
          </a:prstGeom>
          <a:solidFill>
            <a:srgbClr val="FF9900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52044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05840" y="4114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Object-based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05840" y="46634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+ metadata, not blocks or rows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611880" y="3246120"/>
            <a:ext cx="26974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11880" y="3246120"/>
            <a:ext cx="73152" cy="2468880"/>
          </a:xfrm>
          <a:prstGeom prst="rect">
            <a:avLst/>
          </a:prstGeom>
          <a:solidFill>
            <a:srgbClr val="FF9900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352044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886200" y="4114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Infinitely scalable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886200" y="46634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capacity planning, ever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492240" y="3246120"/>
            <a:ext cx="26974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92240" y="3246120"/>
            <a:ext cx="73152" cy="2468880"/>
          </a:xfrm>
          <a:prstGeom prst="rect">
            <a:avLst/>
          </a:prstGeom>
          <a:solidFill>
            <a:srgbClr val="FF9900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352044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766560" y="4114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nines durability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766560" y="46634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99.999999999% — lose one file in 10,000 yrs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9372600" y="3246120"/>
            <a:ext cx="26974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372600" y="3246120"/>
            <a:ext cx="73152" cy="2468880"/>
          </a:xfrm>
          <a:prstGeom prst="rect">
            <a:avLst/>
          </a:prstGeom>
          <a:solidFill>
            <a:srgbClr val="FF9900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0" y="3520440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646920" y="4114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Pay-as-you-go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9646920" y="46634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+ requests + data transfer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 •  AWS Data Engineering for the AI Era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8991295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Amazon S3  |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8229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S3 shows up in data engineering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8308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2057400"/>
            <a:ext cx="685800" cy="685800"/>
          </a:xfrm>
          <a:prstGeom prst="ellipse">
            <a:avLst/>
          </a:prstGeom>
          <a:solidFill>
            <a:srgbClr val="232F3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19456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21031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05840" y="28803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+ processed data for the entire org. The canonical S3 use case for DE.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26280" y="178308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00600" y="2057400"/>
            <a:ext cx="685800" cy="685800"/>
          </a:xfrm>
          <a:prstGeom prst="ellipse">
            <a:avLst/>
          </a:prstGeom>
          <a:solidFill>
            <a:srgbClr val="232F3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19456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23560" y="21031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archive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800600" y="28803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Cheap, durable storage for DB snapshots, logs, compliance data.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321040" y="178308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595360" y="2057400"/>
            <a:ext cx="685800" cy="685800"/>
          </a:xfrm>
          <a:prstGeom prst="ellipse">
            <a:avLst/>
          </a:prstGeom>
          <a:solidFill>
            <a:srgbClr val="232F3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219456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418320" y="21031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landing zone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595360" y="28803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Kinesis Firehose, DMS, AppFlow — all deliver here first.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731520" y="406908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005840" y="4343400"/>
            <a:ext cx="685800" cy="685800"/>
          </a:xfrm>
          <a:prstGeom prst="ellipse">
            <a:avLst/>
          </a:prstGeom>
          <a:solidFill>
            <a:srgbClr val="232F3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48056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828800" y="43891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website / asset hosting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1005840" y="51663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images, JS, reports directly from S3.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526280" y="406908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800600" y="4343400"/>
            <a:ext cx="685800" cy="685800"/>
          </a:xfrm>
          <a:prstGeom prst="ellipse">
            <a:avLst/>
          </a:prstGeom>
          <a:solidFill>
            <a:srgbClr val="232F3E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4480560"/>
            <a:ext cx="411480" cy="4114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623560" y="43891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staging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4800600" y="51663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storage between Glue, EMR, Redshift jobs.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8321040" y="406908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595360" y="4343400"/>
            <a:ext cx="685800" cy="685800"/>
          </a:xfrm>
          <a:prstGeom prst="ellipse">
            <a:avLst/>
          </a:prstGeom>
          <a:solidFill>
            <a:srgbClr val="232F3E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2520" y="4480560"/>
            <a:ext cx="411480" cy="41148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418320" y="43891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training data</a:t>
            </a:r>
            <a:endParaRPr lang="en-US" sz="1500" dirty="0"/>
          </a:p>
        </p:txBody>
      </p:sp>
      <p:sp>
        <p:nvSpPr>
          <p:cNvPr id="35" name="Text 27"/>
          <p:cNvSpPr/>
          <p:nvPr/>
        </p:nvSpPr>
        <p:spPr>
          <a:xfrm>
            <a:off x="8595360" y="51663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SageMaker, Bedrock fine-tuning — data lives in S3.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731520" y="617220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For a data engineer: think of S3 as the persistent layer underneath every other AWS data service.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 •  AWS Data Engineering for the AI Era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8991295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Amazon S3  |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8229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KNOWLEDGE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→ AWS: your mental model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783080"/>
            <a:ext cx="4389120" cy="457200"/>
          </a:xfrm>
          <a:prstGeom prst="rect">
            <a:avLst/>
          </a:prstGeom>
          <a:solidFill>
            <a:srgbClr val="00A4A6"/>
          </a:solidFill>
          <a:ln/>
        </p:spPr>
      </p:sp>
      <p:sp>
        <p:nvSpPr>
          <p:cNvPr id="7" name="Shape 5"/>
          <p:cNvSpPr/>
          <p:nvPr/>
        </p:nvSpPr>
        <p:spPr>
          <a:xfrm>
            <a:off x="5760720" y="1783080"/>
            <a:ext cx="4754880" cy="4572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8" name="Text 6"/>
          <p:cNvSpPr/>
          <p:nvPr/>
        </p:nvSpPr>
        <p:spPr>
          <a:xfrm>
            <a:off x="1508760" y="1783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(what you know)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97880" y="17830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(what it maps to)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2240280"/>
            <a:ext cx="43891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0" y="2240280"/>
            <a:ext cx="47548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8760" y="2240280"/>
            <a:ext cx="4114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ADLS Gen2 / Blob Storage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97880" y="2240280"/>
            <a:ext cx="4480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371600" y="2633472"/>
            <a:ext cx="4389120" cy="393192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0720" y="2633472"/>
            <a:ext cx="4754880" cy="393192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08760" y="2633472"/>
            <a:ext cx="4114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account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97880" y="2633472"/>
            <a:ext cx="4480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371600" y="3026664"/>
            <a:ext cx="43891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0720" y="3026664"/>
            <a:ext cx="47548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08760" y="3026664"/>
            <a:ext cx="4114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97880" y="3026664"/>
            <a:ext cx="4480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(yes — S3 has no containers)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371600" y="3419856"/>
            <a:ext cx="4389120" cy="393192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60720" y="3419856"/>
            <a:ext cx="4754880" cy="393192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08760" y="3419856"/>
            <a:ext cx="4114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97880" y="3419856"/>
            <a:ext cx="4480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371600" y="3813048"/>
            <a:ext cx="43891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60720" y="3813048"/>
            <a:ext cx="47548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08760" y="3813048"/>
            <a:ext cx="4114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tier (Hot/Cool/Archive)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897880" y="3813048"/>
            <a:ext cx="4480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class (Standard/IA/Glacier)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371600" y="4206240"/>
            <a:ext cx="4389120" cy="393192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60720" y="4206240"/>
            <a:ext cx="4754880" cy="393192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08760" y="4206240"/>
            <a:ext cx="4114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 token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897880" y="4206240"/>
            <a:ext cx="4480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Pre-signed URL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371600" y="4599432"/>
            <a:ext cx="43891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60720" y="4599432"/>
            <a:ext cx="47548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08760" y="4599432"/>
            <a:ext cx="4114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ACLs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897880" y="4599432"/>
            <a:ext cx="4480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policy + Bucket policy + ACL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371600" y="4992624"/>
            <a:ext cx="4389120" cy="393192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760720" y="4992624"/>
            <a:ext cx="4754880" cy="393192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508760" y="4992624"/>
            <a:ext cx="4114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 / versioning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897880" y="4992624"/>
            <a:ext cx="4480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+ MFA Delete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371600" y="5385816"/>
            <a:ext cx="43891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0" y="5385816"/>
            <a:ext cx="47548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508760" y="5385816"/>
            <a:ext cx="4114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GRS/GZRS replication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897880" y="5385816"/>
            <a:ext cx="4480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CRR / SRR (explicit, rule-based)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371600" y="5943600"/>
            <a:ext cx="9448495" cy="594360"/>
          </a:xfrm>
          <a:prstGeom prst="roundRect">
            <a:avLst>
              <a:gd name="adj" fmla="val 12308"/>
            </a:avLst>
          </a:prstGeom>
          <a:solidFill>
            <a:srgbClr val="FFF4E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508760" y="5943600"/>
            <a:ext cx="91741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difference: </a:t>
            </a:r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AWS you compose security from 3 places (IAM + Bucket Policy + ACL). Azure gives you RBAC — AWS gives you fine-grained lego.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 •  AWS Data Engineering for the AI Era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991295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Amazon S3  |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8229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1/3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Buckets — the top-level container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bucket?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bucket is the </a:t>
            </a:r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namespace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where you store S3 objects. Think of it as a massive, region-pinned folder with a globally unique name.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rules you must remember: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74904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3703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is globally unique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4023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accounts, ALL regions. If someone else has 'swiggy-data', you can't.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443484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4389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to one region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4709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 are region-level. Cross-region = you set up replication.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512064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5074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naming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5394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3–63 chars, lowercase, numbers, hyphens only. No uppercase, no underscores, not an IP.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0" y="1783080"/>
            <a:ext cx="457200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086600" y="1965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name examples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086600" y="2423160"/>
            <a:ext cx="4114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2560320"/>
            <a:ext cx="274320" cy="27432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452360" y="2560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132320" y="2926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swiggy-orders-raw-prod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132320" y="3246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analytics-datalake-2026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132320" y="3566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arjun-demo-bucket-21</a:t>
            </a:r>
            <a:endParaRPr lang="en-US" sz="1200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4114800"/>
            <a:ext cx="274320" cy="27432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7452360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7132320" y="4480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Swiggy_Orders</a:t>
            </a:r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uppercase + underscore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7132320" y="4846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my.bucket</a:t>
            </a:r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starts fine but dots cause TLS issues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7132320" y="5212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192.168.1.1</a:t>
            </a:r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looks like an IP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7132320" y="5577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</a:t>
            </a:r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too short (min 3)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 •  AWS Data Engineering for the AI Era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8991295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Amazon S3  |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8229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2/3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Objects — keys, not folders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83080"/>
            <a:ext cx="10728655" cy="914400"/>
          </a:xfrm>
          <a:prstGeom prst="roundRect">
            <a:avLst>
              <a:gd name="adj" fmla="val 10000"/>
            </a:avLst>
          </a:prstGeom>
          <a:solidFill>
            <a:srgbClr val="FFF4E0"/>
          </a:solidFill>
          <a:ln w="19050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8308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has NO folders. </a:t>
            </a:r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keys — long strings with slashes in them. The console lies to you about folders.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an S3 path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383280"/>
            <a:ext cx="10607040" cy="777240"/>
          </a:xfrm>
          <a:prstGeom prst="roundRect">
            <a:avLst>
              <a:gd name="adj" fmla="val 11765"/>
            </a:avLst>
          </a:prstGeom>
          <a:solidFill>
            <a:srgbClr val="232F3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3832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s3://</a:t>
            </a:r>
            <a:pPr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swiggy-data-raw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buNone/>
            </a:pPr>
            <a:r>
              <a:rPr lang="en-US" sz="1800" dirty="0">
                <a:solidFill>
                  <a:srgbClr val="00A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orders/year=2026/month=04/day=18/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order_123.json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4343400"/>
            <a:ext cx="137160" cy="5029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325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4572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 unique name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43400" y="4343400"/>
            <a:ext cx="137160" cy="502920"/>
          </a:xfrm>
          <a:prstGeom prst="rect">
            <a:avLst/>
          </a:prstGeom>
          <a:solidFill>
            <a:srgbClr val="00A4A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4325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4572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"folder path" — pure string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5280" y="4343400"/>
            <a:ext cx="137160" cy="5029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8" name="Text 16"/>
          <p:cNvSpPr/>
          <p:nvPr/>
        </p:nvSpPr>
        <p:spPr>
          <a:xfrm>
            <a:off x="8183880" y="4325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name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83880" y="4572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itself — this is what you GET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507492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166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limits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54864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object size: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TB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PUT limit: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GB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100 MB → use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multipart upload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26480" y="507492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5166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object carries: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0" y="54864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(the actual bytes)  •  </a:t>
            </a:r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(system + user key-value)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(up to 10, for cost/security/lifecycle)  •  </a:t>
            </a:r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ID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(if versioning on)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 •  AWS Data Engineering for the AI Era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991295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Amazon S3  |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8229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3/3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Arjun structures his Swiggy data lake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83080"/>
            <a:ext cx="6583680" cy="4617720"/>
          </a:xfrm>
          <a:prstGeom prst="roundRect">
            <a:avLst>
              <a:gd name="adj" fmla="val 1980"/>
            </a:avLst>
          </a:prstGeom>
          <a:solidFill>
            <a:srgbClr val="232F3E"/>
          </a:solidFill>
          <a:ln/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9202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s3://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2219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swiggy-datalake-prod/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52374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raw/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825496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├── orders/year=2026/month=04/day=18/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12724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├── clickstream/...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342900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└── payments/...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373075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bronze/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403250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└── orders_cleaned/...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4334256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silver/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463600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└── orders_enriched/...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493776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gold/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523951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└── daily_revenue/...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554126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landing/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5843016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└── incoming-sftp/...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680960" y="1783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layout?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80960" y="2240280"/>
            <a:ext cx="73152" cy="9144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3" name="Text 21"/>
          <p:cNvSpPr/>
          <p:nvPr/>
        </p:nvSpPr>
        <p:spPr>
          <a:xfrm>
            <a:off x="786384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architecture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863840" y="253288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→ bronze → silver → gold maps straight to S3 prefixes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680960" y="3291840"/>
            <a:ext cx="73152" cy="9144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for analytics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863840" y="358444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year=/month=/day= = Hive-style partitioning Athena/Glue understand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680960" y="4343400"/>
            <a:ext cx="73152" cy="9144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9" name="Text 27"/>
          <p:cNvSpPr/>
          <p:nvPr/>
        </p:nvSpPr>
        <p:spPr>
          <a:xfrm>
            <a:off x="7863840" y="4343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bucket, many prefixes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863840" y="463600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rules, IAM, and policies can target each prefix separately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680960" y="5394960"/>
            <a:ext cx="73152" cy="9144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2" name="Text 30"/>
          <p:cNvSpPr/>
          <p:nvPr/>
        </p:nvSpPr>
        <p:spPr>
          <a:xfrm>
            <a:off x="7863840" y="5394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in bucket name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863840" y="568756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-prod vs -dev keeps blast radius contained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 •  AWS Data Engineering for the AI Era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991295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Amazon S3  |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0"/>
            <a:ext cx="12191695" cy="7315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OF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283464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914400" y="4343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touch Arjun's data — and how to stop everyone else</a:t>
            </a:r>
            <a:endParaRPr lang="en-US" sz="2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9326880" y="1371600"/>
            <a:ext cx="2011680" cy="2011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5303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 minutes  •  most exam-relevant section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8229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control access to S3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83080"/>
            <a:ext cx="3611880" cy="43434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783080"/>
            <a:ext cx="3611880" cy="109728"/>
          </a:xfrm>
          <a:prstGeom prst="rect">
            <a:avLst/>
          </a:prstGeom>
          <a:solidFill>
            <a:srgbClr val="FF990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0312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27432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Policies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005840" y="3154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User-based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005840" y="3566160"/>
            <a:ext cx="3063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" y="370332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Attached to users / groups / roles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what the principal can do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primary tool for internal teams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005840" y="5486400"/>
            <a:ext cx="3063240" cy="502920"/>
          </a:xfrm>
          <a:prstGeom prst="roundRect">
            <a:avLst>
              <a:gd name="adj" fmla="val 9091"/>
            </a:avLst>
          </a:prstGeom>
          <a:solidFill>
            <a:srgbClr val="FFF4E0"/>
          </a:solidFill>
          <a:ln/>
        </p:spPr>
      </p:sp>
      <p:sp>
        <p:nvSpPr>
          <p:cNvPr id="14" name="Text 11"/>
          <p:cNvSpPr/>
          <p:nvPr/>
        </p:nvSpPr>
        <p:spPr>
          <a:xfrm>
            <a:off x="1005840" y="54864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80% of the time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0" y="1783080"/>
            <a:ext cx="3611880" cy="43434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72000" y="1783080"/>
            <a:ext cx="3611880" cy="109728"/>
          </a:xfrm>
          <a:prstGeom prst="rect">
            <a:avLst/>
          </a:prstGeom>
          <a:solidFill>
            <a:srgbClr val="FF9900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103120"/>
            <a:ext cx="548640" cy="5486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846320" y="27432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Policies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4846320" y="3154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Resource-based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846320" y="3566160"/>
            <a:ext cx="3063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846320" y="370332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attached to the bucket itself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grant cross-account access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encryption, make public, etc.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846320" y="5486400"/>
            <a:ext cx="3063240" cy="502920"/>
          </a:xfrm>
          <a:prstGeom prst="roundRect">
            <a:avLst>
              <a:gd name="adj" fmla="val 9091"/>
            </a:avLst>
          </a:prstGeom>
          <a:solidFill>
            <a:srgbClr val="FFF4E0"/>
          </a:solidFill>
          <a:ln/>
        </p:spPr>
      </p:sp>
      <p:sp>
        <p:nvSpPr>
          <p:cNvPr id="23" name="Text 19"/>
          <p:cNvSpPr/>
          <p:nvPr/>
        </p:nvSpPr>
        <p:spPr>
          <a:xfrm>
            <a:off x="4846320" y="54864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cross-account + bucket-wide rules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8412480" y="1783080"/>
            <a:ext cx="3611880" cy="43434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8412480" y="1783080"/>
            <a:ext cx="3611880" cy="109728"/>
          </a:xfrm>
          <a:prstGeom prst="rect">
            <a:avLst/>
          </a:prstGeom>
          <a:solidFill>
            <a:srgbClr val="CBD5E1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2103120"/>
            <a:ext cx="548640" cy="54864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686800" y="27432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ACLs</a:t>
            </a:r>
            <a:endParaRPr lang="en-US" sz="1900" dirty="0"/>
          </a:p>
        </p:txBody>
      </p:sp>
      <p:sp>
        <p:nvSpPr>
          <p:cNvPr id="28" name="Text 23"/>
          <p:cNvSpPr/>
          <p:nvPr/>
        </p:nvSpPr>
        <p:spPr>
          <a:xfrm>
            <a:off x="8686800" y="3154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Legacy, object-level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8686800" y="3566160"/>
            <a:ext cx="3063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8686800" y="370332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Old-school, pre-IAM access control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Object-level OR bucket-level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recommends keeping DISABLED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8686800" y="5486400"/>
            <a:ext cx="3063240" cy="502920"/>
          </a:xfrm>
          <a:prstGeom prst="roundRect">
            <a:avLst>
              <a:gd name="adj" fmla="val 9091"/>
            </a:avLst>
          </a:prstGeom>
          <a:solidFill>
            <a:srgbClr val="FEE2E2"/>
          </a:solidFill>
          <a:ln/>
        </p:spPr>
      </p:sp>
      <p:sp>
        <p:nvSpPr>
          <p:cNvPr id="32" name="Text 27"/>
          <p:cNvSpPr/>
          <p:nvPr/>
        </p:nvSpPr>
        <p:spPr>
          <a:xfrm>
            <a:off x="8686800" y="54864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— turn them off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731520" y="6263640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granted = </a:t>
            </a:r>
            <a:pPr algn="ctr"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(IAM allows) OR (resource policy allows) </a:t>
            </a:r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pPr algn="ctr"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explicit DENY</a:t>
            </a:r>
            <a:endParaRPr lang="en-US" sz="1300" dirty="0"/>
          </a:p>
        </p:txBody>
      </p:sp>
      <p:sp>
        <p:nvSpPr>
          <p:cNvPr id="34" name="Text 29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 •  AWS Data Engineering for the AI Era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8991295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Amazon S3  |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8229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GUIDE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vs Bucket Policy — when to use which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83080"/>
            <a:ext cx="507492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783080"/>
            <a:ext cx="109728" cy="3657600"/>
          </a:xfrm>
          <a:prstGeom prst="rect">
            <a:avLst/>
          </a:prstGeom>
          <a:solidFill>
            <a:srgbClr val="00A4A6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659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IAM Policy when...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237744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your own team's access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788920"/>
            <a:ext cx="4617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Granting your own IAM users/roles access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roles (Glue, Lambda, EC2) need S3 access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per-action control (s3:PutObject, s3:ListBucket)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control both sides — the user AND the bucket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55080" y="1783080"/>
            <a:ext cx="507492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1783080"/>
            <a:ext cx="109728" cy="36576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19659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Bucket Policy when...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629400" y="237744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bucket-wide or cross-account rules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29400" y="2788920"/>
            <a:ext cx="4617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Cross-account access (their IAM can't grant this)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Granting anonymous public read (static site)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all uploads to be encrypted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non-HTTPS requests (aws:SecureTransport)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5715000"/>
            <a:ext cx="10728655" cy="777240"/>
          </a:xfrm>
          <a:prstGeom prst="roundRect">
            <a:avLst>
              <a:gd name="adj" fmla="val 9412"/>
            </a:avLst>
          </a:prstGeom>
          <a:solidFill>
            <a:srgbClr val="FFF4E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71500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Rule of thumb:  </a:t>
            </a:r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principal and the bucket are in the same account → use IAM. If the principal is outside (or anonymous) → use Bucket Policy.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 •  AWS Data Engineering for the AI Era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991295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Amazon S3  |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8229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bucket policy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83080"/>
            <a:ext cx="6400800" cy="4663440"/>
          </a:xfrm>
          <a:prstGeom prst="roundRect">
            <a:avLst>
              <a:gd name="adj" fmla="val 1961"/>
            </a:avLst>
          </a:prstGeom>
          <a:solidFill>
            <a:srgbClr val="232F3E"/>
          </a:solidFill>
          <a:ln/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965960"/>
            <a:ext cx="137160" cy="137160"/>
          </a:xfrm>
          <a:prstGeom prst="ellipse">
            <a:avLst/>
          </a:prstGeom>
          <a:solidFill>
            <a:srgbClr val="FF605C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1965960"/>
            <a:ext cx="137160" cy="137160"/>
          </a:xfrm>
          <a:prstGeom prst="ellipse">
            <a:avLst/>
          </a:prstGeom>
          <a:solidFill>
            <a:srgbClr val="FFBD44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1965960"/>
            <a:ext cx="137160" cy="137160"/>
          </a:xfrm>
          <a:prstGeom prst="ellipse">
            <a:avLst/>
          </a:prstGeom>
          <a:solidFill>
            <a:srgbClr val="00CA4E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bucket-policy.json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2286000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523744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"Version": "2012-10-17",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76148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"Statement": [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2999232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3236976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"Sid": "ForceEncryptedUploads",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474720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"Effect": "Deny",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3712464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"Principal": "*",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395020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"Action": "s3:PutObject",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4187952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"Resource": "arn:aws:s3:::swiggy-data/*",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4425696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"Condition": {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4663440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"StringNotEquals": {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4901184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"s3:x-amz-server-side-encryption": "AES256"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513892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5376672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5614416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" y="5852160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6089904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06640" y="17830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 building blocks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406640" y="2286000"/>
            <a:ext cx="137160" cy="502920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30" name="Text 28"/>
          <p:cNvSpPr/>
          <p:nvPr/>
        </p:nvSpPr>
        <p:spPr>
          <a:xfrm>
            <a:off x="7635240" y="2286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635240" y="25420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ID — human label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406640" y="2971800"/>
            <a:ext cx="137160" cy="5029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3" name="Text 31"/>
          <p:cNvSpPr/>
          <p:nvPr/>
        </p:nvSpPr>
        <p:spPr>
          <a:xfrm>
            <a:off x="7635240" y="2971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Effect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635240" y="32278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or Deny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406640" y="3657600"/>
            <a:ext cx="137160" cy="502920"/>
          </a:xfrm>
          <a:prstGeom prst="rect">
            <a:avLst/>
          </a:prstGeom>
          <a:solidFill>
            <a:srgbClr val="A5F3FC"/>
          </a:solidFill>
          <a:ln/>
        </p:spPr>
      </p:sp>
      <p:sp>
        <p:nvSpPr>
          <p:cNvPr id="36" name="Text 34"/>
          <p:cNvSpPr/>
          <p:nvPr/>
        </p:nvSpPr>
        <p:spPr>
          <a:xfrm>
            <a:off x="763524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Principal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635240" y="39136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this applies to ("*" = everyone)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406640" y="4343400"/>
            <a:ext cx="137160" cy="502920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39" name="Text 37"/>
          <p:cNvSpPr/>
          <p:nvPr/>
        </p:nvSpPr>
        <p:spPr>
          <a:xfrm>
            <a:off x="7635240" y="4343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635240" y="4599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S3 API calls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406640" y="5029200"/>
            <a:ext cx="137160" cy="502920"/>
          </a:xfrm>
          <a:prstGeom prst="rect">
            <a:avLst/>
          </a:prstGeom>
          <a:solidFill>
            <a:srgbClr val="A5F3FC"/>
          </a:solidFill>
          <a:ln/>
        </p:spPr>
      </p:sp>
      <p:sp>
        <p:nvSpPr>
          <p:cNvPr id="42" name="Text 40"/>
          <p:cNvSpPr/>
          <p:nvPr/>
        </p:nvSpPr>
        <p:spPr>
          <a:xfrm>
            <a:off x="7635240" y="5029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635240" y="52852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 of bucket or object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406640" y="5715000"/>
            <a:ext cx="137160" cy="502920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45" name="Text 43"/>
          <p:cNvSpPr/>
          <p:nvPr/>
        </p:nvSpPr>
        <p:spPr>
          <a:xfrm>
            <a:off x="7635240" y="5715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635240" y="59710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rules (must-be-encrypted, etc.)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 •  AWS Data Engineering for the AI Era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991295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Amazon S3  | 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8229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bucket policy patterns you'll use in real life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8308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9659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read-only (static site)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3317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Hosting a static website or public asset bucket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60120" y="2651760"/>
            <a:ext cx="49834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743200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Principal: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"*" (anonymous)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s3:GetObject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pair with Block Public Access exceptions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55080" y="178308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0" y="19659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Cross-account access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0" y="23317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Partner account needs to read your bucket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0" y="2651760"/>
            <a:ext cx="49834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2743200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Principal: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{"AWS": "arn:aws:iam::PARTNER-ID:root"}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s3:GetObject, s3:ListBucket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Cleanest way without sharing IAM users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11480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42976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HTTPS only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0120" y="46634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Compliance or general good hygiene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60120" y="4983480"/>
            <a:ext cx="49834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5074920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Principal: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"*"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s3:*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Condition: aws:SecureTransport = false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55080" y="411480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83680" y="42976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encrypted uploads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83680" y="46634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Compliance — no plaintext objects allowed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83680" y="4983480"/>
            <a:ext cx="49834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5074920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Principal: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"*"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s3:PutObject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Condition: x-amz-server-side-encryption missing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 •  AWS Data Engineering for the AI Era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991295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Amazon S3  | 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8229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4/4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Public Access — the safety net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83080"/>
            <a:ext cx="10728655" cy="822960"/>
          </a:xfrm>
          <a:prstGeom prst="roundRect">
            <a:avLst>
              <a:gd name="adj" fmla="val 11111"/>
            </a:avLst>
          </a:prstGeom>
          <a:solidFill>
            <a:srgbClr val="FEE2E2"/>
          </a:solidFill>
          <a:ln w="19050">
            <a:solidFill>
              <a:srgbClr val="EF444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202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783080"/>
            <a:ext cx="95399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S3 data leaks in the news = someone accidentally made a bucket public. </a:t>
            </a:r>
            <a:pPr indent="0" marL="0">
              <a:buNone/>
            </a:pPr>
            <a:r>
              <a:rPr lang="en-US" sz="15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BPA is AWS's fix for that entire class of problem.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2788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BPA does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" y="320040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Overrides any bucket policy or ACL that would make a bucket or object </a:t>
            </a:r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Think of it as a big red "no matter what you configured, this bucket cannot be public" switch.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" y="452628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</a:t>
            </a:r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 on all new buckets since 2023.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set at the </a:t>
            </a:r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level</a:t>
            </a:r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lock ALL buckets.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0" y="2788920"/>
            <a:ext cx="502920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583680" y="2926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BPA switches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583680" y="3383280"/>
            <a:ext cx="46634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0" y="35204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BlockPublicAcls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583680" y="37947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any new public ACL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583680" y="42062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IgnorePublicAcls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583680" y="44805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any existing public ACL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583680" y="48920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BlockPublicPolicy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583680" y="51663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any bucket policy that grants public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583680" y="55778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RestrictPublicBuckets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583680" y="58521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non-AWS principal access even if policy allows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 •  AWS Data Engineering for the AI Era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991295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Amazon S3  | 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0"/>
            <a:ext cx="12191695" cy="7315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OF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283464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914400" y="4343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and replication — so Arjun never loses data</a:t>
            </a:r>
            <a:endParaRPr lang="en-US" sz="2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9326880" y="1371600"/>
            <a:ext cx="2011680" cy="2011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5303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 minutes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8229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Versioning — your time machine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8308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Arjun overwrites </a:t>
            </a:r>
            <a:pPr indent="0" marL="0">
              <a:buNone/>
            </a:pPr>
            <a:r>
              <a:rPr lang="en-US" sz="14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order.csv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old version isn't deleted — it's kept. Same key, multiple versions.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560320"/>
            <a:ext cx="10728655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2697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Key: orders/2026-04-18.csv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88720" y="3337560"/>
            <a:ext cx="3017520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25880" y="37764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upload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2588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09:00</a:t>
            </a:r>
            <a:endParaRPr lang="en-US" sz="1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3749040"/>
            <a:ext cx="365760" cy="36576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572000" y="3337560"/>
            <a:ext cx="3017520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/>
        </p:spPr>
      </p:sp>
      <p:sp>
        <p:nvSpPr>
          <p:cNvPr id="15" name="Text 12"/>
          <p:cNvSpPr/>
          <p:nvPr/>
        </p:nvSpPr>
        <p:spPr>
          <a:xfrm>
            <a:off x="47091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709160" y="37764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in reconciliation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70916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14:00</a:t>
            </a:r>
            <a:endParaRPr lang="en-US" sz="10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3749040"/>
            <a:ext cx="365760" cy="36576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7955280" y="3337560"/>
            <a:ext cx="3017520" cy="1143000"/>
          </a:xfrm>
          <a:prstGeom prst="roundRect">
            <a:avLst>
              <a:gd name="adj" fmla="val 6400"/>
            </a:avLst>
          </a:prstGeom>
          <a:solidFill>
            <a:srgbClr val="FF9900"/>
          </a:solidFill>
          <a:ln/>
        </p:spPr>
      </p:sp>
      <p:sp>
        <p:nvSpPr>
          <p:cNvPr id="20" name="Text 16"/>
          <p:cNvSpPr/>
          <p:nvPr/>
        </p:nvSpPr>
        <p:spPr>
          <a:xfrm>
            <a:off x="809244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8092440" y="37764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update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809244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E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10:00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8092440" y="45262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current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731520" y="507492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731520" y="5074920"/>
            <a:ext cx="73152" cy="14173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6" name="Text 22"/>
          <p:cNvSpPr/>
          <p:nvPr/>
        </p:nvSpPr>
        <p:spPr>
          <a:xfrm>
            <a:off x="960120" y="52578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at bucket level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960120" y="56692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on, cannot be disabled — only suspended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4526280" y="507492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526280" y="5074920"/>
            <a:ext cx="73152" cy="14173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0" name="Text 26"/>
          <p:cNvSpPr/>
          <p:nvPr/>
        </p:nvSpPr>
        <p:spPr>
          <a:xfrm>
            <a:off x="4754880" y="52578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Pre-versioning objects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4754880" y="56692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version ID = "null"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8321040" y="507492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8321040" y="5074920"/>
            <a:ext cx="73152" cy="14173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4" name="Text 30"/>
          <p:cNvSpPr/>
          <p:nvPr/>
        </p:nvSpPr>
        <p:spPr>
          <a:xfrm>
            <a:off x="8549640" y="52578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is logical</a:t>
            </a:r>
            <a:endParaRPr lang="en-US" sz="1300" dirty="0"/>
          </a:p>
        </p:txBody>
      </p:sp>
      <p:sp>
        <p:nvSpPr>
          <p:cNvPr id="35" name="Text 31"/>
          <p:cNvSpPr/>
          <p:nvPr/>
        </p:nvSpPr>
        <p:spPr>
          <a:xfrm>
            <a:off x="8549640" y="56692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delete marker; original data recoverable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 •  AWS Data Engineering for the AI Era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8991295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Amazon S3  |  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8229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DEEP DIVE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markers &amp; MFA Delete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830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you "delete" a versioned object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320040" cy="32004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31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order.csv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2542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926080"/>
            <a:ext cx="320040" cy="32004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926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2880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order.csv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3136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520440"/>
            <a:ext cx="320040" cy="3200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520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3474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order.csv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3730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marker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411480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114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88720" y="4069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 delete marker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4325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restored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4983480"/>
            <a:ext cx="6583680" cy="1280160"/>
          </a:xfrm>
          <a:prstGeom prst="roundRect">
            <a:avLst>
              <a:gd name="adj" fmla="val 5714"/>
            </a:avLst>
          </a:prstGeom>
          <a:solidFill>
            <a:srgbClr val="FFF4E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98348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"delete" on a versioned bucket is a </a:t>
            </a:r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delete</a:t>
            </a:r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original versions are never gone until you explicitly delete each version ID. </a:t>
            </a:r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= delete the delete marker.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680960" y="1783080"/>
            <a:ext cx="3749040" cy="448056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965960"/>
            <a:ext cx="502920" cy="50292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503920" y="1965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Delete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7863840" y="2560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 option for compliance buckets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7863840" y="2880360"/>
            <a:ext cx="33832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863840" y="3017520"/>
            <a:ext cx="3383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auth required to permanently delete a version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to suspend versioning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ROOT account can enable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enabled via AWS CLI, not console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protection for compliance data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 •  AWS Data Engineering for the AI Era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8991295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Amazon S3  |  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8229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Replication — CRR vs SRR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8308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783080"/>
            <a:ext cx="5394960" cy="4572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783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CRR  —  Cross-Region Replication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514600"/>
            <a:ext cx="2011680" cy="1280160"/>
          </a:xfrm>
          <a:prstGeom prst="roundRect">
            <a:avLst>
              <a:gd name="adj" fmla="val 4286"/>
            </a:avLst>
          </a:prstGeom>
          <a:solidFill>
            <a:srgbClr val="E0F2FE"/>
          </a:solidFill>
          <a:ln w="12700">
            <a:solidFill>
              <a:srgbClr val="00A4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560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834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ap-south-1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(Mumbai)</a:t>
            </a:r>
            <a:endParaRPr lang="en-US" sz="11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3291840"/>
            <a:ext cx="365760" cy="36576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3017520"/>
            <a:ext cx="502920" cy="5029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749040" y="2514600"/>
            <a:ext cx="2011680" cy="1280160"/>
          </a:xfrm>
          <a:prstGeom prst="roundRect">
            <a:avLst>
              <a:gd name="adj" fmla="val 4286"/>
            </a:avLst>
          </a:prstGeom>
          <a:solidFill>
            <a:srgbClr val="FFF4E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794760" y="2560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840480" y="2834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us-east-1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(Virginia)</a:t>
            </a:r>
            <a:endParaRPr lang="en-US" sz="11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3291840"/>
            <a:ext cx="365760" cy="36576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309360" y="1783080"/>
            <a:ext cx="51206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309360" y="1783080"/>
            <a:ext cx="5120640" cy="4572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20" name="Text 15"/>
          <p:cNvSpPr/>
          <p:nvPr/>
        </p:nvSpPr>
        <p:spPr>
          <a:xfrm>
            <a:off x="649224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SRR  —  Same-Region Replication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492240" y="2514600"/>
            <a:ext cx="1920240" cy="1280160"/>
          </a:xfrm>
          <a:prstGeom prst="roundRect">
            <a:avLst>
              <a:gd name="adj" fmla="val 4286"/>
            </a:avLst>
          </a:prstGeom>
          <a:solidFill>
            <a:srgbClr val="E0F2FE"/>
          </a:solidFill>
          <a:ln w="12700">
            <a:solidFill>
              <a:srgbClr val="00A4A6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537960" y="2560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(prod)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583680" y="2834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ap-south-1</a:t>
            </a:r>
            <a:endParaRPr lang="en-US" sz="11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3017520"/>
            <a:ext cx="457200" cy="45720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9235440" y="2514600"/>
            <a:ext cx="2011680" cy="1280160"/>
          </a:xfrm>
          <a:prstGeom prst="roundRect">
            <a:avLst>
              <a:gd name="adj" fmla="val 4286"/>
            </a:avLst>
          </a:prstGeom>
          <a:solidFill>
            <a:srgbClr val="FFF4E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9281160" y="2560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 (test acct)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932688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ap-south-1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731520" y="4297680"/>
            <a:ext cx="10728655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914400" y="44348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use cases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914400" y="4800600"/>
            <a:ext cx="2743200" cy="292608"/>
          </a:xfrm>
          <a:prstGeom prst="rect">
            <a:avLst/>
          </a:prstGeom>
          <a:solidFill>
            <a:srgbClr val="232F3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1005840" y="48006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3657600" y="4800600"/>
            <a:ext cx="3657600" cy="292608"/>
          </a:xfrm>
          <a:prstGeom prst="rect">
            <a:avLst/>
          </a:prstGeom>
          <a:solidFill>
            <a:srgbClr val="232F3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3749040" y="48006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CRR (Cross-Region)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7315200" y="4800600"/>
            <a:ext cx="3931920" cy="292608"/>
          </a:xfrm>
          <a:prstGeom prst="rect">
            <a:avLst/>
          </a:prstGeom>
          <a:solidFill>
            <a:srgbClr val="232F3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7406640" y="48006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SRR (Same-Region)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914400" y="5093208"/>
            <a:ext cx="27432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1005840" y="50932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recovery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3657600" y="5093208"/>
            <a:ext cx="3657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3749040" y="50932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regional outage protection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7315200" y="5093208"/>
            <a:ext cx="3931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7406640" y="50932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2" name="Shape 36"/>
          <p:cNvSpPr/>
          <p:nvPr/>
        </p:nvSpPr>
        <p:spPr>
          <a:xfrm>
            <a:off x="914400" y="5385816"/>
            <a:ext cx="274320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1005840" y="53858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Lower-latency reads</a:t>
            </a:r>
            <a:endParaRPr lang="en-US" sz="1100" dirty="0"/>
          </a:p>
        </p:txBody>
      </p:sp>
      <p:sp>
        <p:nvSpPr>
          <p:cNvPr id="44" name="Shape 38"/>
          <p:cNvSpPr/>
          <p:nvPr/>
        </p:nvSpPr>
        <p:spPr>
          <a:xfrm>
            <a:off x="3657600" y="5385816"/>
            <a:ext cx="365760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3749040" y="538581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serve users closer</a:t>
            </a:r>
            <a:endParaRPr lang="en-US" sz="1100" dirty="0"/>
          </a:p>
        </p:txBody>
      </p:sp>
      <p:sp>
        <p:nvSpPr>
          <p:cNvPr id="46" name="Shape 40"/>
          <p:cNvSpPr/>
          <p:nvPr/>
        </p:nvSpPr>
        <p:spPr>
          <a:xfrm>
            <a:off x="7315200" y="5385816"/>
            <a:ext cx="393192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7406640" y="538581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8" name="Shape 42"/>
          <p:cNvSpPr/>
          <p:nvPr/>
        </p:nvSpPr>
        <p:spPr>
          <a:xfrm>
            <a:off x="914400" y="5678424"/>
            <a:ext cx="27432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1005840" y="567842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residency / compliance</a:t>
            </a:r>
            <a:endParaRPr lang="en-US" sz="1100" dirty="0"/>
          </a:p>
        </p:txBody>
      </p:sp>
      <p:sp>
        <p:nvSpPr>
          <p:cNvPr id="50" name="Shape 44"/>
          <p:cNvSpPr/>
          <p:nvPr/>
        </p:nvSpPr>
        <p:spPr>
          <a:xfrm>
            <a:off x="3657600" y="5678424"/>
            <a:ext cx="3657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3749040" y="567842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keep copy in specific region</a:t>
            </a:r>
            <a:endParaRPr lang="en-US" sz="1100" dirty="0"/>
          </a:p>
        </p:txBody>
      </p:sp>
      <p:sp>
        <p:nvSpPr>
          <p:cNvPr id="52" name="Shape 46"/>
          <p:cNvSpPr/>
          <p:nvPr/>
        </p:nvSpPr>
        <p:spPr>
          <a:xfrm>
            <a:off x="7315200" y="5678424"/>
            <a:ext cx="3931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3" name="Text 47"/>
          <p:cNvSpPr/>
          <p:nvPr/>
        </p:nvSpPr>
        <p:spPr>
          <a:xfrm>
            <a:off x="7406640" y="567842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4" name="Shape 48"/>
          <p:cNvSpPr/>
          <p:nvPr/>
        </p:nvSpPr>
        <p:spPr>
          <a:xfrm>
            <a:off x="914400" y="5971032"/>
            <a:ext cx="274320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5" name="Text 49"/>
          <p:cNvSpPr/>
          <p:nvPr/>
        </p:nvSpPr>
        <p:spPr>
          <a:xfrm>
            <a:off x="1005840" y="59710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aggregation</a:t>
            </a:r>
            <a:endParaRPr lang="en-US" sz="1100" dirty="0"/>
          </a:p>
        </p:txBody>
      </p:sp>
      <p:sp>
        <p:nvSpPr>
          <p:cNvPr id="56" name="Shape 50"/>
          <p:cNvSpPr/>
          <p:nvPr/>
        </p:nvSpPr>
        <p:spPr>
          <a:xfrm>
            <a:off x="3657600" y="5971032"/>
            <a:ext cx="365760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7" name="Text 51"/>
          <p:cNvSpPr/>
          <p:nvPr/>
        </p:nvSpPr>
        <p:spPr>
          <a:xfrm>
            <a:off x="3749040" y="59710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8" name="Shape 52"/>
          <p:cNvSpPr/>
          <p:nvPr/>
        </p:nvSpPr>
        <p:spPr>
          <a:xfrm>
            <a:off x="7315200" y="5971032"/>
            <a:ext cx="393192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9" name="Text 53"/>
          <p:cNvSpPr/>
          <p:nvPr/>
        </p:nvSpPr>
        <p:spPr>
          <a:xfrm>
            <a:off x="7406640" y="59710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pool logs from prod → analytics</a:t>
            </a:r>
            <a:endParaRPr lang="en-US" sz="1100" dirty="0"/>
          </a:p>
        </p:txBody>
      </p:sp>
      <p:sp>
        <p:nvSpPr>
          <p:cNvPr id="60" name="Shape 54"/>
          <p:cNvSpPr/>
          <p:nvPr/>
        </p:nvSpPr>
        <p:spPr>
          <a:xfrm>
            <a:off x="914400" y="6263640"/>
            <a:ext cx="27432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1" name="Text 55"/>
          <p:cNvSpPr/>
          <p:nvPr/>
        </p:nvSpPr>
        <p:spPr>
          <a:xfrm>
            <a:off x="1005840" y="62636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prod → test</a:t>
            </a:r>
            <a:endParaRPr lang="en-US" sz="1100" dirty="0"/>
          </a:p>
        </p:txBody>
      </p:sp>
      <p:sp>
        <p:nvSpPr>
          <p:cNvPr id="62" name="Shape 56"/>
          <p:cNvSpPr/>
          <p:nvPr/>
        </p:nvSpPr>
        <p:spPr>
          <a:xfrm>
            <a:off x="3657600" y="6263640"/>
            <a:ext cx="3657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3" name="Text 57"/>
          <p:cNvSpPr/>
          <p:nvPr/>
        </p:nvSpPr>
        <p:spPr>
          <a:xfrm>
            <a:off x="3749040" y="62636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4" name="Shape 58"/>
          <p:cNvSpPr/>
          <p:nvPr/>
        </p:nvSpPr>
        <p:spPr>
          <a:xfrm>
            <a:off x="7315200" y="6263640"/>
            <a:ext cx="3931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5" name="Text 59"/>
          <p:cNvSpPr/>
          <p:nvPr/>
        </p:nvSpPr>
        <p:spPr>
          <a:xfrm>
            <a:off x="7406640" y="62636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seed test envs</a:t>
            </a:r>
            <a:endParaRPr lang="en-US" sz="1100" dirty="0"/>
          </a:p>
        </p:txBody>
      </p:sp>
      <p:sp>
        <p:nvSpPr>
          <p:cNvPr id="66" name="Text 60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 •  AWS Data Engineering for the AI Era</a:t>
            </a:r>
            <a:endParaRPr lang="en-US" sz="900" dirty="0"/>
          </a:p>
        </p:txBody>
      </p:sp>
      <p:sp>
        <p:nvSpPr>
          <p:cNvPr id="67" name="Text 61"/>
          <p:cNvSpPr/>
          <p:nvPr/>
        </p:nvSpPr>
        <p:spPr>
          <a:xfrm>
            <a:off x="8991295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Amazon S3  |  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8229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GOTCHAS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— rules &amp; gotchas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8308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98424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947672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must be 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508760" y="2313432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source and destination — no exceptions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355080" y="178308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984248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947672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 required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132320" y="2313432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needs permission to read source + write destination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31520" y="320040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401568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8760" y="3364992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are async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508760" y="3730752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Eventual consistency, not instant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355080" y="320040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FFBEB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401568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132320" y="3364992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NEW objects replicate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7132320" y="3730752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objects need S3 Batch Replication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731520" y="461772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FFBEB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818888"/>
            <a:ext cx="411480" cy="4114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508760" y="4782312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chaining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1508760" y="5148072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A→B and B→C does NOT give you A→C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6355080" y="461772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FFBEB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4818888"/>
            <a:ext cx="411480" cy="4114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132320" y="4782312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Deletes are optional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7132320" y="5148072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markers replicate only if configured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731520" y="5989320"/>
            <a:ext cx="10728655" cy="502920"/>
          </a:xfrm>
          <a:prstGeom prst="roundRect">
            <a:avLst>
              <a:gd name="adj" fmla="val 14545"/>
            </a:avLst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914400" y="598932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delete protection: </a:t>
            </a:r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deletes with a specific version ID are </a:t>
            </a:r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replicated. Prevents an attacker wiping both source and destination.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 •  AWS Data Engineering for the AI Era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8991295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Amazon S3  |  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0"/>
            <a:ext cx="12191695" cy="7315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OF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283464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914400" y="4343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Console → everything we just learned, on Arjun's bucket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5120640"/>
            <a:ext cx="274320" cy="2743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5120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80160" y="5074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bucket  →  swiggy-demo-&lt;your-initials&gt;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5413248"/>
            <a:ext cx="274320" cy="2743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5413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80160" y="53675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file  →  inspect key, metadata, tags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5705856"/>
            <a:ext cx="274320" cy="2743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5705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80160" y="5660136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versioning  →  upload v2, then delete, then restore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5998464"/>
            <a:ext cx="274320" cy="2743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998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80160" y="595274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bucket policy  →  test public access (blocked by BPA)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6291072"/>
            <a:ext cx="274320" cy="2743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6291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80160" y="624535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SRR  →  watch replication in action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8229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RECAP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locked down today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8308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574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96596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= object storage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45920" y="237744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 hold objects; keys aren't folders; 11 9s durability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355080" y="178308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5740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96596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mental model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269480" y="237744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ADLS Gen2 ≈ S3; containers ≈ buckets; access tier ≈ storage class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31520" y="338328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65760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45920" y="356616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secure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645920" y="397764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policies, bucket policies, ACLs (avoid); BPA on top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355080" y="338328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657600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269480" y="356616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is your time machine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7269480" y="397764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marker = logical delete; restorable via version ID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731520" y="498348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5257800"/>
            <a:ext cx="502920" cy="5029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645920" y="516636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for DR &amp; compliance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1645920" y="557784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CRR cross-region; SRR same-region; needs versioning + IAM role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6355080" y="498348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5257800"/>
            <a:ext cx="502920" cy="5029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269480" y="516636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Cross-account = bucket policy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7269480" y="557784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can't grant across accounts alone — always pair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 •  AWS Data Engineering for the AI Era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8991295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Amazon S3  |  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8229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Day 2: Cost, Performance, Integration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83080"/>
            <a:ext cx="10728655" cy="1097280"/>
          </a:xfrm>
          <a:prstGeom prst="roundRect">
            <a:avLst>
              <a:gd name="adj" fmla="val 8333"/>
            </a:avLst>
          </a:prstGeom>
          <a:solidFill>
            <a:srgbClr val="232F3E"/>
          </a:solidFill>
          <a:ln/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78308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Arjun's data is now safe. Next problem: it's growing 10TB/month.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he keep the AWS bill sane, make uploads fast, and wire S3 into the rest of the pipeline?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1089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3108960"/>
            <a:ext cx="3611880" cy="73152"/>
          </a:xfrm>
          <a:prstGeom prst="rect">
            <a:avLst/>
          </a:prstGeom>
          <a:solidFill>
            <a:srgbClr val="FF9900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383280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54480" y="3337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classes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60120" y="39319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Standard, IA, Glacier tiers — when to use each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26280" y="31089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26280" y="3108960"/>
            <a:ext cx="3611880" cy="73152"/>
          </a:xfrm>
          <a:prstGeom prst="rect">
            <a:avLst/>
          </a:prstGeom>
          <a:solidFill>
            <a:srgbClr val="FF9900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3383280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49240" y="3337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rules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754880" y="39319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Auto-move objects by age — real Arjun scenarios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8321040" y="31089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21040" y="3108960"/>
            <a:ext cx="3611880" cy="73152"/>
          </a:xfrm>
          <a:prstGeom prst="rect">
            <a:avLst/>
          </a:prstGeom>
          <a:solidFill>
            <a:srgbClr val="FF9900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3383280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144000" y="3337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8549640" y="39319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SSE-S3, SSE-KMS, SSE-C, client-side — pick right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731520" y="47091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31520" y="4709160"/>
            <a:ext cx="3611880" cy="73152"/>
          </a:xfrm>
          <a:prstGeom prst="rect">
            <a:avLst/>
          </a:prstGeom>
          <a:solidFill>
            <a:srgbClr val="FF9900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983480"/>
            <a:ext cx="411480" cy="4114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554480" y="49377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960120" y="55321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Multipart upload, Transfer Accel, byte-range fetches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4526280" y="47091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526280" y="4709160"/>
            <a:ext cx="3611880" cy="73152"/>
          </a:xfrm>
          <a:prstGeom prst="rect">
            <a:avLst/>
          </a:prstGeom>
          <a:solidFill>
            <a:srgbClr val="FF9900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983480"/>
            <a:ext cx="411480" cy="41148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349240" y="49377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notifications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4754880" y="55321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→ Lambda/SQS/EventBridge (the DE trigger pattern)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8321040" y="47091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21040" y="4709160"/>
            <a:ext cx="3611880" cy="73152"/>
          </a:xfrm>
          <a:prstGeom prst="rect">
            <a:avLst/>
          </a:prstGeom>
          <a:solidFill>
            <a:srgbClr val="FF9900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0" y="4983480"/>
            <a:ext cx="411480" cy="41148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144000" y="49377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patterns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8549640" y="55321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Partitioning for Athena, Glue Crawlers prep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731520" y="6126480"/>
            <a:ext cx="10728655" cy="502920"/>
          </a:xfrm>
          <a:prstGeom prst="roundRect">
            <a:avLst>
              <a:gd name="adj" fmla="val 14545"/>
            </a:avLst>
          </a:prstGeom>
          <a:solidFill>
            <a:srgbClr val="FFF4E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914400" y="612648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Homework:  </a:t>
            </a:r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own bucket, upload 3 files, turn on versioning, write a bucket policy denying HTTP. Send screenshot on Slack.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 •  AWS Data Engineering for the AI Era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8991295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Amazon S3  |  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99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1448" y="137160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347472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8000" dirty="0"/>
          </a:p>
        </p:txBody>
      </p:sp>
      <p:sp>
        <p:nvSpPr>
          <p:cNvPr id="5" name="Text 2"/>
          <p:cNvSpPr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make sure nothing on buckets, security, or versioning is fuzzy.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Pvt Ltd  •  AWS Data Engineering for the AI Era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S3 Day 1 — Foundations, Security &amp; Resilience</dc:title>
  <dc:subject>PptxGenJS Presentation</dc:subject>
  <dc:creator>Keystone Edtech Pvt Ltd</dc:creator>
  <cp:lastModifiedBy>Keystone Edtech Pvt Ltd</cp:lastModifiedBy>
  <cp:revision>1</cp:revision>
  <dcterms:created xsi:type="dcterms:W3CDTF">2026-04-19T14:16:56Z</dcterms:created>
  <dcterms:modified xsi:type="dcterms:W3CDTF">2026-04-19T14:16:56Z</dcterms:modified>
</cp:coreProperties>
</file>