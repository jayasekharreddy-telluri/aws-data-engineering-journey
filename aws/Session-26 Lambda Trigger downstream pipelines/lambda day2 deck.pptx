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3200400" cy="1303020"/>
          </a:xfrm>
          <a:prstGeom prst="rect">
            <a:avLst/>
          </a:prstGeom>
          <a:solidFill>
            <a:srgbClr val="CC7A00"/>
          </a:solidFill>
          <a:ln w="12700">
            <a:solidFill>
              <a:srgbClr val="CC7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" y="8686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Robust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9144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 Engineering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AI Era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66160" y="1920240"/>
            <a:ext cx="54864" cy="32918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9202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Env Variables + Secrets Manager  (Day 1 gap)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2359152"/>
            <a:ext cx="54864" cy="32918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35915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Lambda Layers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2798064"/>
            <a:ext cx="54864" cy="32918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79806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Concurrency — Reserved &amp; Provisioned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3236976"/>
            <a:ext cx="54864" cy="32918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323697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Error Handling + Dead Letter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3675888"/>
            <a:ext cx="54864" cy="32918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6758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Triggering Downstream Pipelines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66160" y="4114800"/>
            <a:ext cx="54864" cy="32918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41148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Lightweight ETL — Full Bronze→Silver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4553712"/>
            <a:ext cx="54864" cy="32918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455371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Lambda Function Templates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Secrets Manager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gap — covered now  |  ~35 minutes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1554480" cy="155448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0876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— Separating Config from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2926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env vars for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names (TARGET_BUCKET)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933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job names (GLUE_JOB_NAME)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420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flags (ENVIRONMENT = dev/prod)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906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values, feature flags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114800" cy="292608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987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 use for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46304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201168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9933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256032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5420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10896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0906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tokens  →  use Secrets Manager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4041648"/>
            <a:ext cx="8595360" cy="502920"/>
          </a:xfrm>
          <a:prstGeom prst="rect">
            <a:avLst/>
          </a:prstGeom>
          <a:solidFill>
            <a:srgbClr val="EEF2F7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041648"/>
            <a:ext cx="54864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096512"/>
            <a:ext cx="8366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Console: Lambda → Configuration → Environment variables → Edit → Add variable → Save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Env Vars — Two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520440"/>
          </a:xfrm>
          <a:prstGeom prst="rect">
            <a:avLst/>
          </a:prstGeom>
          <a:solidFill>
            <a:srgbClr val="1E1E1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418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reading_env_vars.py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4828032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 1: Required — raises KeyError if missing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Fails at cold start = fail fast and loudly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TARGET_BUCKET = os.environ['TARGET_BUCKET']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GLUE_JOB_NAME = os.environ['GLUE_JOB_NAME']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 2: Optional — returns default if not 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= os.environ.get('ENVIRONMENT', 'dev')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LOG_LEVEL   = os.environ.get('LOG_LEVEL', 'INFO')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DRY_RUN     = os.environ.get('DRY_RUN','false').lower()=='true'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BOTH must be at global scope — outside the handler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Runs once on cold start, warm-cached afterwards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lambda_handler(event, context):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Use TARGET_BUCKET, GLUE_JOB_NAME here...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0" y="91440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914400"/>
            <a:ext cx="64008" cy="1051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os.environ['KEY']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23560" y="1298448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required variables. Raises KeyError on cold start if missing. Fail fast — better than failing mid-execution.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214884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2148840"/>
            <a:ext cx="64008" cy="1051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os.environ.get('KEY','default')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23560" y="2532888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optional variables with a safe fallback. Never raises. Use for LOG_LEVEL, feature flags.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333756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337560"/>
            <a:ext cx="64008" cy="105156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scope rule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23560" y="3721608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 env vars outside the handler. Reading inside re-runs on every invocation — no performance gain and harder to test.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— For Passwords &amp; API Keys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2971800"/>
          </a:xfrm>
          <a:prstGeom prst="rect">
            <a:avLst/>
          </a:prstGeom>
          <a:solidFill>
            <a:srgbClr val="1E1E1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418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secrets_manager_pattern.py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4828032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boto3, 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Init OUTSIDE handler — fetched once on cold start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= boto3.client('secretsmanager',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region_name='ap-south-1')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get_secret(name: str) -&gt; dict: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sm.get_secret_value(SecretId=name)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json.loads(resp['SecretString'])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Fetch once — reused on warm invocations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DB_CREDS = get_secret('swiggy/prod/rds-credentials')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lambda_handler(event, context):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 = DB_CREDS['host']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pwd  = DB_CREDS['password']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Connect using credentials...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3977640"/>
            <a:ext cx="8595360" cy="566928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977640"/>
            <a:ext cx="54864" cy="5669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23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→ AWS: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= AWS Secrets Manager. Same pattern: store → IAM access → fetch at runtime. AWS adds native RDS password rotation built-in.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914400"/>
            <a:ext cx="64008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inside handler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23560" y="1298448"/>
            <a:ext cx="3200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get_secret() inside the handler = network call every invocation. At 1M calls/day = $5/day just for secret fetching.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205740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2057400"/>
            <a:ext cx="64008" cy="9601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permission needed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23560" y="2441448"/>
            <a:ext cx="3200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needs secretsmanager:GetSecretValue on the specific secret ARN — not on all secrets.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310896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3108960"/>
            <a:ext cx="64008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format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23560" y="3493008"/>
            <a:ext cx="3200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as JSON: {host, username, password, port}. json.loads() on SecretString gives you a usable dict.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 — Config Storage Decision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219456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509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0" y="932688"/>
            <a:ext cx="1920240" cy="402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9509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932688"/>
            <a:ext cx="2286000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95097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 Store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932688"/>
            <a:ext cx="2560320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95097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219456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2646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values (passwords)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68880" y="1371600"/>
            <a:ext cx="1920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42646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371600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142646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SecureString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1371600"/>
            <a:ext cx="2560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142646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choice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1920240"/>
            <a:ext cx="219456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97510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 (bucket name)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468880" y="1920240"/>
            <a:ext cx="1920240" cy="530352"/>
          </a:xfrm>
          <a:prstGeom prst="rect">
            <a:avLst/>
          </a:prstGeom>
          <a:solidFill>
            <a:srgbClr val="F8F8F8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197510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choice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1920240"/>
            <a:ext cx="2286000" cy="530352"/>
          </a:xfrm>
          <a:prstGeom prst="rect">
            <a:avLst/>
          </a:prstGeom>
          <a:solidFill>
            <a:srgbClr val="F8F8F8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197510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1920240"/>
            <a:ext cx="2560320" cy="530352"/>
          </a:xfrm>
          <a:prstGeom prst="rect">
            <a:avLst/>
          </a:prstGeom>
          <a:solidFill>
            <a:srgbClr val="F8F8F8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197510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+ cost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468880"/>
            <a:ext cx="219456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52374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needed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468880" y="2468880"/>
            <a:ext cx="1920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52374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2468880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252374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2468880"/>
            <a:ext cx="2560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252374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 for RDS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017520"/>
            <a:ext cx="219456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07238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468880" y="3017520"/>
            <a:ext cx="1920240" cy="530352"/>
          </a:xfrm>
          <a:prstGeom prst="rect">
            <a:avLst/>
          </a:prstGeom>
          <a:solidFill>
            <a:srgbClr val="F8F8F8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07238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0" y="3017520"/>
            <a:ext cx="2286000" cy="530352"/>
          </a:xfrm>
          <a:prstGeom prst="rect">
            <a:avLst/>
          </a:prstGeom>
          <a:solidFill>
            <a:srgbClr val="F8F8F8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62272" y="307238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CloudTrail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75120" y="3017520"/>
            <a:ext cx="2560320" cy="530352"/>
          </a:xfrm>
          <a:prstGeom prst="rect">
            <a:avLst/>
          </a:prstGeom>
          <a:solidFill>
            <a:srgbClr val="F8F8F8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48272" y="307238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CloudTrail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566160"/>
            <a:ext cx="219456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62102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size limit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468880" y="3566160"/>
            <a:ext cx="1920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62102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(total)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89120" y="3566160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62272" y="362102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75120" y="3566160"/>
            <a:ext cx="2560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362102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4114800"/>
            <a:ext cx="219456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416966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468880" y="4114800"/>
            <a:ext cx="1920240" cy="530352"/>
          </a:xfrm>
          <a:prstGeom prst="rect">
            <a:avLst/>
          </a:prstGeom>
          <a:solidFill>
            <a:srgbClr val="F8F8F8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16966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389120" y="4114800"/>
            <a:ext cx="2286000" cy="530352"/>
          </a:xfrm>
          <a:prstGeom prst="rect">
            <a:avLst/>
          </a:prstGeom>
          <a:solidFill>
            <a:srgbClr val="F8F8F8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62272" y="416966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(Standard)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675120" y="4114800"/>
            <a:ext cx="2560320" cy="530352"/>
          </a:xfrm>
          <a:prstGeom prst="rect">
            <a:avLst/>
          </a:prstGeom>
          <a:solidFill>
            <a:srgbClr val="F8F8F8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48272" y="416966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$0.40/secret/month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Layers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minutes — includes live demo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1554480" cy="155448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0876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Layers — Solving the Dependency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Lambda's Python 3.12 runtime only includes boto3 and stdlib. import pandas → ModuleNotFoundError. Bundling pandas in the ZIP = 250 MB &gt; 50 MB limit.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64008" cy="1417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Layer 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2560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ZIP archive mounted at /opt before your function runs. Python packages in /opt/python/ are auto-added to sys.path.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737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737360"/>
            <a:ext cx="64008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828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Layers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91840" y="2121408"/>
            <a:ext cx="2560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can have up to 5 Layers. Total unzipped size (function + all Layers) must stay ≤ 250 MB.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737360"/>
            <a:ext cx="64008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828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functions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2200" y="2121408"/>
            <a:ext cx="2560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pandas once → attach to 10 functions. One update to the Layer version = update one place.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11880"/>
            <a:ext cx="274320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63016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AWS-managed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4048" y="397764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AWSSDKPandas-Python312 — free, AWS maintains it, includes pandas + pyarrow + boto3 extensions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54680" y="36118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3611880"/>
            <a:ext cx="2743200" cy="3108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363016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64408" y="397764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build: pip install → /python/ folder → ZIP → upload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35040" y="36118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611880"/>
            <a:ext cx="2743200" cy="31089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63016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44768" y="397764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ARNs (Datadog, Lumigo, etc.) — add monitoring/observability layers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LIVE DEMO — Build &amp; Attach pandas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Build Custom (Linux terminal / CloudShell)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5303520" cy="1828800"/>
          </a:xfrm>
          <a:prstGeom prst="rect">
            <a:avLst/>
          </a:prstGeom>
          <a:solidFill>
            <a:srgbClr val="1E1E1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71600"/>
            <a:ext cx="51023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swiggy-pandas-layer/python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--target swiggy-pandas-layer/python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--platform manylinux2014_x86_64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--python-version 3.12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--only-binary=:all: --upgrade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swiggy-pandas-layer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 -r ../swiggy-pandas-layer.zip python/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3182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AWS Managed Layer (Recommended ✅)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538728"/>
            <a:ext cx="5303520" cy="502920"/>
          </a:xfrm>
          <a:prstGeom prst="rect">
            <a:avLst/>
          </a:prstGeom>
          <a:solidFill>
            <a:srgbClr val="172D47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566160"/>
            <a:ext cx="5029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→ Add a layer → AWS layers → Search 'AWSSDKPandas' → Python 3.12 → Add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Steps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1298448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31673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12984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→ function → Code tab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1773936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79222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53328" y="17739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bottom → Layers section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249424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26771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53328" y="22494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'Add a layer'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724912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74320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53328" y="27249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AWS layers or Specify ARN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3200400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2186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53328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3675888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69417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53328" y="36758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import pandas as pd → Deploy → Test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8595360" cy="41148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187952"/>
            <a:ext cx="8321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Build on Linux x86_64, NOT Mac arm64. Layer built on Mac → 'Exec format error'. Use CloudShell (free browser terminal in AWS console).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&amp; Provisioned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minutes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1554480" cy="155448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0876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— Reserved vs Provisioned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EEF2F7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concurrency pool: 1,000 per region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389888"/>
            <a:ext cx="2468880" cy="640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1732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swiggy-menu-processor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50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389888"/>
            <a:ext cx="246888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41732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swiggy-payment-service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200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23560" y="1389888"/>
            <a:ext cx="2468880" cy="64008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96712" y="141732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functions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unreserved — shares 750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114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4114800" cy="4023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95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Concurrency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no extra cost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163824"/>
            <a:ext cx="164592" cy="16459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455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HARD ceiling + guaranteed floor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547872"/>
            <a:ext cx="164592" cy="16459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9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functions can't steal from your reserved pool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164592" cy="16459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13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to 0 disables the function (emergency kill)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315968"/>
            <a:ext cx="164592" cy="16459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97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starts still happen within the reserved limit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377440"/>
            <a:ext cx="4114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377440"/>
            <a:ext cx="4114800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395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Concurrency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per GB-hour even when idle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3163824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1455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Pre-warms environments — ZERO cold starts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5478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529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for strict SLA: &lt;100ms response needed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93192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913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published version or alias — not $LATEST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4315968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4297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Arjun's S3 ETL: probably doesn't need this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Dead Letter Queues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minutes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1554480" cy="155448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0876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Trigger — Retry Chain &amp; DLQ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005840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42416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1005840"/>
            <a:ext cx="1005840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042416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892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77640" y="1005840"/>
            <a:ext cx="1005840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042416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5780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2min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46520" y="1005840"/>
            <a:ext cx="1005840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042416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80960" y="1005840"/>
            <a:ext cx="100584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1042416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DROPPED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1920240"/>
            <a:ext cx="4114800" cy="196596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920240"/>
            <a:ext cx="4114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38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DLQ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2322576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failures: event is SILENTLY DROPPED.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never knows the restaurant menu update was lost.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alert. No record. No retry possible.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63440" y="1920240"/>
            <a:ext cx="4114800" cy="196596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920240"/>
            <a:ext cx="41148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938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DLQ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2322576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failures: event JSON lands in SQS DLQ.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gets a CloudWatch alarm.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inspect the event, fix the bug, replay it.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74320" y="4023360"/>
            <a:ext cx="8595360" cy="54864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023360"/>
            <a:ext cx="54864" cy="548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078224"/>
            <a:ext cx="8366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GOTCHA: </a:t>
            </a:r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only fires when Lambda throws an UNHANDLED exception. If you catch and swallow the error (no raise), Lambda sees it as success — nothing goes to DLQ.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DLQ Setup + Defensive Coding Pattern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200400"/>
          </a:xfrm>
          <a:prstGeom prst="rect">
            <a:avLst/>
          </a:prstGeom>
          <a:solidFill>
            <a:srgbClr val="1E1E1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24128"/>
            <a:ext cx="482803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lambda_handler(event, context):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record in event['Records']: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bucket = record['s3']['bucket']['name']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    = unquote_plus(record['s3']['object']['key'])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 = s3.get_object(Bucket=bucket, Key=key)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raw  = resp['Body'].read().decode('utf-8')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data = json.loads(raw)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except json.JSONDecodeError as 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PERMANENT — log, skip, don't raise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Retrying bad JSON will never fix 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logger.error(f'PERMANENT|{key}|{e}')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logger.info(f'SUCCESS|{key}')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Exception as 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TRANSIENT — re-raise → Lambda retries → DLQ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logger.error(f'TRANSIENT|{key}|{e}')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0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Setup 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1298448"/>
            <a:ext cx="3383280" cy="530352"/>
          </a:xfrm>
          <a:prstGeom prst="rect">
            <a:avLst/>
          </a:prstGeom>
          <a:solidFill>
            <a:srgbClr val="1B3A5C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32120" y="1389888"/>
            <a:ext cx="219456" cy="21945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4081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06440" y="13167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→ Create queue → Standard → Name: swiggy-menu-processor-dlq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1892808"/>
            <a:ext cx="3383280" cy="530352"/>
          </a:xfrm>
          <a:prstGeom prst="rect">
            <a:avLst/>
          </a:prstGeom>
          <a:solidFill>
            <a:srgbClr val="172D47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984248"/>
            <a:ext cx="219456" cy="21945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0025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191109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→ Configuration → Asynchronous invocation → Edit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0" y="2487168"/>
            <a:ext cx="3383280" cy="530352"/>
          </a:xfrm>
          <a:prstGeom prst="rect">
            <a:avLst/>
          </a:prstGeom>
          <a:solidFill>
            <a:srgbClr val="1B3A5C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2578608"/>
            <a:ext cx="219456" cy="21945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5968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250545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queue: SQS → select swiggy-menu-processor-dlq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0" y="3081528"/>
            <a:ext cx="3383280" cy="530352"/>
          </a:xfrm>
          <a:prstGeom prst="rect">
            <a:avLst/>
          </a:prstGeom>
          <a:solidFill>
            <a:srgbClr val="172D47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3172968"/>
            <a:ext cx="219456" cy="21945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1912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309981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attempts: 2  |  Max age: 6 hours → Save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0" y="3675888"/>
            <a:ext cx="3383280" cy="530352"/>
          </a:xfrm>
          <a:prstGeom prst="rect">
            <a:avLst/>
          </a:prstGeom>
          <a:solidFill>
            <a:srgbClr val="1B3A5C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3767328"/>
            <a:ext cx="219456" cy="21945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37856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369417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→ Add inline policy → SQS → SendMessage → DLQ ARN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8595360" cy="347472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33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Transient = raise (network, throttle). Permanent = log + continue (bad JSON, missing field). DLQ = safety net for transients only.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Downstream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 — Glue, Step Functions, SNS/SQS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1554480" cy="155448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0876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as Event Router — Not Just ETL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64592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07592"/>
            <a:ext cx="1554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Bronze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1280160"/>
            <a:ext cx="1645920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307592"/>
            <a:ext cx="1554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Router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06240" y="1280160"/>
            <a:ext cx="164592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1307592"/>
            <a:ext cx="1554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 Layer)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also triggers: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4160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651760"/>
            <a:ext cx="54864" cy="5669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706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Step Functions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2944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orchestration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337560"/>
            <a:ext cx="4160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337560"/>
            <a:ext cx="54864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SNS / SQS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630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or queue-based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4023360"/>
            <a:ext cx="4160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A5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4023360"/>
            <a:ext cx="54864" cy="566928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Another Lambda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43159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invoke or EventBridge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651760"/>
            <a:ext cx="4114800" cy="502920"/>
          </a:xfrm>
          <a:prstGeom prst="rect">
            <a:avLst/>
          </a:prstGeom>
          <a:solidFill>
            <a:srgbClr val="EEF2F7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651760"/>
            <a:ext cx="54864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706624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Lambda's role is often to REACT to an event and kick off the right next stage. It doesn't have to do all the heavy lifting itself.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— Lambda Triggering a Glue Job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291840"/>
          </a:xfrm>
          <a:prstGeom prst="rect">
            <a:avLst/>
          </a:prstGeom>
          <a:solidFill>
            <a:srgbClr val="1E1E1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418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lambda_triggers_glue.py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482803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boto3, os, logging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glue          = boto3.client('glue')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GLUE_JOB_NAME = os.environ['GLUE_JOB_NAME']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TARGET_BUCKET = os.environ['TARGET_BUCKET']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trigger_glue_job(source_key, request_id):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glue.start_job_run(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JobName   = GLUE_JOB_NAME,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Arguments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'--source_key':    source_key,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'--target_bucket': TARGET_BUCKET,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'--trigger_id':    request_id,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resp['JobRunId']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 after Silver write: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run_id = trigger_glue_job(key, context.aws_request_id)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logger.info(f'Glue started: {run_id}')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0" y="91440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914400"/>
            <a:ext cx="64008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and forget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23560" y="1298448"/>
            <a:ext cx="3200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start_job_run() returns IMMEDIATELY. Lambda doesn't wait for Glue to finish. Glue runs async — this is correct behaviour.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196596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965960"/>
            <a:ext cx="64008" cy="9601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057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JobRunId for tracing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23560" y="2350008"/>
            <a:ext cx="3200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log the JobRunId. You can track the Glue run in the Glue console using this ID.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301752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017520"/>
            <a:ext cx="64008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Arguments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23560" y="3401568"/>
            <a:ext cx="3200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context to Glue: source key, target bucket, Lambda request ID. Glue reads these as job parameters via getResolvedOptions().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406908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4069080"/>
            <a:ext cx="64008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needed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23560" y="4453128"/>
            <a:ext cx="3200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role needs glue:StartJobRun on the specific Glue job ARN.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— Step Functions  |  Pattern 3 — SNS / SQS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2084832"/>
          </a:xfrm>
          <a:prstGeom prst="rect">
            <a:avLst/>
          </a:prstGeom>
          <a:solidFill>
            <a:srgbClr val="1E1E1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25196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4183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→ Step Functions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40507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sfn = boto3.client('stepfunctions')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SM_ARN = os.environ['STATE_MACHINE_ARN']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trigger_sfn(payload: dict) -&gt; str: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input MUST be json.dumps(dict) — a string!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sfn.start_execution(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stateMachineArn = SM_ARN,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 = json.dumps(payload),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resp['executionArn']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251960" cy="2084832"/>
          </a:xfrm>
          <a:prstGeom prst="rect">
            <a:avLst/>
          </a:prstGeom>
          <a:solidFill>
            <a:srgbClr val="1E1E1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914400"/>
            <a:ext cx="425196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94183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→ SNS fan-out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27448" y="1207008"/>
            <a:ext cx="40507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 = boto3.client('sns')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SNS_ARN = os.environ['MENU_UPDATE_TOPIC_ARN']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publish_event(event_type, payload):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sns.publish(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TopicArn = SNS_ARN,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  = json.dumps(payload),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Subject  = event_type,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All SNS subscribers get this simultaneously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3090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411480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429000"/>
            <a:ext cx="54864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 → Gold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54680" y="34747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glue.start_job_run()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trigger, fire-and-forget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97096"/>
            <a:ext cx="411480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197096"/>
            <a:ext cx="54864" cy="69494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4242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Multi-step: Glue → DQ checks → notify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424281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sfn.start_execution()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branching + waits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3429000"/>
            <a:ext cx="411480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429000"/>
            <a:ext cx="54864" cy="6949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024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teams need same event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98080" y="34747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sns.publish()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64024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Fan-out: one publish, N subscribers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4197096"/>
            <a:ext cx="411480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4197096"/>
            <a:ext cx="54864" cy="6949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4242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slow consumer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98080" y="424281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sqs.send_message()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64024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events, consumer processes at own pace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626864"/>
            <a:ext cx="8595360" cy="54864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626864"/>
            <a:ext cx="54864" cy="548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681728"/>
            <a:ext cx="8366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GOTCHA: </a:t>
            </a:r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sfn.start_execution() input must be a JSON STRING not a dict. Always json.dumps(payload) — passing a dict throws TypeError.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Bronze→Silver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minutes — hands-on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1554480" cy="155448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0876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— Bronze → Silver → Gold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508760" cy="8046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Bronze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0" y="12984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051560"/>
            <a:ext cx="1508760" cy="804672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0789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57400" y="1645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20440" y="12984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03320" y="1051560"/>
            <a:ext cx="1508760" cy="804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0789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enrich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0" y="12984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94960" y="1051560"/>
            <a:ext cx="150876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0789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Silver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40680" y="1645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JSON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03720" y="12984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86600" y="1051560"/>
            <a:ext cx="1508760" cy="8046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10789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(async)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32320" y="1645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Parquet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2057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code — how each Day 2 topic appears: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74320" y="2395728"/>
            <a:ext cx="2057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395728"/>
            <a:ext cx="20574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41401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Read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7472" y="2816352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os.environ['TARGET_BUCKET'] (Topic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client at global scope (warm-cached)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" y="4096512"/>
            <a:ext cx="1911096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114800"/>
            <a:ext cx="1837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s3.get_object from Bronze bucket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68880" y="2395728"/>
            <a:ext cx="2057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395728"/>
            <a:ext cx="205740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241401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Validate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542032" y="2816352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check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 = VALID or PARTIAL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42032" y="4096512"/>
            <a:ext cx="1911096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78608" y="4114800"/>
            <a:ext cx="1837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missing fields list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2395728"/>
            <a:ext cx="2057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395728"/>
            <a:ext cx="20574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41401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Enrich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36592" y="2816352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 as pd (Topic 2 — Layer)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stats: min/max/avg via DataFrame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36592" y="4096512"/>
            <a:ext cx="1911096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4114800"/>
            <a:ext cx="1837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_metadata block added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58000" y="2395728"/>
            <a:ext cx="2057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0" y="2395728"/>
            <a:ext cx="20574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241401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Write + Trigger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931152" y="2816352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s3.put_object to Silver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glue.start_job_run() (Topic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with raise (Topic 4 — DLQ)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31152" y="4096512"/>
            <a:ext cx="1911096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4114800"/>
            <a:ext cx="1837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Bronze→Silver→Gold chain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Deploy &amp; Test the Full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34747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509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932688"/>
            <a:ext cx="8211312" cy="347472"/>
          </a:xfrm>
          <a:prstGeom prst="rect">
            <a:avLst/>
          </a:prstGeom>
          <a:solidFill>
            <a:srgbClr val="1B3A5C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Create Silver bucket: swiggy-silver-menu-YOURNAME  (same region as Lambda)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34747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081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389888"/>
            <a:ext cx="8211312" cy="347472"/>
          </a:xfrm>
          <a:prstGeom prst="rect">
            <a:avLst/>
          </a:prstGeom>
          <a:solidFill>
            <a:srgbClr val="172D47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4081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→ env vars → Add: TARGET_BUCKET = swiggy-silver-menu-YOURNAME  |  GLUE_JOB_NAME = swiggy-menu-transform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34747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653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1847088"/>
            <a:ext cx="8211312" cy="347472"/>
          </a:xfrm>
          <a:prstGeom prst="rect">
            <a:avLst/>
          </a:prstGeom>
          <a:solidFill>
            <a:srgbClr val="1B3A5C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8653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execution role → Add: s3:PutObject on Silver bucket ARN + glue:StartJobRun on Glue job ARN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34747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225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2304288"/>
            <a:ext cx="8211312" cy="347472"/>
          </a:xfrm>
          <a:prstGeom prst="rect">
            <a:avLst/>
          </a:prstGeom>
          <a:solidFill>
            <a:srgbClr val="172D47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3225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full ETL handler code → verify pandas Layer is attached → click Deploy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34747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7797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2761488"/>
            <a:ext cx="8211312" cy="347472"/>
          </a:xfrm>
          <a:prstGeom prst="rect">
            <a:avLst/>
          </a:prstGeom>
          <a:solidFill>
            <a:srgbClr val="1B3A5C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7797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rest_4521_menu.json to Bronze bucket → restaurant_menus/ folder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218688"/>
            <a:ext cx="34747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2369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3218688"/>
            <a:ext cx="8211312" cy="347472"/>
          </a:xfrm>
          <a:prstGeom prst="rect">
            <a:avLst/>
          </a:prstGeom>
          <a:solidFill>
            <a:srgbClr val="172D47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236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logs: look for SILVER_WRITTEN and GLUE_TRIGGERED lines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34747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941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" y="3675888"/>
            <a:ext cx="8211312" cy="347472"/>
          </a:xfrm>
          <a:prstGeom prst="rect">
            <a:avLst/>
          </a:prstGeom>
          <a:solidFill>
            <a:srgbClr val="1B3A5C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6941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Silver bucket → processed/ folder → inspect file → verify _metadata + price_stats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133088"/>
            <a:ext cx="34747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1513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" y="4133088"/>
            <a:ext cx="8211312" cy="347472"/>
          </a:xfrm>
          <a:prstGeom prst="rect">
            <a:avLst/>
          </a:prstGeom>
          <a:solidFill>
            <a:srgbClr val="172D47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1513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 path: upload a file with {broken json} → CloudWatch shows PERMANENT | bad JSON (not in DLQ — handled)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4320" y="4590288"/>
            <a:ext cx="34747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6085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" y="4590288"/>
            <a:ext cx="8211312" cy="347472"/>
          </a:xfrm>
          <a:prstGeom prst="rect">
            <a:avLst/>
          </a:prstGeom>
          <a:solidFill>
            <a:srgbClr val="1B3A5C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6085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JSONDecodeError try/except → redeploy → upload bad file → check DLQ — event appears after 3 retries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minutes — reference +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1554480" cy="155448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0876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 Templates — Same Structure, Different Event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474720" cy="3474720"/>
          </a:xfrm>
          <a:prstGeom prst="rect">
            <a:avLst/>
          </a:prstGeom>
          <a:solidFill>
            <a:srgbClr val="EEF2F7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47472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7840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follows this structure: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os, logging, boto3, trigger-specific libs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965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setup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194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handler — runs once on cold start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328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514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clients + env vars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scope — warm-cached after first call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063240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291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validate, enrich, write, trigger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611880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301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611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lambda_handler(event, context)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3840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parse event, call helpers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422452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that changes between templates is how to parse the event object.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31920" y="960120"/>
            <a:ext cx="9144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31920" y="960120"/>
            <a:ext cx="9144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68496" y="9784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86784" y="1481328"/>
            <a:ext cx="8046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event['Records'][0]['s3']['bucket']['name']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event['Records'][0]['s3']['object']['key']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56048" y="960120"/>
            <a:ext cx="9144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56048" y="960120"/>
            <a:ext cx="91440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9784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10912" y="1481328"/>
            <a:ext cx="8046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json.loads(record['body'])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record['messageId']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80176" y="960120"/>
            <a:ext cx="9144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80176" y="960120"/>
            <a:ext cx="9144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6752" y="9784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1481328"/>
            <a:ext cx="8046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event['source']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event['detail-type']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event['detail']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04304" y="960120"/>
            <a:ext cx="9144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5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04304" y="960120"/>
            <a:ext cx="914400" cy="45720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9784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59168" y="1481328"/>
            <a:ext cx="8046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record['Sns']['Message']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record['Sns']['Subject']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28432" y="960120"/>
            <a:ext cx="9144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28432" y="960120"/>
            <a:ext cx="914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65008" y="9784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Starter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83296" y="1481328"/>
            <a:ext cx="8046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logger.info(json.dumps(event))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fire trigger → read CloudWatch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now you know the structure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663440"/>
            <a:ext cx="8595360" cy="502920"/>
          </a:xfrm>
          <a:prstGeom prst="rect">
            <a:avLst/>
          </a:prstGeom>
          <a:solidFill>
            <a:srgbClr val="EEF2F7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4663440"/>
            <a:ext cx="54864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4718304"/>
            <a:ext cx="8366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shortcut: Test tab → 'Template' dropdown → search 'S3' / 'SQS' / 'EventBridge' — AWS provides pre-filled valid event JSON for every major trigger.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 — Generic Starter (Most Useful Template)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3474720"/>
          </a:xfrm>
          <a:prstGeom prst="rect">
            <a:avLst/>
          </a:prstGeom>
          <a:solidFill>
            <a:srgbClr val="1E1E1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template_e_generic_starter.py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252728"/>
            <a:ext cx="482803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this when you're not sure of the event structure.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it, fire the real trigger, read CloudWatch.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os, logging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 = logging.getLogger()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logger.setLevel(logging.INFO)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lambda_handler(event, context):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Print full event — check CloudWatch logs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logger.info(json.dumps(event, indent=2, default=str))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logger.info(f'Function: {context.function_name}')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logger.info(f'Request:  {context.aws_request_id}')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logger.info(f'Remaining: {context.get_remaining_time_in_millis()} ms')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Replace with your logic once you know the structure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{'statusCode': 200, 'body': 'OK'}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deploy first, then parse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353312"/>
            <a:ext cx="3383280" cy="530352"/>
          </a:xfrm>
          <a:prstGeom prst="rect">
            <a:avLst/>
          </a:prstGeom>
          <a:solidFill>
            <a:srgbClr val="EEF2F7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41264" y="1426464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44475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33872" y="137160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Template E to Lambda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33872" y="158191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and click Deploy — 30 seconds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965960"/>
            <a:ext cx="3383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41264" y="2039112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205740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33872" y="198424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the real trigger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33872" y="219456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file, send a message, or use the console Test tab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2578608"/>
            <a:ext cx="3383280" cy="530352"/>
          </a:xfrm>
          <a:prstGeom prst="rect">
            <a:avLst/>
          </a:prstGeom>
          <a:solidFill>
            <a:srgbClr val="EEF2F7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2651760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1264" y="26700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33872" y="25968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CloudWatch logs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33872" y="280720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tab → View CloudWatch logs → latest stream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3191256"/>
            <a:ext cx="3383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41264" y="3264408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1264" y="328269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33872" y="320954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event JSON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33872" y="341985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logger.info prints exact structure AWS sent — copy 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3803904"/>
            <a:ext cx="3383280" cy="530352"/>
          </a:xfrm>
          <a:prstGeom prst="rect">
            <a:avLst/>
          </a:prstGeom>
          <a:solidFill>
            <a:srgbClr val="EEF2F7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41264" y="3877056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389534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33872" y="38221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 Test event template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33872" y="403250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Test tab → Save — now you have a real valid test event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4416552"/>
            <a:ext cx="3383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41264" y="4489704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41264" y="45079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33872" y="443484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return with real logic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833872" y="464515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handler against the real event structure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6908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habit eliminates 90% of 'why is my event parsing broken?' debugging sessions.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Execution Role — All Permissions Arjun Needs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29260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875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S3 Bronze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932688"/>
            <a:ext cx="3474720" cy="438912"/>
          </a:xfrm>
          <a:prstGeom prst="rect">
            <a:avLst/>
          </a:prstGeom>
          <a:solidFill>
            <a:srgbClr val="F0FAF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9875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s3:GetObject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75120" y="932688"/>
            <a:ext cx="2194560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10149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role → inline policy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4996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S3 Silver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444752"/>
            <a:ext cx="347472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996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s3:PutObject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0" y="1444752"/>
            <a:ext cx="2194560" cy="438912"/>
          </a:xfrm>
          <a:prstGeom prst="rect">
            <a:avLst/>
          </a:prstGeom>
          <a:solidFill>
            <a:srgbClr val="FFFDE7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5270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role → inline policy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956816"/>
            <a:ext cx="29260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011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Secrets Manager secret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1956816"/>
            <a:ext cx="3474720" cy="438912"/>
          </a:xfrm>
          <a:prstGeom prst="rect">
            <a:avLst/>
          </a:prstGeom>
          <a:solidFill>
            <a:srgbClr val="F0FAF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011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secretsmanager:GetSecretValue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1956816"/>
            <a:ext cx="2194560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20391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role → inline policy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Glue job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468880"/>
            <a:ext cx="347472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5237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glue:StartJobRun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75120" y="2468880"/>
            <a:ext cx="2194560" cy="438912"/>
          </a:xfrm>
          <a:prstGeom prst="rect">
            <a:avLst/>
          </a:prstGeom>
          <a:solidFill>
            <a:srgbClr val="FFFDE7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255117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role → inline policy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980944"/>
            <a:ext cx="29260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035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Step Functions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2980944"/>
            <a:ext cx="3474720" cy="438912"/>
          </a:xfrm>
          <a:prstGeom prst="rect">
            <a:avLst/>
          </a:prstGeom>
          <a:solidFill>
            <a:srgbClr val="F0FAF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0358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states:StartExecution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75120" y="2980944"/>
            <a:ext cx="2194560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48272" y="3063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role → inline policy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493008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3547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SNS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3493008"/>
            <a:ext cx="347472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5478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sns:Publish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675120" y="3493008"/>
            <a:ext cx="2194560" cy="438912"/>
          </a:xfrm>
          <a:prstGeom prst="rect">
            <a:avLst/>
          </a:prstGeom>
          <a:solidFill>
            <a:srgbClr val="FFFDE7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357530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role → inline policy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005072"/>
            <a:ext cx="29260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SQS (DLQ or queue)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0" y="4005072"/>
            <a:ext cx="3474720" cy="438912"/>
          </a:xfrm>
          <a:prstGeom prst="rect">
            <a:avLst/>
          </a:prstGeom>
          <a:solidFill>
            <a:srgbClr val="F0FAF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40599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sqs:SendMessage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675120" y="4005072"/>
            <a:ext cx="2194560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408736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role → inline policy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517136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4572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CloudWatch logs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0" y="4517136"/>
            <a:ext cx="347472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logs:CreateLogGroup + PutLogEvents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675120" y="4517136"/>
            <a:ext cx="219456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45994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Auto-included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841248"/>
            <a:ext cx="292608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0" y="841248"/>
            <a:ext cx="347472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841248"/>
            <a:ext cx="219456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Complete — Production-Grade Lambda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896112"/>
          </a:xfrm>
          <a:prstGeom prst="rect">
            <a:avLst/>
          </a:prstGeom>
          <a:solidFill>
            <a:srgbClr val="1B3A5C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6984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881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0332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+ Secrets Manager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30759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from code. os.environ for bucket names. Secrets Manager for passwords. Decision table: env var vs SSM vs Secrets Manager.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4160520" cy="896112"/>
          </a:xfrm>
          <a:prstGeom prst="rect">
            <a:avLst/>
          </a:prstGeom>
          <a:solidFill>
            <a:srgbClr val="1B3A5C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093976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1226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Layers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233172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dependencies. AWSSDKPandas managed layer. Build for Linux x86_64. Up to 5 layers per function.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08376"/>
            <a:ext cx="4160520" cy="896112"/>
          </a:xfrm>
          <a:prstGeom prst="rect">
            <a:avLst/>
          </a:prstGeom>
          <a:solidFill>
            <a:srgbClr val="1B3A5C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3118104"/>
            <a:ext cx="347472" cy="3474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1363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30815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4672" y="3355848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= hard ceiling + guaranteed floor. Provisioned = zero cold starts. Don't set to 0 accidentally.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32504"/>
            <a:ext cx="4160520" cy="896112"/>
          </a:xfrm>
          <a:prstGeom prst="rect">
            <a:avLst/>
          </a:prstGeom>
          <a:solidFill>
            <a:srgbClr val="1B3A5C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4142232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1605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41056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+ DLQ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" y="437997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= raise (retries → DLQ). Permanent = log + continue. DLQ needs sqs:SendMessage permission.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60520" cy="896112"/>
          </a:xfrm>
          <a:prstGeom prst="rect">
            <a:avLst/>
          </a:prstGeom>
          <a:solidFill>
            <a:srgbClr val="1B3A5C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106984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0881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85232" y="10332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Pipelines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5232" y="130759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glue.start_job_run() = fire and forget. sfn.start_execution() = orchestration. sns.publish() = fan-out.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984248"/>
            <a:ext cx="4160520" cy="896112"/>
          </a:xfrm>
          <a:prstGeom prst="rect">
            <a:avLst/>
          </a:prstGeom>
          <a:solidFill>
            <a:srgbClr val="1B3A5C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2093976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11226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85232" y="2057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Bronze→Silver ETL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85232" y="233172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Validate → Enrich (pandas) → Write Silver → Trigger Glue. All Topics 1–5 in one function.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910328"/>
            <a:ext cx="8595360" cy="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008376"/>
            <a:ext cx="8595360" cy="896112"/>
          </a:xfrm>
          <a:prstGeom prst="rect">
            <a:avLst/>
          </a:prstGeom>
          <a:solidFill>
            <a:srgbClr val="1B3A5C"/>
          </a:solidFill>
          <a:ln w="19050">
            <a:solidFill>
              <a:srgbClr val="2A50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3118104"/>
            <a:ext cx="347472" cy="347472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1363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85232" y="3081528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85232" y="3355848"/>
            <a:ext cx="8001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ready-to-copy templates (S3, SQS, EventBridge, SNS, Starter). Console event template dropdown. Deploy first, parse later.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AWS Lambda  |  Day 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Lambda Day 2</dc:title>
  <dc:subject>PptxGenJS Presentation</dc:subject>
  <dc:creator>PptxGenJS</dc:creator>
  <cp:lastModifiedBy>PptxGenJS</cp:lastModifiedBy>
  <cp:revision>1</cp:revision>
  <dcterms:created xsi:type="dcterms:W3CDTF">2026-05-15T00:04:49Z</dcterms:created>
  <dcterms:modified xsi:type="dcterms:W3CDTF">2026-05-15T00:04:49Z</dcterms:modified>
</cp:coreProperties>
</file>