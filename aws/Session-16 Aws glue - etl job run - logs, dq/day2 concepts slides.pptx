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 PVT LTD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1097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 Engineering for the AI Era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with PySpark + Data Quality (DQDL)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AWS Glue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251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Companion Deck  ·  120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made the data discoverable. Today we make it useful.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6858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+ Hands-On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+ why ETL (3 Athena demo queries)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 Jobs anatomy → Steps 1-2: create &amp; configure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DynamicFrame vs DataFrame → Step 3: paste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PySpark patterns → Step 4: walk script + add 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DQDL → Steps 5-7: run, watch logs, inspect DQ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8-9: catalog silver layer + validate in Athena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 Studio visual editor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ETL?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9319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Day 1, then meet the 3 problems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raw data hands you on Day 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·  WHY ETL?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wins — and Day 2's new questions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— what we shipped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Uploaded 4 raw CSVs to S3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 a Glue Crawler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Got 4 cataloged tables in swiggy_raw_db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Queried with Athena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could finally write SQL on raw S3 data — without loading into a database.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morning — manager's 3 asks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orders from the last 30 days, week by week."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the city revenue total off by ₹14,000? Finance is asking."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 some customers showing up with NO ID?"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runs the queries on raw data. They all break.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·  WHY ETL?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problems Athena can't solve on raw data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74320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Date math fails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 is STRING in the catalog.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CAST(order_date AS DATE) errors out — some rows have malformed values (future dates).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DATEDIFF, no EXTRACT, no real date math possible.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Negative amounts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orders have NEGATIVE total_amount values.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polluting averages and city revenue sums.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asks "where's the missing ₹14K?" — these rows are why.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80160"/>
            <a:ext cx="27432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Blank customer IDs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 orders have NULL or empty customer_id.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attributed to a customer.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"top customers", LTV, retention metrics.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·  WHY ETL?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ETL exists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103120"/>
          </a:xfrm>
          <a:prstGeom prst="rect">
            <a:avLst/>
          </a:prstGeom>
          <a:solidFill>
            <a:srgbClr val="24375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TAKEAWAY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 reality.  Silver is what we want.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is the code that bridges the two.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build that silver layer with a Glue PySpark ETL job — and use DQDL to catch every dirty row, every run.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3931920"/>
            <a:ext cx="1828800" cy="365760"/>
          </a:xfrm>
          <a:prstGeom prst="rect">
            <a:avLst/>
          </a:prstGeom>
          <a:solidFill>
            <a:srgbClr val="7B879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3931920"/>
            <a:ext cx="2743200" cy="365760"/>
          </a:xfrm>
          <a:prstGeom prst="rect">
            <a:avLst/>
          </a:prstGeom>
          <a:solidFill>
            <a:srgbClr val="4A4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(Day 3)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Jobs Anatomy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9319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types, DPUs, workers, Flex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model behind every Glue ETL.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GLUE JOBS ANATOMY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— the toolkit at a glance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we used Pillars 1 + 2 (Crawlers + Catalog). Today: Pillar 3 (ETL Jobs).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1965960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Crawlers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 schema from S3, RDS, JDBC sources.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the Catalog.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417320"/>
            <a:ext cx="1965960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Data Catalog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metadata store — DBs, tables, columns, partitions.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Athena, Redshift, EMR.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1965960" cy="731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ETL Jobs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Spark code that reads, transforms, writes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Scala, or Python.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417320"/>
            <a:ext cx="1965960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Workflows + Triggers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jobs and chain them into pipelines.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schedules, conditions.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Data Quality (used today inside Jobs), Studio, Notebooks, Connections, Streaming.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GLUE JOBS ANATOMY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Jobs section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open Glue → ETL Jobs, here are the 4 areas you'll touch in 120 minutes.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19659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Script editor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paste / write PySpark code.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Studio auto-generates the boilerplate.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417320"/>
            <a:ext cx="19659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Job details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config — workers, Glue version, IAM role, timeout.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parameters live here too.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19659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Run + monitor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CloudWatch logs as the cluster spins up and the script runs.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1965960" cy="28346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417320"/>
            <a:ext cx="19659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8191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Data 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run completes, inspect DQDL pass / fail per rule.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dramatic reveal.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a Glue Job actually works under the hood — types, workers, DPUs.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GLUE JOBS ANATOMY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Glue Job is your code + a serverless Spark cluster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workers. AWS provisions the cluster. You don't manage EC2.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(PySpark)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for ETL — what we use today, ~90% of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(Scala)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Spark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engine, Scala syntax — rare in DE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Streaming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Structured Streaming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from Kinesis / Kafka — Section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Shell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Python (no Spark)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jobs, API calls, &lt; 1 GB — 10× cheaper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 distributed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pipelines — niche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input &lt; 1 GB, no aggregations → Python Shell. Otherwise → PySpark.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GLUE JOBS ANATOMY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come in 5 sizes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DPU = 4 vCPU + 16 GB. You request workers — AWS provisions DPUs accordingly.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1097280"/>
                <a:gridCol w="4754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— most ETL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transforms, joins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aggregations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datasets, complex skew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G.025X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Streaming, light ETL — cheapest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G.1X × 2.  Production rule: start small, scale up only when CloudWatch tells you 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GLUE JOBS ANATOMY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levers — Flex execution + 5 ways to spend less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execution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 ~30 sec startup, full price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 10–15 min startup, ~30% cheaper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(uses spare AWS capacity)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Flex for: scheduled overnight ETL,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reports that don't need to start fast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 use Flex for: ad-hoc, debugging,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time-sensitive pipelines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levers, ranked by impact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Right-size workers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(most teams over-provision G.2X)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Use Flex for non-urgent batch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Switch small jobs to Python Shell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(10× cheaper than PySpark)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Job bookmarks — incremental loads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(Day 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Convert outputs to Parquet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194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DynamicFrame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DataFrame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931920" y="3611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Glue concept.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→ inefficient jobs.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 ·  DYNAMICFRAME vs DATAFRAME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breaks on the first dirty row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DataFrame has strict typing. One off-type value crashes the whole job.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13716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reading orders.csv from S3. 14,999 rows have a clean integer in customer_id.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ONE row, from a buggy upstream system, has the string "unknown" in that column.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DataFrame schema declares customer_id as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spark.read.csv("orders.csv", schema=...)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df.filter(col("city") == "Bangalore").show()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↳  py4j.protocol.Py4JJavaError: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Cannot cast string "unknown" to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❌  WHOLE JOB DIES on row 8,432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row → entire job fails.  Not a great property for raw S3 ingestion.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 ·  DYNAMICFRAME vs DATAFRAME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DynamicFrame: schema flexibility for messy data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can hold MULTIPLE types simultaneously. Glue tracks every type it has seen.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13716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841248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 — DynamicFrame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is treated as Choice&lt;int, string&gt;. Both rows survive the read.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then decide what to do: drop the strings, cast them to a default, or quarantine.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137160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0896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DynamicFrame — loose schema, no failure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dyf = glueContext.create_dynamic_frame.from_catalog(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database="swiggy_raw_db", table_name="orders")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dyf = ResolveChoice.apply(frame=dyf, choice="cast:int")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↳  ✓  All 15,000 rows survive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✓  String values dropped or cast to NULL — your choice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DynamicFrame is built for messy, real-world data ingestion.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 ·  DYNAMICFRAME vs DATAFRAME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where each one wins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30175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DataFrame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 DynamicFrame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typing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— one type per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— multiple types tolerated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via Choice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— from_catalog()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Partitioned 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One-line: write_dynamic_frame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/ aggregations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Rich, 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— convert to 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functions / UDFs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convert to 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(extra wrapping)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 ·  DYNAMICFRAME vs DATAFRAME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3-step pattern — convert at the boundaries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at the boundary. Write at the boundary. Do real work in DataFrame.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377440" cy="128016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237744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19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DynamicFrame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Catalog or S3)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tolerates messy schema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377440" cy="128016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554480"/>
            <a:ext cx="2377440" cy="731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719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 (.toDF())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withColumn,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aggregate, UDFs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377440" cy="128016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554480"/>
            <a:ext cx="237744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19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WRITE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DynamicFrame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(DynamicFrame.fromDF)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partitioned Parquet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918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raw_dyf  = glueContext.create_dynamic_frame.from_catalog(...)   # ① 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      = raw_dyf.toDF()                                          # → DataFrame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clean_df = df.filter(...).withColumn(...).dropDuplicates(...)     # ② TRANSFORM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out_dyf  = DynamicFrame.fromDF(clean_df, glueContext, "out")     # → DynamicFrame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glueContext.write_dynamic_frame.from_options(frame=out_dyf, ...)  # ③ WRITE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194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Patterns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9319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patterns you'll use 95% of the time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3 anti-patterns to avoid.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 ·  PYSPARK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Glue PySpark job starts with this 12-line boilerplate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memorize it. Glue Studio auto-generates it. But know what each piece does.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394960" cy="301752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awsglue.transforms import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awsglue.utils import getResolvedOptions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pyspark.context import SparkContext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awsglue.context import GlueContext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awsglue.job import Job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getResolvedOptions(sys.argv,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['JOB_NAME', 'source_db', 'target_path'])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= SparkContext()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glueContext = GlueContext(sc)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= glueContext.spark_session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= Job(glueContext)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job.init(args['JOB_NAME'], args)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your transformations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job.commit()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417320"/>
            <a:ext cx="2834640" cy="301752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417320"/>
            <a:ext cx="283464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81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piece does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getResolvedOptions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pulls in --source_db etc.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GlueContext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Glue's wrapper around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SparkContext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job.init()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enables bookmarks,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logging, metrics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job.commit()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required for bookmarks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 ·  PYSPARK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1 &amp; 2 — Read from Catalog + Cast/Clean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Read from the Catalog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109728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orders_dyf = glueContext.create_dynamic_frame.from_catalog(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database='swiggy_raw_db',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table_name='orders',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transformation_ctx='orders_source'   # required for bookmarks (Day 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Cast types and clean nulls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155448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pyspark.sql.functions import col, to_date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orders_dyf.toDF()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clean_df = (df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.filter(col('customer_id').isNotNull())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.filter(col('total_amount') &gt;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.withColumn('order_date', to_date(col('order_date'), 'yyyy-MM-dd'))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.dropDuplicates(['order_id']))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 ·  PYSPARK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3 &amp; 4 — Conditional updates + Joins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— Conditional column updates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12801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pyspark.sql.functions import when, lit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df.withColumn('delivery_time',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(col('status') == 'Delivered') &amp; (col('delivery_time') == 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lit(None)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).otherwise(col('delivery_time')))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— Joining tables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128016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8328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restaurants_df = restaurants_dyf.toDF().select('restaurant_id', 'city')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enriched_df = clean_df.join(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restaurants_df,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on='restaurant_id',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how='left')        # 'inner' for strict referential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 ·  PYSPARK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— Write Parquet, partitioned by city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394960" cy="237744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awsglue.dynamicframe import DynamicFrame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out_dyf = DynamicFrame.fromDF(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enriched_df, glueContext, "orders_silver")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glueContext.write_dynamic_frame.from_options(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frame=out_dyf,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connection_type='s3',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connection_options={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'path': 's3://bucket/silver/orders/',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'partitionKeys': ['city']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format='parquet',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transformation_ctx='orders_silver_write'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280160"/>
            <a:ext cx="283464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280160"/>
            <a:ext cx="28346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44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partition by 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folder per city: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city=Bangalore/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city=Mumbai/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…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Athena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city = 'Bangalore',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scans ONE folder only.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~87% reduction in scan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on our 8-city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partition by what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query by.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 ·  PYSPARK PATTERNS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— what NOT to 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74320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.count() in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df.count() &gt; 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df.show()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.count() / .show() forces full Spark execution.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100GB job, multiplies runtime 3-4×.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debugging.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Read same table twice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orders1 = from_catalog(...)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orders2 = from_catalog(...)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2nd read is wasteful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once, derive both.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better: combine into one job with a single split.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80160"/>
            <a:ext cx="274320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44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transformation_ctx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skip when learning.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job bookmarks (Day 3) WILL NOT WORK without it.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on every from_catalog and write_dynamic_frame.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 habit from Day 2.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9319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2194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DQDL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931920" y="3611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data quality rules,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your Glue job.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 ·  DATA QUALITY WITH DQDL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DQDL matters in 2026 — and how it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DQDL matters 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years ago: data quality in AWS was a pile of custom scripts.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DQDL is table-stakes. No senior DE ships a Glue job without rules embedded.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SIGNAL: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who list "Glue ETL" but don't mention DQDL signal outdated learning. Easy way to stand 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(5 steps)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Write a ruleset (DQDL syntax)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Drop EvaluateDataQuality into your job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(visual or code)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Spark evaluates each rule at runtime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Pass / fail streams to CloudWatch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+ Glue results 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Configure failure action: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continue, fail, or quarantine bad rows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 ·  DATA QUALITY WITH DQDL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rule types you'll use 95% of the time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asserts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 is in a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RowCount &gt; 15000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non-null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 "customer_id" &gt;=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 for Completeness &gt;=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IsComplete "order_id"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distinct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 "order_id" &gt;=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 for Uniqueness &gt;= 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IsUnique "order_id"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value matches a predicate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ColumnValues "amount"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length in a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ColumnLength "phone" =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ColumnDataType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type matches expectation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ColumnDataType "date" = "Date"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F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5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advanced: DatasetMatch, ReferentialIntegrity, CustomSql, ColumnExists, ColumnCount.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 ·  DATA QUALITY WITH DQDL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actions — and the production pattern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96012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(default)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runs to completion. Logs results.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23360" cy="96012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0280"/>
            <a:ext cx="4023360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job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rule failure = job exits with error.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023360" cy="118872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91840"/>
            <a:ext cx="40233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rows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rows split into a separate dataset. Clean rows keep flowing.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7373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rules by SEVERITY: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(Fail job):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IsUnique on PKs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IsComplete on FK columns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RowCount minimum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(Continue):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Completeness % thresholds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Value range checks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= pipeline stops. PagerDuty alert. No half-corrupt data downstream.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64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EDTECH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67512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  ·  DATA QUALITY WITH DQDL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ruleset — 5 of 7 will FAIL by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~144 dirty rows are baked into the dataset. DQDL surfaces every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5394960" cy="3017520"/>
          </a:xfrm>
          <a:prstGeom prst="rect">
            <a:avLst/>
          </a:prstGeom>
          <a:solidFill>
            <a:srgbClr val="0F1A2E"/>
          </a:solidFill>
          <a:ln w="6350">
            <a:solidFill>
              <a:srgbClr val="3A4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512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RowCount &gt; 15000,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Completeness "customer_id" &gt;= 1.0,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ColumnValues "total_amount" &gt; 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ColumnValues "order_date"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between "2024-01-01" and "2024-12-31",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Uniqueness "order_id" &gt;= 1.0,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ColumnValues "status"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["Delivered", "Cancelled", "Pending"],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ColumnLength "status" between 6 and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417320"/>
            <a:ext cx="2834640" cy="3017520"/>
          </a:xfrm>
          <a:prstGeom prst="rect">
            <a:avLst/>
          </a:prstGeom>
          <a:solidFill>
            <a:srgbClr val="243757"/>
          </a:solidFill>
          <a:ln w="9525">
            <a:solidFill>
              <a:srgbClr val="3A4F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417320"/>
            <a:ext cx="2834640" cy="7315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81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RowCount               PASS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Completeness          FAIL  (~39 nulls)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total_amount &gt; 0      FAIL  (~26)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order_date range      FAIL  (~25)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Uniqueness order_id   FAIL  (~26)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 in [...]        PASS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 length          PASS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Keystone Edtech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DE — Day 2 — Glue ETL + DQDL</dc:title>
  <dc:subject>PptxGenJS Presentation</dc:subject>
  <dc:creator>Keystone Edtech</dc:creator>
  <cp:lastModifiedBy>Keystone Edtech</cp:lastModifiedBy>
  <cp:revision>1</cp:revision>
  <dcterms:created xsi:type="dcterms:W3CDTF">2026-04-27T00:17:58Z</dcterms:created>
  <dcterms:modified xsi:type="dcterms:W3CDTF">2026-04-27T00:17:58Z</dcterms:modified>
</cp:coreProperties>
</file>