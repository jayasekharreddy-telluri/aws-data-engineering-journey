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project story: this is not just Glue code. It is an end-to-end AWS-native data engineering implementation with CI/CD, IaC, orchestration, DQ, and warehouse 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make students care about the domain. A brokerage platform has both slow-changing master data and fast-moving transaction data. That contrast is what makes the pipeline meaningful.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project contract. Every AWS service and script should map back to one of these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prepares students for the hands-on portion. Point out that this is not a notebook-only project. It has generator code, infra code, Glue jobs, orchestration JSON, SQL files, and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grain carefully. Students often confuse orders and trades. Orders are intent. Trades are executed portions. Holdings are snapshots. Settlements and fund movements are money-flow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the raw folder structure before running AWS. The S3 layout mirrors what the generated_data folder contains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snowflake schema: dimensions can branch into other dimensions. Then explain SCD2 with a simple customer address or risk-band change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actual project architecture image. Make students identify each layer verbally before going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clear that students create CodeBuild manually, then CodeBuild handles deployment and testing. This is the gateway into real project-style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synchronous Glue integration in Step Functions. This means the workflow waits for each Glue job to finish before moving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jobs in order. Do not jump into Redshift first. Make students understand S3 raw to S3 curated before warehouse 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DQ is not decoration. It tells business users whether warehouse outputs can be trusted. Also mention the current project publishes results but can be upgraded with strict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small example: customer C001 changes risk band from LOW to MEDIUM. The old row gets an end date and is_current=N. A new row is inserted with current flag 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the “why it exists” column. Students should not memorize services. They should map every service to a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infrastructure and operational services. Mention that IAM is the invisible glue for all AWS service-to-service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your demo itinerary. It prevents the class from getting lost inside AWS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builds credibility. Students should see the difference between a learning project and production hardening.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reminding students that this project teaches the system, not just syntax.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2296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Retail Brokerage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Engineering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208483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475"/>
                </a:solidFill>
              </a:rPr>
              <a:t>Project walkthrough deck for students before implementation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4944" y="2761488"/>
            <a:ext cx="713232" cy="310896"/>
          </a:xfrm>
          <a:prstGeom prst="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S3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2761488"/>
            <a:ext cx="804672" cy="310896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Glue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2761488"/>
            <a:ext cx="1600200" cy="310896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Step Functions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70248" y="2761488"/>
            <a:ext cx="205740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Redshift Serverless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43800" y="621792"/>
            <a:ext cx="3977640" cy="5257800"/>
          </a:xfrm>
          <a:prstGeom prst="roundRect">
            <a:avLst>
              <a:gd name="adj" fmla="val 1839"/>
            </a:avLst>
          </a:prstGeom>
          <a:solidFill>
            <a:srgbClr val="EEF2FF"/>
          </a:solidFill>
          <a:ln w="12700">
            <a:solidFill>
              <a:srgbClr val="D7DD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27264" y="932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Demo storyline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27264" y="1481328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75320" y="150876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6213E"/>
                </a:solidFill>
              </a:rPr>
              <a:t>Understand the brokerage domain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7827264" y="2194560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22199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6213E"/>
                </a:solidFill>
              </a:rPr>
              <a:t>Inspect source datasets and grains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7827264" y="2907792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93522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6213E"/>
                </a:solidFill>
              </a:rPr>
              <a:t>Read the AWS architecture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7827264" y="3621024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3648456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6213E"/>
                </a:solidFill>
              </a:rPr>
              <a:t>Trace the daily pipeline execution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827264" y="4334256"/>
            <a:ext cx="329184" cy="329184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436168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6213E"/>
                </a:solidFill>
              </a:rPr>
              <a:t>Map Redshift warehouse outcomes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694944" y="577900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5"/>
                </a:solidFill>
              </a:rPr>
              <a:t>Instructor cue: “By the end, students should know why every AWS service exists before touching the code.”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PROJECT STORY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context: a brokerage platform produces many daily events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67665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simulates a stock-broking company like a retail trading app. Every day, the platform emits master snapshots plus transactional activity that must become analytics-ready warehouse data.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261872" y="3154680"/>
            <a:ext cx="161848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822192" y="3154680"/>
            <a:ext cx="161848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46520" y="3154680"/>
            <a:ext cx="161848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070848" y="3154680"/>
            <a:ext cx="160934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2578608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DBEAFE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79192"/>
            <a:ext cx="12710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Customers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Accounts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578608"/>
            <a:ext cx="1234440" cy="1051560"/>
          </a:xfrm>
          <a:prstGeom prst="roundRect">
            <a:avLst>
              <a:gd name="adj" fmla="val 6087"/>
            </a:avLst>
          </a:prstGeom>
          <a:solidFill>
            <a:srgbClr val="FEF3C7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2679192"/>
            <a:ext cx="10881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Orders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2578608"/>
            <a:ext cx="1234440" cy="1051560"/>
          </a:xfrm>
          <a:prstGeom prst="roundRect">
            <a:avLst>
              <a:gd name="adj" fmla="val 6087"/>
            </a:avLst>
          </a:prstGeom>
          <a:solidFill>
            <a:srgbClr val="D1FAE5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2679192"/>
            <a:ext cx="10881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Trades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2578608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FDE68A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91272" y="2679192"/>
            <a:ext cx="12710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Settlements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Funds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314432" y="2578608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EDE9FE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7584" y="2679192"/>
            <a:ext cx="12710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Holdings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Analytics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34340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448970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213E"/>
                </a:solidFill>
              </a:rPr>
              <a:t>Key business questions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50392" y="4828032"/>
            <a:ext cx="48371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• Daily gross trading volume and brokerage revenue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• Top traded instruments and sectors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• Current customers by risk band and KYC status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• Account segment changes over time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• Customer holdings value by day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263640" y="434340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448970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213E"/>
                </a:solidFill>
              </a:rPr>
              <a:t>Why this is a good student project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428232" y="4828032"/>
            <a:ext cx="48371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475"/>
                </a:solidFill>
              </a:rPr>
              <a:t>It combines domain modeling, batch ETL, data quality, workflow orchestration, infrastructure-as-code, CI/CD, and analytical warehouse design in one compact project.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REQUIREMENT 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requirements: what the solution must achieve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76656" y="138988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3619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563EB"/>
                </a:solidFill>
              </a:rPr>
              <a:t>Ingest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841248" y="187452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475"/>
                </a:solidFill>
              </a:rPr>
              <a:t>Read daily CSV files from raw S3 partitions by business date.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6327648" y="138988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3619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</a:rPr>
              <a:t>Validate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475"/>
                </a:solidFill>
              </a:rPr>
              <a:t>Run completeness, uniqueness, allowed-value, and numeric DQ checks.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676656" y="271576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86207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B981"/>
                </a:solidFill>
              </a:rPr>
              <a:t>Transform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41248" y="320040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475"/>
                </a:solidFill>
              </a:rPr>
              <a:t>Clean master and transaction datasets, calculate trade measures.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6327648" y="271576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86207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7C3AED"/>
                </a:solidFill>
              </a:rPr>
              <a:t>Orchestrate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475"/>
                </a:solidFill>
              </a:rPr>
              <a:t>Run jobs in the correct order with wait, catch, and notification paths.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676656" y="404164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18795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EF4444"/>
                </a:solidFill>
              </a:rPr>
              <a:t>Warehouse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452628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475"/>
                </a:solidFill>
              </a:rPr>
              <a:t>Load Redshift Serverless tables including SCD Type 2 dimensions.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6327648" y="404164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18795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213E"/>
                </a:solidFill>
              </a:rPr>
              <a:t>Automate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492240" y="452628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475"/>
                </a:solidFill>
              </a:rPr>
              <a:t>Deploy AWS resources and code through CodeBuild + CloudFormation.</a:t>
            </a:r>
            <a:endParaRPr lang="en-US" sz="1170" dirty="0"/>
          </a:p>
        </p:txBody>
      </p:sp>
      <p:sp>
        <p:nvSpPr>
          <p:cNvPr id="22" name="Shape 20"/>
          <p:cNvSpPr/>
          <p:nvPr/>
        </p:nvSpPr>
        <p:spPr>
          <a:xfrm>
            <a:off x="676656" y="5532120"/>
            <a:ext cx="10771632" cy="530352"/>
          </a:xfrm>
          <a:prstGeom prst="roundRect">
            <a:avLst>
              <a:gd name="adj" fmla="val 862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669280"/>
            <a:ext cx="10287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target: students should know the why before the how, then implement each layer step by step.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CODE TOUR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folder anatomy: where the implementation lives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577840" cy="4800600"/>
          </a:xfrm>
          <a:prstGeom prst="roundRect">
            <a:avLst>
              <a:gd name="adj" fmla="val 1143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81328"/>
            <a:ext cx="5120640" cy="4343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retail_brokerage_project/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generated_data/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raw/business_date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YYYY-MM-DD/*.csv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reference/advisors.csv, instruments.csv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infra/cloudformation/template.yaml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src/glue/jobs/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job_master_data.py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job_transaction_data.py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job_publish_dq.py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job_redshift_load.py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src/redshift/ddl + dml/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src/stepfunctions/state_machine.asl.json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tests/unit/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buildspec.yml</a:t>
            </a:r>
            <a:endParaRPr lang="en-US" sz="1110" dirty="0"/>
          </a:p>
        </p:txBody>
      </p:sp>
      <p:sp>
        <p:nvSpPr>
          <p:cNvPr id="6" name="Shape 4"/>
          <p:cNvSpPr/>
          <p:nvPr/>
        </p:nvSpPr>
        <p:spPr>
          <a:xfrm>
            <a:off x="6629400" y="1325880"/>
            <a:ext cx="4892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93992" y="1472184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213E"/>
                </a:solidFill>
              </a:rPr>
              <a:t>How students should read it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793992" y="1810512"/>
            <a:ext cx="45628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1. Start with README and diagrams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2. Inspect generated source files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3. Understand CloudFormation resources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4. Walk through Step Functions orchestration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5. Open each Glue job in execution order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5B6475"/>
                </a:solidFill>
              </a:rPr>
              <a:t>6. Finally read Redshift DDL/DML and unit tests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629400" y="3730752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3992" y="387705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B981"/>
                </a:solidFill>
              </a:rPr>
              <a:t>Local checks included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793992" y="4215384"/>
            <a:ext cx="45628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475"/>
                </a:solidFill>
              </a:rPr>
              <a:t>The repo contains unit tests for generator logic, Glue scripts, SQL builder pieces, and infrastructure template sanity checks. This gives students a production-style habit: test before deploy.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DATASETS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datasets: the raw material for the pipeline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2240280" cy="461356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870" dirty="0"/>
          </a:p>
        </p:txBody>
      </p:sp>
      <p:sp>
        <p:nvSpPr>
          <p:cNvPr id="5" name="Text 3"/>
          <p:cNvSpPr/>
          <p:nvPr/>
        </p:nvSpPr>
        <p:spPr>
          <a:xfrm>
            <a:off x="2834640" y="1234440"/>
            <a:ext cx="1920240" cy="461356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Grain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6812280" cy="461356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 pipeline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94360" y="1695796"/>
            <a:ext cx="224028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customers_snapshot.csv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2834640" y="1695796"/>
            <a:ext cx="192024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per day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754880" y="1695796"/>
            <a:ext cx="681228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dimension + SCD2 history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594360" y="2157153"/>
            <a:ext cx="224028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accounts_snapshot.csv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834640" y="2157153"/>
            <a:ext cx="192024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per day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4754880" y="2157153"/>
            <a:ext cx="681228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dimension + SCD2 history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594360" y="2618509"/>
            <a:ext cx="224028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advisors.csv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2834640" y="2618509"/>
            <a:ext cx="192024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 reference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754880" y="2618509"/>
            <a:ext cx="681228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 SCD2 dimension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594360" y="3079865"/>
            <a:ext cx="224028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instruments.csv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2834640" y="3079865"/>
            <a:ext cx="192024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 reference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4754880" y="3079865"/>
            <a:ext cx="681228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Instrument, company, sector, exchange dims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94360" y="3541222"/>
            <a:ext cx="224028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orders.csv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2834640" y="3541222"/>
            <a:ext cx="192024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event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754880" y="3541222"/>
            <a:ext cx="681228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fact_orders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94360" y="4002578"/>
            <a:ext cx="224028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trades.csv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2834640" y="4002578"/>
            <a:ext cx="192024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execution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4754880" y="4002578"/>
            <a:ext cx="681228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fact_trades + amount calculations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594360" y="4463935"/>
            <a:ext cx="224028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fund_movements.csv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2834640" y="4463935"/>
            <a:ext cx="192024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 movement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4754880" y="4463935"/>
            <a:ext cx="681228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fact_fund_movements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594360" y="4925291"/>
            <a:ext cx="224028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settlements.csv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2834640" y="4925291"/>
            <a:ext cx="192024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 event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4754880" y="4925291"/>
            <a:ext cx="681228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fact_settlements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594360" y="5386647"/>
            <a:ext cx="224028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market_prices.csv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2834640" y="5386647"/>
            <a:ext cx="192024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Instrument/day price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4754880" y="5386647"/>
            <a:ext cx="6812280" cy="46135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Holdings valuation support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594360" y="5848004"/>
            <a:ext cx="224028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holdings_snapshot.csv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2834640" y="5848004"/>
            <a:ext cx="192024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Account/instrument/day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4754880" y="5848004"/>
            <a:ext cx="6812280" cy="46135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fact_daily_holdings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DATA LAKE LAYER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data volume and raw S3 layout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58368" y="1261872"/>
            <a:ext cx="1371600" cy="400050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date</a:t>
            </a:r>
            <a:endParaRPr lang="en-US" sz="870" dirty="0"/>
          </a:p>
        </p:txBody>
      </p:sp>
      <p:sp>
        <p:nvSpPr>
          <p:cNvPr id="5" name="Text 3"/>
          <p:cNvSpPr/>
          <p:nvPr/>
        </p:nvSpPr>
        <p:spPr>
          <a:xfrm>
            <a:off x="2029968" y="1261872"/>
            <a:ext cx="777240" cy="400050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2807208" y="1261872"/>
            <a:ext cx="777240" cy="400050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3584448" y="1261872"/>
            <a:ext cx="777240" cy="400050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4361688" y="1261872"/>
            <a:ext cx="777240" cy="400050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Trades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138928" y="1261872"/>
            <a:ext cx="777240" cy="400050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Funds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5916168" y="1261872"/>
            <a:ext cx="777240" cy="400050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Holdings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58368" y="1661922"/>
            <a:ext cx="137160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2026-04-19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029968" y="16619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807208" y="16619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3584448" y="16619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3,501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361688" y="16619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2,102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5138928" y="16619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2,413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5916168" y="16619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1,034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658368" y="2061972"/>
            <a:ext cx="1371600" cy="40005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2029968" y="2061972"/>
            <a:ext cx="777240" cy="40005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2807208" y="2061972"/>
            <a:ext cx="777240" cy="40005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3584448" y="2061972"/>
            <a:ext cx="777240" cy="40005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3,501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4361688" y="2061972"/>
            <a:ext cx="777240" cy="40005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2,079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138928" y="2061972"/>
            <a:ext cx="777240" cy="40005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2,395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5916168" y="2061972"/>
            <a:ext cx="777240" cy="40005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990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58368" y="2462022"/>
            <a:ext cx="137160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2026-04-21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2029968" y="24620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2807208" y="24620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3584448" y="24620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3,501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4361688" y="24620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2,080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5138928" y="24620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2,391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5916168" y="2462022"/>
            <a:ext cx="777240" cy="40005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1,036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720840" y="1234440"/>
            <a:ext cx="4800600" cy="2926080"/>
          </a:xfrm>
          <a:prstGeom prst="roundRect">
            <a:avLst>
              <a:gd name="adj" fmla="val 1875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1554480"/>
            <a:ext cx="425196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s3://raw-bucket/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raw/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business_date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-04-19/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business_date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-04-20/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business_date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-04-21/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reference/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advisors.csv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instruments.csv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658368" y="4041648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18795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563EB"/>
                </a:solidFill>
              </a:rPr>
              <a:t>Why partition by business_date?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822960" y="4526280"/>
            <a:ext cx="51114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</a:rPr>
              <a:t>Glue can process one day at a time. Step Functions passes the date as a runtime argument, and the jobs read only that date’s folder instead of scanning everything.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46520" y="4498848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1112" y="464515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</a:rPr>
              <a:t>Reference data is separate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6611112" y="4983480"/>
            <a:ext cx="4745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</a:rPr>
              <a:t>Advisors and instruments behave more like lookup/master files, so they are stored under reference rather than daily raw partitions.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REDSHIFT LAYER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warehouse: snowflake-style brokerage data model</a:t>
            </a:r>
            <a:endParaRPr lang="en-US" sz="2550" dirty="0"/>
          </a:p>
        </p:txBody>
      </p:sp>
      <p:pic>
        <p:nvPicPr>
          <p:cNvPr id="4" name="Image 0" descr="/mnt/data/retail_brokerage_project_extracted/retail_brokerage_project/Data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7499" y="1143000"/>
            <a:ext cx="6451258" cy="5166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23960" y="1170432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88552" y="131673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563EB"/>
                </a:solidFill>
              </a:rPr>
              <a:t>Dimensions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8988552" y="1655064"/>
            <a:ext cx="23682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B6475"/>
                </a:solidFill>
              </a:rPr>
              <a:t>Country → State → City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B6475"/>
                </a:solidFill>
              </a:rPr>
              <a:t>Sector → Company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B6475"/>
                </a:solidFill>
              </a:rPr>
              <a:t>Exchange → Instrument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B6475"/>
                </a:solidFill>
              </a:rPr>
              <a:t>Date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B6475"/>
                </a:solidFill>
              </a:rPr>
              <a:t>Advisor SCD2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B6475"/>
                </a:solidFill>
              </a:rPr>
              <a:t>Customer SCD2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B6475"/>
                </a:solidFill>
              </a:rPr>
              <a:t>Account SCD2</a:t>
            </a:r>
            <a:endParaRPr lang="en-US" sz="1070" dirty="0"/>
          </a:p>
        </p:txBody>
      </p:sp>
      <p:sp>
        <p:nvSpPr>
          <p:cNvPr id="8" name="Shape 5"/>
          <p:cNvSpPr/>
          <p:nvPr/>
        </p:nvSpPr>
        <p:spPr>
          <a:xfrm>
            <a:off x="8823960" y="34290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88552" y="357530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B981"/>
                </a:solidFill>
              </a:rPr>
              <a:t>Fact tables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8988552" y="3913632"/>
            <a:ext cx="23682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Orders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Trades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Fund movements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Settlements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Daily holdings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8823960" y="5047488"/>
            <a:ext cx="2697480" cy="841248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88552" y="5193792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</a:rPr>
              <a:t>Interview-friendly feature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8988552" y="5532120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B6475"/>
                </a:solidFill>
              </a:rPr>
              <a:t>SCD Type 2 stores historical changes using start date, end date, and current flag.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architecture: deployment + daily execution in one view</a:t>
            </a:r>
            <a:endParaRPr lang="en-US" sz="2550" dirty="0"/>
          </a:p>
        </p:txBody>
      </p:sp>
      <p:pic>
        <p:nvPicPr>
          <p:cNvPr id="4" name="Image 0" descr="/mnt/data/retail_brokerage_project_extracted/retail_brokerage_project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35" y="1207008"/>
            <a:ext cx="7242130" cy="5166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216152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05672" y="136245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213E"/>
                </a:solidFill>
              </a:rPr>
              <a:t>Four architecture zones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8805672" y="1700784"/>
            <a:ext cx="25054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</a:rPr>
              <a:t>1. CI/CD deployment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</a:rPr>
              <a:t>2. Daily trigger and orchestration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</a:rPr>
              <a:t>3. Glue ETL job pipeline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</a:rPr>
              <a:t>4. S3 + Redshift storage layers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41080" y="3063240"/>
            <a:ext cx="2834640" cy="1307592"/>
          </a:xfrm>
          <a:prstGeom prst="roundRect">
            <a:avLst>
              <a:gd name="adj" fmla="val 5594"/>
            </a:avLst>
          </a:prstGeom>
          <a:solidFill>
            <a:srgbClr val="DBEAFE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05672" y="320954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563EB"/>
                </a:solidFill>
              </a:rPr>
              <a:t>The important idea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8805672" y="3547872"/>
            <a:ext cx="25054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CloudFormation creates the AWS skeleton. Step Functions drives the daily heartbeat. Glue does the heavy lifting. Redshift serves analytics.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8641080" y="46634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05672" y="480974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EF4444"/>
                </a:solidFill>
              </a:rPr>
              <a:t>No Lambda here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8805672" y="5148072"/>
            <a:ext cx="2505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5"/>
                </a:solidFill>
              </a:rPr>
              <a:t>This project is intentionally Glue + Step Functions based. Lambda is not part of the implementation.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CI/CD LAYER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flow: from code push to AWS resources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920240" y="2798064"/>
            <a:ext cx="8229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069080" y="2798064"/>
            <a:ext cx="8229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263640" y="2798064"/>
            <a:ext cx="8229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49640" y="2798064"/>
            <a:ext cx="8229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33172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DBEAFE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432304"/>
            <a:ext cx="127101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main branch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212848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EDE9FE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2313432"/>
            <a:ext cx="1453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7C3AED"/>
                </a:solidFill>
              </a:rPr>
              <a:t>CodeBuild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7C3AED"/>
                </a:solidFill>
              </a:rPr>
              <a:t>install + deploy + test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4892040" y="2212848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FEF3C7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313432"/>
            <a:ext cx="1453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CloudFormation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IaC stack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86600" y="2212848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D1FAE5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9752" y="2313432"/>
            <a:ext cx="1453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AWS resources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created/updated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72600" y="2212848"/>
            <a:ext cx="1417320" cy="1143000"/>
          </a:xfrm>
          <a:prstGeom prst="roundRect">
            <a:avLst>
              <a:gd name="adj" fmla="val 5600"/>
            </a:avLst>
          </a:prstGeom>
          <a:solidFill>
            <a:srgbClr val="FEE2E2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5752" y="2313432"/>
            <a:ext cx="127101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S3 assets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uploaded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069080"/>
            <a:ext cx="5166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21538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7C3AED"/>
                </a:solidFill>
              </a:rPr>
              <a:t>CodeBuild tasks from buildspec.yml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41832" y="4553712"/>
            <a:ext cx="48371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• Install Python 3.11 dependencies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• Deploy CloudFormation stack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• Sync Glue scripts, SQL, raw data, and Step Functions assets to S3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• Run pytest unit tests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• Generate coverage reports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355080" y="4069080"/>
            <a:ext cx="5166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421538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</a:rPr>
              <a:t>CloudFormation creates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519672" y="4553712"/>
            <a:ext cx="48371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VPC, subnets, route table, security group, S3 buckets, IAM roles, Glue jobs, SNS, Step Functions, Scheduler, Redshift Serverless, Secrets Manager.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ORCHESTRATION LAYER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flow: how one business date is processed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691640" y="2423160"/>
            <a:ext cx="10058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069080" y="2423160"/>
            <a:ext cx="10058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46520" y="2423160"/>
            <a:ext cx="10058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823960" y="2423160"/>
            <a:ext cx="10058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1417320" cy="1143000"/>
          </a:xfrm>
          <a:prstGeom prst="roundRect">
            <a:avLst>
              <a:gd name="adj" fmla="val 5600"/>
            </a:avLst>
          </a:prstGeom>
          <a:solidFill>
            <a:srgbClr val="FEF3C7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975104"/>
            <a:ext cx="127101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59E0B"/>
                </a:solidFill>
              </a:rPr>
              <a:t>EventBridge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F59E0B"/>
                </a:solidFill>
              </a:rPr>
              <a:t>Scheduler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F59E0B"/>
                </a:solidFill>
              </a:rPr>
              <a:t>23:30 IST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2697480" y="187452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EDE9FE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975104"/>
            <a:ext cx="1453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C3AED"/>
                </a:solidFill>
              </a:rPr>
              <a:t>Step Functions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7C3AED"/>
                </a:solidFill>
              </a:rPr>
              <a:t>State Machine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074920" y="187452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DBEAFE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1975104"/>
            <a:ext cx="1453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Master 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Glue Job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187452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DBEAFE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25512" y="1975104"/>
            <a:ext cx="1453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Transaction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Glue Job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29800" y="187452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D1FAE5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2952" y="1975104"/>
            <a:ext cx="1453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B981"/>
                </a:solidFill>
              </a:rPr>
              <a:t>DQ + Load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10B981"/>
                </a:solidFill>
              </a:rPr>
              <a:t>Glue Jobs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76656" y="38862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03250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7C3AED"/>
                </a:solidFill>
              </a:rPr>
              <a:t>State machine logic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4370832"/>
            <a:ext cx="49743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• If business_date is passed, use it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• Else derive date from execution start time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• Run Glue jobs synchronously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• Wait 45 seconds before transaction job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• Catch any failure and route to SNS failure alert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355080" y="388620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403250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EF4444"/>
                </a:solidFill>
              </a:rPr>
              <a:t>Final notification path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519672" y="4370832"/>
            <a:ext cx="46542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</a:rPr>
              <a:t>After the Redshift load completes, Step Functions publishes success to SNS. If any job fails, the failure branch publishes the error context.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PROCESSING LAYER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Glue jobs: the ETL engine room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58368" y="1399032"/>
            <a:ext cx="384048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07008" y="1234440"/>
            <a:ext cx="10058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380744"/>
            <a:ext cx="9729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563EB"/>
                </a:solidFill>
              </a:rPr>
              <a:t>job_master_data.py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9729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Reads customer/account snapshots, runs DQ, writes curated master output.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58368" y="2514600"/>
            <a:ext cx="384048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07008" y="2350008"/>
            <a:ext cx="1005840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496312"/>
            <a:ext cx="9729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0B981"/>
                </a:solidFill>
              </a:rPr>
              <a:t>job_transaction_data.py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9729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Reads orders, trades, funds, settlements, prices, holdings; calculates trade amounts; writes curated transaction output.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58368" y="3630168"/>
            <a:ext cx="384048" cy="384048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07008" y="3465576"/>
            <a:ext cx="10058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611880"/>
            <a:ext cx="9729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59E0B"/>
                </a:solidFill>
              </a:rPr>
              <a:t>job_publish_dq.py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1371600" y="3950208"/>
            <a:ext cx="9729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Revalidates curated customer, account, order, trade outputs and publishes DQ summaries.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58368" y="4745736"/>
            <a:ext cx="384048" cy="384048"/>
          </a:xfrm>
          <a:prstGeom prst="rect">
            <a:avLst/>
          </a:prstGeom>
          <a:solidFill>
            <a:srgbClr val="EF4444"/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07008" y="4581144"/>
            <a:ext cx="1005840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727448"/>
            <a:ext cx="9729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EF4444"/>
                </a:solidFill>
              </a:rPr>
              <a:t>job_redshift_load.py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1371600" y="5065776"/>
            <a:ext cx="9729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Creates/loads Redshift schema, stages data, applies SCD2, inserts facts via Redshift Data API.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14400" y="5824728"/>
            <a:ext cx="10149840" cy="338328"/>
          </a:xfrm>
          <a:prstGeom prst="roundRect">
            <a:avLst>
              <a:gd name="adj" fmla="val 13514"/>
            </a:avLst>
          </a:prstGeom>
          <a:solidFill>
            <a:srgbClr val="EEF2FF"/>
          </a:solidFill>
          <a:ln w="12700">
            <a:solidFill>
              <a:srgbClr val="D7DD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916168"/>
            <a:ext cx="9692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hook: each Glue job has a single responsibility, so students can implement and test one job at a time.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DQ LAYER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checks: catch bad records before trusting analytics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1417320" cy="585216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930" dirty="0"/>
          </a:p>
        </p:txBody>
      </p:sp>
      <p:sp>
        <p:nvSpPr>
          <p:cNvPr id="5" name="Text 3"/>
          <p:cNvSpPr/>
          <p:nvPr/>
        </p:nvSpPr>
        <p:spPr>
          <a:xfrm>
            <a:off x="2075688" y="1325880"/>
            <a:ext cx="5257800" cy="585216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checks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658368" y="1911096"/>
            <a:ext cx="1417320" cy="58521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2075688" y="1911096"/>
            <a:ext cx="5257800" cy="58521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customer_id complete + unique, risk_band in LOW/MEDIUM/HIGH, KYC status valid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658368" y="2496312"/>
            <a:ext cx="1417320" cy="58521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2075688" y="2496312"/>
            <a:ext cx="5257800" cy="58521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account_id complete + unique, account_status ACTIVE/DORMANT, segment valid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58368" y="3081528"/>
            <a:ext cx="1417320" cy="58521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2075688" y="3081528"/>
            <a:ext cx="5257800" cy="585216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order_id complete + unique, status valid, quantity &gt; 0, limit_price &gt; 0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658368" y="3666744"/>
            <a:ext cx="1417320" cy="58521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2075688" y="3666744"/>
            <a:ext cx="5257800" cy="585216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trade_id complete + unique, executed quantity/price &gt; 0, trade amounts &gt; 0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26680" y="13258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1272" y="1472184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</a:rPr>
              <a:t>Where DQ is used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891272" y="1810512"/>
            <a:ext cx="32369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5B6475"/>
                </a:solidFill>
              </a:rPr>
              <a:t>• Inside master-data job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5B6475"/>
                </a:solidFill>
              </a:rPr>
              <a:t>• Inside transaction-data job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5B6475"/>
                </a:solidFill>
              </a:rPr>
              <a:t>• Again in publish-DQ job on curated outputs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5B6475"/>
                </a:solidFill>
              </a:rPr>
              <a:t>• Results are published for visibility through Glue/CloudWatch-style monitoring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7726680" y="3520440"/>
            <a:ext cx="3566160" cy="1216152"/>
          </a:xfrm>
          <a:prstGeom prst="roundRect">
            <a:avLst>
              <a:gd name="adj" fmla="val 6015"/>
            </a:avLst>
          </a:prstGeom>
          <a:solidFill>
            <a:srgbClr val="FEF3C7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1272" y="3666744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</a:rPr>
              <a:t>Teaching note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891272" y="4005072"/>
            <a:ext cx="3236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475"/>
                </a:solidFill>
              </a:rPr>
              <a:t>The generator injects controlled dirty records, so DQ has a real job to do. This makes the demo more believable than a perfectly clean toy dataset.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920240" y="5166360"/>
            <a:ext cx="800100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5312664"/>
            <a:ext cx="7671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EF4444"/>
                </a:solidFill>
              </a:rPr>
              <a:t>Production upgrade idea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2084832" y="5650992"/>
            <a:ext cx="76718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5B6475"/>
                </a:solidFill>
              </a:rPr>
              <a:t>Add a hard threshold gate: fail the workflow if critical DQ failures exceed an agreed limit.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WAREHOUSE LOAD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Redshift Serverless load: staging, dimensions, facts, SCD2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828800" y="2468880"/>
            <a:ext cx="10972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06240" y="2468880"/>
            <a:ext cx="10972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583680" y="2468880"/>
            <a:ext cx="10972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961120" y="2468880"/>
            <a:ext cx="10972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8368" y="1965960"/>
            <a:ext cx="1417320" cy="1005840"/>
          </a:xfrm>
          <a:prstGeom prst="roundRect">
            <a:avLst>
              <a:gd name="adj" fmla="val 6364"/>
            </a:avLst>
          </a:prstGeom>
          <a:solidFill>
            <a:srgbClr val="D1FAE5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66544"/>
            <a:ext cx="127101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Curated S3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CSV files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0" y="196596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FEE2E2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2066544"/>
            <a:ext cx="136245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EF4444"/>
                </a:solidFill>
              </a:rPr>
              <a:t>Redshift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EF4444"/>
                </a:solidFill>
              </a:rPr>
              <a:t>COPY staging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303520" y="196596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DBEAFE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2066544"/>
            <a:ext cx="136245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563EB"/>
                </a:solidFill>
              </a:rPr>
              <a:t>Load base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2563EB"/>
                </a:solidFill>
              </a:rPr>
              <a:t>dimensions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680960" y="196596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FEF3C7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2066544"/>
            <a:ext cx="136245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59E0B"/>
                </a:solidFill>
              </a:rPr>
              <a:t>Apply SCD2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59E0B"/>
                </a:solidFill>
              </a:rPr>
              <a:t>dimensions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10058400" y="1965960"/>
            <a:ext cx="1417320" cy="1005840"/>
          </a:xfrm>
          <a:prstGeom prst="roundRect">
            <a:avLst>
              <a:gd name="adj" fmla="val 6364"/>
            </a:avLst>
          </a:prstGeom>
          <a:solidFill>
            <a:srgbClr val="EDE9FE"/>
          </a:solidFill>
          <a:ln w="10160">
            <a:solidFill>
              <a:srgbClr val="B8C2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31552" y="2066544"/>
            <a:ext cx="127101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7C3AED"/>
                </a:solidFill>
              </a:rPr>
              <a:t>Insert fact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7C3AED"/>
                </a:solidFill>
              </a:rPr>
              <a:t>tables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58368" y="374904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953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</a:rPr>
              <a:t>SCD2 dimensions in this project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22960" y="423367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475"/>
                </a:solidFill>
              </a:rPr>
              <a:t>• dim_advisor_scd2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5B6475"/>
                </a:solidFill>
              </a:rPr>
              <a:t>• dim_customer_scd2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5B6475"/>
                </a:solidFill>
              </a:rPr>
              <a:t>• dim_account_scd2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4434840" y="374904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8953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563EB"/>
                </a:solidFill>
              </a:rPr>
              <a:t>SCD2 columns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599432" y="423367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475"/>
                </a:solidFill>
              </a:rPr>
              <a:t>record_start_date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5B6475"/>
                </a:solidFill>
              </a:rPr>
              <a:t>record_end_date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5B6475"/>
                </a:solidFill>
              </a:rPr>
              <a:t>is_current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202168" y="374904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389534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EF4444"/>
                </a:solidFill>
              </a:rPr>
              <a:t>Execution mechanism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366760" y="423367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475"/>
                </a:solidFill>
              </a:rPr>
              <a:t>Glue builds SQL and executes it through the Redshift Data API against Redshift Serverless.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1188720" y="5623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3E"/>
                </a:solidFill>
              </a:rPr>
              <a:t>SCD2 mental model: close old row → insert new row → keep only one current row for reporting.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SERVICE MAP 1/2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services used: where each one fits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874520" cy="724989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377440" y="1188720"/>
            <a:ext cx="3977640" cy="724989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used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6355080" y="1188720"/>
            <a:ext cx="5349240" cy="724989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exists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502920" y="1913709"/>
            <a:ext cx="1874520" cy="724989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S3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2377440" y="1913709"/>
            <a:ext cx="3977640" cy="724989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Raw, curated, reference, scripts, SQL artifacts, DQ summaries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355080" y="1913709"/>
            <a:ext cx="5349240" cy="724989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data lake and deployment storage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02920" y="2638697"/>
            <a:ext cx="1874520" cy="724989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Glue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377440" y="2638697"/>
            <a:ext cx="3977640" cy="724989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PySpark jobs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355080" y="2638697"/>
            <a:ext cx="5349240" cy="724989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ETL processing and data quality evaluation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02920" y="3363686"/>
            <a:ext cx="1874520" cy="724989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Glue Data Quality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377440" y="3363686"/>
            <a:ext cx="3977640" cy="724989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Master, transaction, and publish-DQ jobs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355080" y="3363686"/>
            <a:ext cx="5349240" cy="724989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Completeness, uniqueness, allowed values, numeric validation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4088674"/>
            <a:ext cx="1874520" cy="724989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Functions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377440" y="4088674"/>
            <a:ext cx="3977640" cy="724989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state machine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355080" y="4088674"/>
            <a:ext cx="5349240" cy="724989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dependency order, waits, catches errors, sends final path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02920" y="4813663"/>
            <a:ext cx="1874520" cy="724989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EventBridge Scheduler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377440" y="4813663"/>
            <a:ext cx="3977640" cy="724989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23:30 IST cron trigger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355080" y="4813663"/>
            <a:ext cx="5349240" cy="724989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the state machine automatically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02920" y="5538651"/>
            <a:ext cx="1874520" cy="724989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SNS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377440" y="5538651"/>
            <a:ext cx="3977640" cy="724989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Success/failure email topic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355080" y="5538651"/>
            <a:ext cx="5349240" cy="724989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Sends outcome alerts to subscribed users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SERVICE MAP 2/2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services used: deployment, security, warehouse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874520" cy="589280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2377440" y="1097280"/>
            <a:ext cx="3977640" cy="589280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used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6355080" y="1097280"/>
            <a:ext cx="5349240" cy="589280"/>
          </a:xfrm>
          <a:prstGeom prst="rect">
            <a:avLst/>
          </a:prstGeom>
          <a:solidFill>
            <a:srgbClr val="16213E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exists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502920" y="1686560"/>
            <a:ext cx="187452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Redshift Serverless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2377440" y="1686560"/>
            <a:ext cx="397764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brokerage_dw warehouse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355080" y="1686560"/>
            <a:ext cx="534924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Queryable analytics store without managing a provisioned cluster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502920" y="2275840"/>
            <a:ext cx="187452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Redshift Data API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2377440" y="2275840"/>
            <a:ext cx="397764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job_redshift_load.py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6355080" y="2275840"/>
            <a:ext cx="534924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SQL statements from Glue without a persistent JDBC connection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502920" y="2865120"/>
            <a:ext cx="187452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CloudFormation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2377440" y="2865120"/>
            <a:ext cx="397764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infra/cloudformation/template.yaml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355080" y="2865120"/>
            <a:ext cx="534924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repeatable AWS infrastructure as code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02920" y="3454400"/>
            <a:ext cx="187452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CodeBuild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2377440" y="3454400"/>
            <a:ext cx="397764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buildspec.yml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355080" y="3454400"/>
            <a:ext cx="534924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Deploys stack, syncs assets, runs tests and coverage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2920" y="4043680"/>
            <a:ext cx="187452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IAM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2377440" y="4043680"/>
            <a:ext cx="397764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Glue, Step Functions, Scheduler, Redshift COPY roles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6355080" y="4043680"/>
            <a:ext cx="534924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service execution and S3/Redshift access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02920" y="4632960"/>
            <a:ext cx="187452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Manager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2377440" y="4632960"/>
            <a:ext cx="397764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Redshift admin secret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6355080" y="4632960"/>
            <a:ext cx="534924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credentials outside source code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502920" y="5222240"/>
            <a:ext cx="187452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VPC / Subnets / SG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2377440" y="5222240"/>
            <a:ext cx="397764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Redshift Serverless network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355080" y="5222240"/>
            <a:ext cx="5349240" cy="589280"/>
          </a:xfrm>
          <a:prstGeom prst="rect">
            <a:avLst/>
          </a:prstGeom>
          <a:solidFill>
            <a:srgbClr val="FFFFFF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placement and access control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502920" y="5811520"/>
            <a:ext cx="187452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CloudWatch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2377440" y="5811520"/>
            <a:ext cx="397764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Glue logs + DQ visibility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355080" y="5811520"/>
            <a:ext cx="5349240" cy="589280"/>
          </a:xfrm>
          <a:prstGeom prst="rect">
            <a:avLst/>
          </a:prstGeom>
          <a:solidFill>
            <a:srgbClr val="F1F5F9"/>
          </a:solidFill>
          <a:ln w="4445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62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troubleshooting and metrics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IMPLEMENTATION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classroom demo sequence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502920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01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344168" y="119786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213E"/>
                </a:solidFill>
              </a:rPr>
              <a:t>Project orientation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1344168" y="14721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5"/>
                </a:solidFill>
              </a:rPr>
              <a:t>Open README, architecture, and data model.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263640" y="1280160"/>
            <a:ext cx="502920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02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22008" y="119786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213E"/>
                </a:solidFill>
              </a:rPr>
              <a:t>Local data inspection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6922008" y="14721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5"/>
                </a:solidFill>
              </a:rPr>
              <a:t>Check generated_data/raw and row counts by business_date.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85800" y="2487168"/>
            <a:ext cx="502920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03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44168" y="24048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213E"/>
                </a:solidFill>
              </a:rPr>
              <a:t>CodeBuild setup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1344168" y="26791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5"/>
                </a:solidFill>
              </a:rPr>
              <a:t>Create project, connect GitHub, configure env variables.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263640" y="2487168"/>
            <a:ext cx="502920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04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22008" y="24048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213E"/>
                </a:solidFill>
              </a:rPr>
              <a:t>CloudFormation deploy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922008" y="26791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5"/>
                </a:solidFill>
              </a:rPr>
              <a:t>Run stack creation through CodeBuild.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85800" y="3694176"/>
            <a:ext cx="502920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05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44168" y="361188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213E"/>
                </a:solidFill>
              </a:rPr>
              <a:t>Validate AWS resources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1344168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5"/>
                </a:solidFill>
              </a:rPr>
              <a:t>Inspect S3, Glue jobs, IAM roles, Step Functions, Redshift.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263640" y="3694176"/>
            <a:ext cx="502920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06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22008" y="361188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213E"/>
                </a:solidFill>
              </a:rPr>
              <a:t>Manual state machine run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922008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5"/>
                </a:solidFill>
              </a:rPr>
              <a:t>Pass business_date and watch Glue jobs execute.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85800" y="4901184"/>
            <a:ext cx="502920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07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44168" y="4818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213E"/>
                </a:solidFill>
              </a:rPr>
              <a:t>Check outputs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1344168" y="5093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5"/>
                </a:solidFill>
              </a:rPr>
              <a:t>Open curated S3 paths and DQ summaries.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263640" y="4901184"/>
            <a:ext cx="502920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08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22008" y="4818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213E"/>
                </a:solidFill>
              </a:rPr>
              <a:t>Query Redshift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6922008" y="5093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5"/>
                </a:solidFill>
              </a:rPr>
              <a:t>Run analytics SQL and verify dimensions/facts.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14400" y="5788152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5934456"/>
            <a:ext cx="10003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Best teaching rhythm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78992" y="6272784"/>
            <a:ext cx="10003536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</a:rPr>
              <a:t>First explain the layer, then show the file, then execute, then verify the AWS output. Repeat until students can predict the next service before it appears.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REALITY CHECK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observations before implementation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08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EF4444"/>
                </a:solidFill>
              </a:rPr>
              <a:t>Serverless Redshift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804672" y="1746504"/>
            <a:ext cx="4745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B6475"/>
                </a:solidFill>
              </a:rPr>
              <a:t>Transcript may say cluster, but code uses Redshift Serverless namespace + workgroup.</a:t>
            </a:r>
            <a:endParaRPr lang="en-US" sz="1090" dirty="0"/>
          </a:p>
        </p:txBody>
      </p:sp>
      <p:sp>
        <p:nvSpPr>
          <p:cNvPr id="7" name="Shape 5"/>
          <p:cNvSpPr/>
          <p:nvPr/>
        </p:nvSpPr>
        <p:spPr>
          <a:xfrm>
            <a:off x="6236208" y="1261872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08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59E0B"/>
                </a:solidFill>
              </a:rPr>
              <a:t>CSV curated layer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400800" y="1746504"/>
            <a:ext cx="4745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B6475"/>
                </a:solidFill>
              </a:rPr>
              <a:t>Good for learning; production would usually prefer Parquet.</a:t>
            </a:r>
            <a:endParaRPr lang="en-US" sz="109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670048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7C3AED"/>
                </a:solidFill>
              </a:rPr>
              <a:t>DQ gate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04672" y="3008376"/>
            <a:ext cx="4745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B6475"/>
                </a:solidFill>
              </a:rPr>
              <a:t>DQ results are published. Add strict thresholds if you want fail-fast governance.</a:t>
            </a:r>
            <a:endParaRPr lang="en-US" sz="1090" dirty="0"/>
          </a:p>
        </p:txBody>
      </p:sp>
      <p:sp>
        <p:nvSpPr>
          <p:cNvPr id="13" name="Shape 11"/>
          <p:cNvSpPr/>
          <p:nvPr/>
        </p:nvSpPr>
        <p:spPr>
          <a:xfrm>
            <a:off x="6236208" y="2523744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670048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</a:rPr>
              <a:t>Fact keys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400800" y="3008376"/>
            <a:ext cx="4745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B6475"/>
                </a:solidFill>
              </a:rPr>
              <a:t>Model image shows surrogate keys; implemented facts mostly keep business IDs.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640080" y="3785616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93192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B981"/>
                </a:solidFill>
              </a:rPr>
              <a:t>Network posture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04672" y="4270248"/>
            <a:ext cx="4745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B6475"/>
                </a:solidFill>
              </a:rPr>
              <a:t>Demo setup is simplified. Production should avoid broad public ingress.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6236208" y="3785616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93192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213E"/>
                </a:solidFill>
              </a:rPr>
              <a:t>Reconciliation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400800" y="4270248"/>
            <a:ext cx="4745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B6475"/>
                </a:solidFill>
              </a:rPr>
              <a:t>Add raw vs curated vs Redshift row-count checks after load.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1005840" y="5623560"/>
            <a:ext cx="10149840" cy="475488"/>
          </a:xfrm>
          <a:prstGeom prst="roundRect">
            <a:avLst>
              <a:gd name="adj" fmla="val 9615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5751576"/>
            <a:ext cx="9692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these as improvement ideas, not blockers. The project is strong for teaching end-to-end AWS data engineering.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will learn by building this project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8745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0208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Architecture thinking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1832" y="2359152"/>
            <a:ext cx="2916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Map business requirements to AWS services.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4526280" y="18745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90872" y="20208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Data modeling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90872" y="2359152"/>
            <a:ext cx="2916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Design dimensions, facts, and SCD2 history.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8275320" y="18745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9912" y="20208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ETL engineering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39912" y="2359152"/>
            <a:ext cx="2916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Build Glue PySpark jobs with clear responsibilities.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52958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Orchestration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41832" y="3867912"/>
            <a:ext cx="2916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Use Step Functions for dependable job sequencing.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4526280" y="338328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352958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</a:rPr>
              <a:t>Quality &amp; testing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90872" y="3867912"/>
            <a:ext cx="2916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Run DQ rules, unit tests, and coverage checks.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275320" y="338328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352958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</a:rPr>
              <a:t>Warehouse analytics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39912" y="3867912"/>
            <a:ext cx="2916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475"/>
                </a:solidFill>
              </a:rPr>
              <a:t>Load Redshift and answer brokerage business questions.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1143000" y="5440680"/>
            <a:ext cx="9921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563EB"/>
                </a:solidFill>
              </a:rPr>
              <a:t>From raw trading data to governed analytics, the pipeline becomes a small AWS data-platform universe students can actually touch.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Retail Brokerage Data Engineering Pipeline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75136" y="6446520"/>
            <a:ext cx="384048" cy="22860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Retail Brokerage Data Engineering Pipeline</dc:title>
  <dc:subject>AWS Retail Brokerage Data Engineering Project Demo Deck</dc:subject>
  <dc:creator>OpenAI</dc:creator>
  <cp:lastModifiedBy>OpenAI</cp:lastModifiedBy>
  <cp:revision>1</cp:revision>
  <dcterms:created xsi:type="dcterms:W3CDTF">2026-06-23T09:50:02Z</dcterms:created>
  <dcterms:modified xsi:type="dcterms:W3CDTF">2026-06-23T09:50:02Z</dcterms:modified>
</cp:coreProperties>
</file>