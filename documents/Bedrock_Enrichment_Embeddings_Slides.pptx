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two main Bedrock use cases in the pipeline: enrichment (Converse API) and embeddings (InvokeModel API). Emphasize these are fundamentally different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all 6 parts. Each part builds on the previous one. Emphasize that Parts 1-3 are conceptual foundations before any code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motivation slide. Ask students to try writing SQL for each question — they will quickly realize it is impossible without structured fields. This is the 'why' behind enrichment.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keyword search is brittle. Semantic search compares *meaning*, not words. This is the core value proposition of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start with math. Build the geometric intuition first. A vector is just coordinates. Two close vectors = two similar meanings. Ask students: 'If I moved cat A towards cat B in 1,536-dimensional space, what would that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fundamental. Students who don't understand it will put everything in one prompt and get inconsistent outputs. The analogy of employee instructions vs daily tasks is very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each layer by first showing what breaks without it. Layer 1 missing → prose output. Layer 2 missing → JSON sometimes fenced. Layer 4 missing → 20+ spurious categories. Run the class exercise showing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impactful slide for students building analytics pipelines. The SQL query at the bottom only works if categories are consistent. Without allowed values, GROUP BY produces 20+ categories for 9 real issue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experiment live in class. Students are always shocked when they see temperature 1.0 producing different issue_category for the same ticket. This makes the concept visceral.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exercise material. Have students run 20+ tickets without the fence-stripping code and count the JSONDecodeErrors. Then add the fix. The failure rate varies by model version — that unpredictability is itself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is fixed-length output. No matter how long or short the text, you always get 1,536 numbers back. This enables mathematical comparison. Ask students why a database of vectors is queryable in ways a database of text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derive the formula — just explain what it measures: the angle between two vectors. Small angle (similar direction) → high similarity. Right angle (perpendicular) → 0. Opposite direction → -1. Have students interpret similarity scores before writing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architectural insight students most often miss. Run the numbers live — show actual similarity scores for raw vs enriched. The difference is dramatic and makes the pipeline design obvious in retrospect.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coming from the enrichment Lambda frequently try to use converse() for embeddings. Show both API signatures side-by-side and drill the differences. The system prompt absence is particularly important — there is no concept of 'instructing' an embedding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Averaging Problem to motivate chunking. Then show the three strategies. Emphasize that for the pipeline's support tickets, no chunking is needed — this prevents over-engineering.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hands-on time: ~95 minutes. Exercises 1 and 2 cover enrichment; 3 and 4 cover embeddings; 5 covers chunking. Can be split across two sessions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exercise is the most valuable one in the whole session. Students build understanding through failure. Do NOT give them the final system prompt — make them discover each layer by experiencing what breaks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exercise ties everything together. Students implement the exact logic used by the ticket_similarity Lambda. The moment they see TKT-001 and TKT-003 (both delivery delays) rank highest while DAMAGED_ITEM ranks lowest — the whole embedding concept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debugging checklist in class. When students hit a bug, run through this list first. Many of these mistakes compound each other — e.g., high temperature + no allowed values = catastrophically inconsistent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exercises as a reference card. Students should be able to answer any question on the right column by the end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Point to the next session: building the actual Lambda functions. Students who've done all 5 exercises should feel confident writing those functions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png"/><Relationship Id="rId16" Type="http://schemas.openxmlformats.org/officeDocument/2006/relationships/image" Target="../media/image-19-16.png"/><Relationship Id="rId17" Type="http://schemas.openxmlformats.org/officeDocument/2006/relationships/slideLayout" Target="../slideLayouts/slideLayout1.xml"/><Relationship Id="rId1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72A"/>
          </a:solidFill>
          <a:ln w="12700">
            <a:solidFill>
              <a:srgbClr val="0F172A"/>
            </a:solidFill>
            <a:prstDash val="solid"/>
          </a:ln>
        </p:spPr>
      </p:sp>
      <p:sp>
        <p:nvSpPr>
          <p:cNvPr id="3" name="Shape 1"/>
          <p:cNvSpPr/>
          <p:nvPr/>
        </p:nvSpPr>
        <p:spPr>
          <a:xfrm>
            <a:off x="6217920" y="-1097280"/>
            <a:ext cx="4572000" cy="4572000"/>
          </a:xfrm>
          <a:prstGeom prst="ellipse">
            <a:avLst/>
          </a:prstGeom>
          <a:solidFill>
            <a:srgbClr val="0891B2">
              <a:alpha val="15000"/>
            </a:srgbClr>
          </a:solidFill>
          <a:ln w="12700">
            <a:solidFill>
              <a:srgbClr val="0891B2">
                <a:alpha val="15000"/>
              </a:srgbClr>
            </a:solidFill>
            <a:prstDash val="solid"/>
          </a:ln>
        </p:spPr>
      </p:sp>
      <p:sp>
        <p:nvSpPr>
          <p:cNvPr id="4" name="Shape 2"/>
          <p:cNvSpPr/>
          <p:nvPr/>
        </p:nvSpPr>
        <p:spPr>
          <a:xfrm>
            <a:off x="6858000" y="2011680"/>
            <a:ext cx="2743200" cy="2743200"/>
          </a:xfrm>
          <a:prstGeom prst="ellipse">
            <a:avLst/>
          </a:prstGeom>
          <a:solidFill>
            <a:srgbClr val="2563EB">
              <a:alpha val="12000"/>
            </a:srgbClr>
          </a:solidFill>
          <a:ln w="12700">
            <a:solidFill>
              <a:srgbClr val="2563EB">
                <a:alpha val="12000"/>
              </a:srgbClr>
            </a:solidFill>
            <a:prstDash val="solid"/>
          </a:ln>
        </p:spPr>
      </p:sp>
      <p:sp>
        <p:nvSpPr>
          <p:cNvPr id="5" name="Text 3"/>
          <p:cNvSpPr/>
          <p:nvPr/>
        </p:nvSpPr>
        <p:spPr>
          <a:xfrm>
            <a:off x="548640" y="1005840"/>
            <a:ext cx="6858000" cy="82296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Bedrock Enrichment</a:t>
            </a:r>
            <a:endParaRPr lang="en-US" sz="4600" dirty="0"/>
          </a:p>
        </p:txBody>
      </p:sp>
      <p:sp>
        <p:nvSpPr>
          <p:cNvPr id="6" name="Text 4"/>
          <p:cNvSpPr/>
          <p:nvPr/>
        </p:nvSpPr>
        <p:spPr>
          <a:xfrm>
            <a:off x="548640" y="1783080"/>
            <a:ext cx="6858000" cy="822960"/>
          </a:xfrm>
          <a:prstGeom prst="rect">
            <a:avLst/>
          </a:prstGeom>
          <a:noFill/>
          <a:ln/>
        </p:spPr>
        <p:txBody>
          <a:bodyPr wrap="square" rtlCol="0" anchor="ctr"/>
          <a:lstStyle/>
          <a:p>
            <a:pPr indent="0" marL="0">
              <a:buNone/>
            </a:pPr>
            <a:r>
              <a:rPr lang="en-US" sz="4600" b="1" dirty="0">
                <a:solidFill>
                  <a:srgbClr val="06B6D4"/>
                </a:solidFill>
                <a:latin typeface="Calibri" pitchFamily="34" charset="0"/>
                <a:ea typeface="Calibri" pitchFamily="34" charset="-122"/>
                <a:cs typeface="Calibri" pitchFamily="34" charset="-120"/>
              </a:rPr>
              <a:t>&amp; Embeddings</a:t>
            </a:r>
            <a:endParaRPr lang="en-US" sz="4600" dirty="0"/>
          </a:p>
        </p:txBody>
      </p:sp>
      <p:sp>
        <p:nvSpPr>
          <p:cNvPr id="7" name="Text 5"/>
          <p:cNvSpPr/>
          <p:nvPr/>
        </p:nvSpPr>
        <p:spPr>
          <a:xfrm>
            <a:off x="548640" y="2697480"/>
            <a:ext cx="7315200" cy="411480"/>
          </a:xfrm>
          <a:prstGeom prst="rect">
            <a:avLst/>
          </a:prstGeom>
          <a:noFill/>
          <a:ln/>
        </p:spPr>
        <p:txBody>
          <a:bodyPr wrap="square" rtlCol="0" anchor="ctr"/>
          <a:lstStyle/>
          <a:p>
            <a:pPr indent="0" marL="0">
              <a:buNone/>
            </a:pPr>
            <a:r>
              <a:rPr lang="en-US" sz="1500" i="1" dirty="0">
                <a:solidFill>
                  <a:srgbClr val="CBD5E1"/>
                </a:solidFill>
                <a:latin typeface="Calibri" pitchFamily="34" charset="0"/>
                <a:ea typeface="Calibri" pitchFamily="34" charset="-122"/>
                <a:cs typeface="Calibri" pitchFamily="34" charset="-120"/>
              </a:rPr>
              <a:t>Complete Teaching Guide — Concepts · Prompting · Hands-On Exercises</a:t>
            </a:r>
            <a:endParaRPr lang="en-US" sz="1500" dirty="0"/>
          </a:p>
        </p:txBody>
      </p:sp>
      <p:sp>
        <p:nvSpPr>
          <p:cNvPr id="8" name="Shape 6"/>
          <p:cNvSpPr/>
          <p:nvPr/>
        </p:nvSpPr>
        <p:spPr>
          <a:xfrm>
            <a:off x="548640" y="3291840"/>
            <a:ext cx="1737360" cy="320040"/>
          </a:xfrm>
          <a:prstGeom prst="roundRect">
            <a:avLst>
              <a:gd name="adj" fmla="val 22857"/>
            </a:avLst>
          </a:prstGeom>
          <a:solidFill>
            <a:srgbClr val="1E3A5F"/>
          </a:solidFill>
          <a:ln w="12700">
            <a:solidFill>
              <a:srgbClr val="0891B2"/>
            </a:solidFill>
            <a:prstDash val="solid"/>
          </a:ln>
        </p:spPr>
      </p:sp>
      <p:sp>
        <p:nvSpPr>
          <p:cNvPr id="9" name="Text 7"/>
          <p:cNvSpPr/>
          <p:nvPr/>
        </p:nvSpPr>
        <p:spPr>
          <a:xfrm>
            <a:off x="548640" y="3291840"/>
            <a:ext cx="1737360" cy="320040"/>
          </a:xfrm>
          <a:prstGeom prst="rect">
            <a:avLst/>
          </a:prstGeom>
          <a:noFill/>
          <a:ln/>
        </p:spPr>
        <p:txBody>
          <a:bodyPr wrap="square" lIns="0" tIns="0" rIns="0" bIns="0" rtlCol="0" anchor="ctr"/>
          <a:lstStyle/>
          <a:p>
            <a:pPr algn="ctr" indent="0" marL="0">
              <a:buNone/>
            </a:pPr>
            <a:r>
              <a:rPr lang="en-US" sz="1100" b="1" dirty="0">
                <a:solidFill>
                  <a:srgbClr val="06B6D4"/>
                </a:solidFill>
                <a:latin typeface="Calibri" pitchFamily="34" charset="0"/>
                <a:ea typeface="Calibri" pitchFamily="34" charset="-122"/>
                <a:cs typeface="Calibri" pitchFamily="34" charset="-120"/>
              </a:rPr>
              <a:t>Amazon Bedrock</a:t>
            </a:r>
            <a:endParaRPr lang="en-US" sz="1100" dirty="0"/>
          </a:p>
        </p:txBody>
      </p:sp>
      <p:sp>
        <p:nvSpPr>
          <p:cNvPr id="10" name="Shape 8"/>
          <p:cNvSpPr/>
          <p:nvPr/>
        </p:nvSpPr>
        <p:spPr>
          <a:xfrm>
            <a:off x="2423160" y="3291840"/>
            <a:ext cx="1737360" cy="320040"/>
          </a:xfrm>
          <a:prstGeom prst="roundRect">
            <a:avLst>
              <a:gd name="adj" fmla="val 22857"/>
            </a:avLst>
          </a:prstGeom>
          <a:solidFill>
            <a:srgbClr val="1E3A5F"/>
          </a:solidFill>
          <a:ln w="12700">
            <a:solidFill>
              <a:srgbClr val="0891B2"/>
            </a:solidFill>
            <a:prstDash val="solid"/>
          </a:ln>
        </p:spPr>
      </p:sp>
      <p:sp>
        <p:nvSpPr>
          <p:cNvPr id="11" name="Text 9"/>
          <p:cNvSpPr/>
          <p:nvPr/>
        </p:nvSpPr>
        <p:spPr>
          <a:xfrm>
            <a:off x="2423160" y="3291840"/>
            <a:ext cx="1737360" cy="320040"/>
          </a:xfrm>
          <a:prstGeom prst="rect">
            <a:avLst/>
          </a:prstGeom>
          <a:noFill/>
          <a:ln/>
        </p:spPr>
        <p:txBody>
          <a:bodyPr wrap="square" lIns="0" tIns="0" rIns="0" bIns="0" rtlCol="0" anchor="ctr"/>
          <a:lstStyle/>
          <a:p>
            <a:pPr algn="ctr" indent="0" marL="0">
              <a:buNone/>
            </a:pPr>
            <a:r>
              <a:rPr lang="en-US" sz="1100" b="1" dirty="0">
                <a:solidFill>
                  <a:srgbClr val="06B6D4"/>
                </a:solidFill>
                <a:latin typeface="Calibri" pitchFamily="34" charset="0"/>
                <a:ea typeface="Calibri" pitchFamily="34" charset="-122"/>
                <a:cs typeface="Calibri" pitchFamily="34" charset="-120"/>
              </a:rPr>
              <a:t>Titan Embeddings</a:t>
            </a:r>
            <a:endParaRPr lang="en-US" sz="1100" dirty="0"/>
          </a:p>
        </p:txBody>
      </p:sp>
      <p:sp>
        <p:nvSpPr>
          <p:cNvPr id="12" name="Shape 10"/>
          <p:cNvSpPr/>
          <p:nvPr/>
        </p:nvSpPr>
        <p:spPr>
          <a:xfrm>
            <a:off x="4462272" y="3291840"/>
            <a:ext cx="1737360" cy="320040"/>
          </a:xfrm>
          <a:prstGeom prst="roundRect">
            <a:avLst>
              <a:gd name="adj" fmla="val 22857"/>
            </a:avLst>
          </a:prstGeom>
          <a:solidFill>
            <a:srgbClr val="1E3A5F"/>
          </a:solidFill>
          <a:ln w="12700">
            <a:solidFill>
              <a:srgbClr val="0891B2"/>
            </a:solidFill>
            <a:prstDash val="solid"/>
          </a:ln>
        </p:spPr>
      </p:sp>
      <p:sp>
        <p:nvSpPr>
          <p:cNvPr id="13" name="Text 11"/>
          <p:cNvSpPr/>
          <p:nvPr/>
        </p:nvSpPr>
        <p:spPr>
          <a:xfrm>
            <a:off x="4462272" y="3291840"/>
            <a:ext cx="1737360" cy="320040"/>
          </a:xfrm>
          <a:prstGeom prst="rect">
            <a:avLst/>
          </a:prstGeom>
          <a:noFill/>
          <a:ln/>
        </p:spPr>
        <p:txBody>
          <a:bodyPr wrap="square" lIns="0" tIns="0" rIns="0" bIns="0" rtlCol="0" anchor="ctr"/>
          <a:lstStyle/>
          <a:p>
            <a:pPr algn="ctr" indent="0" marL="0">
              <a:buNone/>
            </a:pPr>
            <a:r>
              <a:rPr lang="en-US" sz="1100" b="1" dirty="0">
                <a:solidFill>
                  <a:srgbClr val="06B6D4"/>
                </a:solidFill>
                <a:latin typeface="Calibri" pitchFamily="34" charset="0"/>
                <a:ea typeface="Calibri" pitchFamily="34" charset="-122"/>
                <a:cs typeface="Calibri" pitchFamily="34" charset="-120"/>
              </a:rPr>
              <a:t>Nova Lite</a:t>
            </a:r>
            <a:endParaRPr lang="en-US" sz="1100" dirty="0"/>
          </a:p>
        </p:txBody>
      </p:sp>
      <p:sp>
        <p:nvSpPr>
          <p:cNvPr id="14" name="Text 12"/>
          <p:cNvSpPr/>
          <p:nvPr/>
        </p:nvSpPr>
        <p:spPr>
          <a:xfrm>
            <a:off x="548640" y="4663440"/>
            <a:ext cx="73152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AWS Data Pipeline Teaching Series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25603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We Will Cover Today</a:t>
            </a:r>
            <a:endParaRPr lang="en-US" sz="3000" dirty="0"/>
          </a:p>
        </p:txBody>
      </p:sp>
      <p:sp>
        <p:nvSpPr>
          <p:cNvPr id="3" name="Shape 1"/>
          <p:cNvSpPr/>
          <p:nvPr/>
        </p:nvSpPr>
        <p:spPr>
          <a:xfrm>
            <a:off x="411480" y="896112"/>
            <a:ext cx="8321040" cy="0"/>
          </a:xfrm>
          <a:prstGeom prst="line">
            <a:avLst/>
          </a:prstGeom>
          <a:noFill/>
          <a:ln w="15240">
            <a:solidFill>
              <a:srgbClr val="0891B2"/>
            </a:solidFill>
            <a:prstDash val="solid"/>
          </a:ln>
        </p:spPr>
      </p:sp>
      <p:sp>
        <p:nvSpPr>
          <p:cNvPr id="4" name="Shape 2"/>
          <p:cNvSpPr/>
          <p:nvPr/>
        </p:nvSpPr>
        <p:spPr>
          <a:xfrm>
            <a:off x="411480" y="1005840"/>
            <a:ext cx="2651760" cy="1600200"/>
          </a:xfrm>
          <a:prstGeom prst="roundRect">
            <a:avLst>
              <a:gd name="adj" fmla="val 685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5" name="Shape 3"/>
          <p:cNvSpPr/>
          <p:nvPr/>
        </p:nvSpPr>
        <p:spPr>
          <a:xfrm>
            <a:off x="548640" y="1143000"/>
            <a:ext cx="457200" cy="457200"/>
          </a:xfrm>
          <a:prstGeom prst="roundRect">
            <a:avLst>
              <a:gd name="adj" fmla="val 16000"/>
            </a:avLst>
          </a:prstGeom>
          <a:solidFill>
            <a:srgbClr val="0891B2"/>
          </a:solidFill>
          <a:ln w="12700">
            <a:solidFill>
              <a:srgbClr val="0891B2"/>
            </a:solidFill>
            <a:prstDash val="solid"/>
          </a:ln>
        </p:spPr>
      </p:sp>
      <p:pic>
        <p:nvPicPr>
          <p:cNvPr id="6" name="Image 0" descr="preencoded.png">    </p:cNvPr>
          <p:cNvPicPr>
            <a:picLocks noChangeAspect="1"/>
          </p:cNvPicPr>
          <p:nvPr/>
        </p:nvPicPr>
        <p:blipFill>
          <a:blip r:embed="rId1"/>
          <a:stretch>
            <a:fillRect/>
          </a:stretch>
        </p:blipFill>
        <p:spPr>
          <a:xfrm>
            <a:off x="612648" y="1207008"/>
            <a:ext cx="329184" cy="329184"/>
          </a:xfrm>
          <a:prstGeom prst="rect">
            <a:avLst/>
          </a:prstGeom>
        </p:spPr>
      </p:pic>
      <p:sp>
        <p:nvSpPr>
          <p:cNvPr id="7" name="Text 4"/>
          <p:cNvSpPr/>
          <p:nvPr/>
        </p:nvSpPr>
        <p:spPr>
          <a:xfrm>
            <a:off x="1097280" y="1143000"/>
            <a:ext cx="502920" cy="228600"/>
          </a:xfrm>
          <a:prstGeom prst="rect">
            <a:avLst/>
          </a:prstGeom>
          <a:noFill/>
          <a:ln/>
        </p:spPr>
        <p:txBody>
          <a:bodyPr wrap="square"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01</a:t>
            </a:r>
            <a:endParaRPr lang="en-US" sz="1100" dirty="0"/>
          </a:p>
        </p:txBody>
      </p:sp>
      <p:sp>
        <p:nvSpPr>
          <p:cNvPr id="8" name="Text 5"/>
          <p:cNvSpPr/>
          <p:nvPr/>
        </p:nvSpPr>
        <p:spPr>
          <a:xfrm>
            <a:off x="1097280" y="1353312"/>
            <a:ext cx="182880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Foundation</a:t>
            </a:r>
            <a:endParaRPr lang="en-US" sz="1300" dirty="0"/>
          </a:p>
        </p:txBody>
      </p:sp>
      <p:sp>
        <p:nvSpPr>
          <p:cNvPr id="9" name="Text 6"/>
          <p:cNvSpPr/>
          <p:nvPr/>
        </p:nvSpPr>
        <p:spPr>
          <a:xfrm>
            <a:off x="548640" y="1737360"/>
            <a:ext cx="2377440" cy="73152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Why SQL fails on free text · Semantic similarity · What is a vector</a:t>
            </a:r>
            <a:endParaRPr lang="en-US" sz="1050" dirty="0"/>
          </a:p>
        </p:txBody>
      </p:sp>
      <p:sp>
        <p:nvSpPr>
          <p:cNvPr id="10" name="Shape 7"/>
          <p:cNvSpPr/>
          <p:nvPr/>
        </p:nvSpPr>
        <p:spPr>
          <a:xfrm>
            <a:off x="3246120" y="1005840"/>
            <a:ext cx="2651760" cy="1600200"/>
          </a:xfrm>
          <a:prstGeom prst="roundRect">
            <a:avLst>
              <a:gd name="adj" fmla="val 685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1" name="Shape 8"/>
          <p:cNvSpPr/>
          <p:nvPr/>
        </p:nvSpPr>
        <p:spPr>
          <a:xfrm>
            <a:off x="3383280" y="1143000"/>
            <a:ext cx="457200" cy="457200"/>
          </a:xfrm>
          <a:prstGeom prst="roundRect">
            <a:avLst>
              <a:gd name="adj" fmla="val 16000"/>
            </a:avLst>
          </a:prstGeom>
          <a:solidFill>
            <a:srgbClr val="2563EB"/>
          </a:solidFill>
          <a:ln w="12700">
            <a:solidFill>
              <a:srgbClr val="2563EB"/>
            </a:solidFill>
            <a:prstDash val="solid"/>
          </a:ln>
        </p:spPr>
      </p:sp>
      <p:pic>
        <p:nvPicPr>
          <p:cNvPr id="12" name="Image 1" descr="preencoded.png">    </p:cNvPr>
          <p:cNvPicPr>
            <a:picLocks noChangeAspect="1"/>
          </p:cNvPicPr>
          <p:nvPr/>
        </p:nvPicPr>
        <p:blipFill>
          <a:blip r:embed="rId2"/>
          <a:stretch>
            <a:fillRect/>
          </a:stretch>
        </p:blipFill>
        <p:spPr>
          <a:xfrm>
            <a:off x="3447288" y="1207008"/>
            <a:ext cx="329184" cy="329184"/>
          </a:xfrm>
          <a:prstGeom prst="rect">
            <a:avLst/>
          </a:prstGeom>
        </p:spPr>
      </p:pic>
      <p:sp>
        <p:nvSpPr>
          <p:cNvPr id="13" name="Text 9"/>
          <p:cNvSpPr/>
          <p:nvPr/>
        </p:nvSpPr>
        <p:spPr>
          <a:xfrm>
            <a:off x="3931920" y="1143000"/>
            <a:ext cx="502920" cy="228600"/>
          </a:xfrm>
          <a:prstGeom prst="rect">
            <a:avLst/>
          </a:prstGeom>
          <a:noFill/>
          <a:ln/>
        </p:spPr>
        <p:txBody>
          <a:bodyPr wrap="square"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02</a:t>
            </a:r>
            <a:endParaRPr lang="en-US" sz="1100" dirty="0"/>
          </a:p>
        </p:txBody>
      </p:sp>
      <p:sp>
        <p:nvSpPr>
          <p:cNvPr id="14" name="Text 10"/>
          <p:cNvSpPr/>
          <p:nvPr/>
        </p:nvSpPr>
        <p:spPr>
          <a:xfrm>
            <a:off x="3931920" y="1353312"/>
            <a:ext cx="182880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Enrichment Prompting</a:t>
            </a:r>
            <a:endParaRPr lang="en-US" sz="1300" dirty="0"/>
          </a:p>
        </p:txBody>
      </p:sp>
      <p:sp>
        <p:nvSpPr>
          <p:cNvPr id="15" name="Text 11"/>
          <p:cNvSpPr/>
          <p:nvPr/>
        </p:nvSpPr>
        <p:spPr>
          <a:xfrm>
            <a:off x="3383280" y="1737360"/>
            <a:ext cx="2377440" cy="73152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System vs user prompt · Building layers · Temperature · PII</a:t>
            </a:r>
            <a:endParaRPr lang="en-US" sz="1050" dirty="0"/>
          </a:p>
        </p:txBody>
      </p:sp>
      <p:sp>
        <p:nvSpPr>
          <p:cNvPr id="16" name="Shape 12"/>
          <p:cNvSpPr/>
          <p:nvPr/>
        </p:nvSpPr>
        <p:spPr>
          <a:xfrm>
            <a:off x="6080760" y="1005840"/>
            <a:ext cx="2651760" cy="1600200"/>
          </a:xfrm>
          <a:prstGeom prst="roundRect">
            <a:avLst>
              <a:gd name="adj" fmla="val 685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7" name="Shape 13"/>
          <p:cNvSpPr/>
          <p:nvPr/>
        </p:nvSpPr>
        <p:spPr>
          <a:xfrm>
            <a:off x="6217920" y="1143000"/>
            <a:ext cx="457200" cy="457200"/>
          </a:xfrm>
          <a:prstGeom prst="roundRect">
            <a:avLst>
              <a:gd name="adj" fmla="val 16000"/>
            </a:avLst>
          </a:prstGeom>
          <a:solidFill>
            <a:srgbClr val="10B981"/>
          </a:solidFill>
          <a:ln w="12700">
            <a:solidFill>
              <a:srgbClr val="10B981"/>
            </a:solidFill>
            <a:prstDash val="solid"/>
          </a:ln>
        </p:spPr>
      </p:sp>
      <p:pic>
        <p:nvPicPr>
          <p:cNvPr id="18" name="Image 2" descr="preencoded.png">    </p:cNvPr>
          <p:cNvPicPr>
            <a:picLocks noChangeAspect="1"/>
          </p:cNvPicPr>
          <p:nvPr/>
        </p:nvPicPr>
        <p:blipFill>
          <a:blip r:embed="rId3"/>
          <a:stretch>
            <a:fillRect/>
          </a:stretch>
        </p:blipFill>
        <p:spPr>
          <a:xfrm>
            <a:off x="6281928" y="1207008"/>
            <a:ext cx="329184" cy="329184"/>
          </a:xfrm>
          <a:prstGeom prst="rect">
            <a:avLst/>
          </a:prstGeom>
        </p:spPr>
      </p:pic>
      <p:sp>
        <p:nvSpPr>
          <p:cNvPr id="19" name="Text 14"/>
          <p:cNvSpPr/>
          <p:nvPr/>
        </p:nvSpPr>
        <p:spPr>
          <a:xfrm>
            <a:off x="6766560" y="1143000"/>
            <a:ext cx="502920" cy="228600"/>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03</a:t>
            </a:r>
            <a:endParaRPr lang="en-US" sz="1100" dirty="0"/>
          </a:p>
        </p:txBody>
      </p:sp>
      <p:sp>
        <p:nvSpPr>
          <p:cNvPr id="20" name="Text 15"/>
          <p:cNvSpPr/>
          <p:nvPr/>
        </p:nvSpPr>
        <p:spPr>
          <a:xfrm>
            <a:off x="6766560" y="1353312"/>
            <a:ext cx="182880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Embeddings</a:t>
            </a:r>
            <a:endParaRPr lang="en-US" sz="1300" dirty="0"/>
          </a:p>
        </p:txBody>
      </p:sp>
      <p:sp>
        <p:nvSpPr>
          <p:cNvPr id="21" name="Text 16"/>
          <p:cNvSpPr/>
          <p:nvPr/>
        </p:nvSpPr>
        <p:spPr>
          <a:xfrm>
            <a:off x="6217920" y="1737360"/>
            <a:ext cx="2377440" cy="73152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Cosine similarity · Bedrock InvokeModel API · What text to embed</a:t>
            </a:r>
            <a:endParaRPr lang="en-US" sz="1050" dirty="0"/>
          </a:p>
        </p:txBody>
      </p:sp>
      <p:sp>
        <p:nvSpPr>
          <p:cNvPr id="22" name="Shape 17"/>
          <p:cNvSpPr/>
          <p:nvPr/>
        </p:nvSpPr>
        <p:spPr>
          <a:xfrm>
            <a:off x="411480" y="2834640"/>
            <a:ext cx="2651760" cy="1600200"/>
          </a:xfrm>
          <a:prstGeom prst="roundRect">
            <a:avLst>
              <a:gd name="adj" fmla="val 685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3" name="Shape 18"/>
          <p:cNvSpPr/>
          <p:nvPr/>
        </p:nvSpPr>
        <p:spPr>
          <a:xfrm>
            <a:off x="548640" y="2971800"/>
            <a:ext cx="457200" cy="457200"/>
          </a:xfrm>
          <a:prstGeom prst="roundRect">
            <a:avLst>
              <a:gd name="adj" fmla="val 16000"/>
            </a:avLst>
          </a:prstGeom>
          <a:solidFill>
            <a:srgbClr val="F59E0B"/>
          </a:solidFill>
          <a:ln w="12700">
            <a:solidFill>
              <a:srgbClr val="F59E0B"/>
            </a:solidFill>
            <a:prstDash val="solid"/>
          </a:ln>
        </p:spPr>
      </p:sp>
      <p:pic>
        <p:nvPicPr>
          <p:cNvPr id="24" name="Image 3" descr="preencoded.png">    </p:cNvPr>
          <p:cNvPicPr>
            <a:picLocks noChangeAspect="1"/>
          </p:cNvPicPr>
          <p:nvPr/>
        </p:nvPicPr>
        <p:blipFill>
          <a:blip r:embed="rId4"/>
          <a:stretch>
            <a:fillRect/>
          </a:stretch>
        </p:blipFill>
        <p:spPr>
          <a:xfrm>
            <a:off x="612648" y="3035808"/>
            <a:ext cx="329184" cy="329184"/>
          </a:xfrm>
          <a:prstGeom prst="rect">
            <a:avLst/>
          </a:prstGeom>
        </p:spPr>
      </p:pic>
      <p:sp>
        <p:nvSpPr>
          <p:cNvPr id="25" name="Text 19"/>
          <p:cNvSpPr/>
          <p:nvPr/>
        </p:nvSpPr>
        <p:spPr>
          <a:xfrm>
            <a:off x="1097280" y="2971800"/>
            <a:ext cx="502920" cy="22860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04</a:t>
            </a:r>
            <a:endParaRPr lang="en-US" sz="1100" dirty="0"/>
          </a:p>
        </p:txBody>
      </p:sp>
      <p:sp>
        <p:nvSpPr>
          <p:cNvPr id="26" name="Text 20"/>
          <p:cNvSpPr/>
          <p:nvPr/>
        </p:nvSpPr>
        <p:spPr>
          <a:xfrm>
            <a:off x="1097280" y="3182112"/>
            <a:ext cx="182880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Chunking Strategies</a:t>
            </a:r>
            <a:endParaRPr lang="en-US" sz="1300" dirty="0"/>
          </a:p>
        </p:txBody>
      </p:sp>
      <p:sp>
        <p:nvSpPr>
          <p:cNvPr id="27" name="Text 21"/>
          <p:cNvSpPr/>
          <p:nvPr/>
        </p:nvSpPr>
        <p:spPr>
          <a:xfrm>
            <a:off x="548640" y="3566160"/>
            <a:ext cx="2377440" cy="73152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Fixed · Recursive · Semantic · When to use which</a:t>
            </a:r>
            <a:endParaRPr lang="en-US" sz="1050" dirty="0"/>
          </a:p>
        </p:txBody>
      </p:sp>
      <p:sp>
        <p:nvSpPr>
          <p:cNvPr id="28" name="Shape 22"/>
          <p:cNvSpPr/>
          <p:nvPr/>
        </p:nvSpPr>
        <p:spPr>
          <a:xfrm>
            <a:off x="3246120" y="2834640"/>
            <a:ext cx="2651760" cy="1600200"/>
          </a:xfrm>
          <a:prstGeom prst="roundRect">
            <a:avLst>
              <a:gd name="adj" fmla="val 685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9" name="Shape 23"/>
          <p:cNvSpPr/>
          <p:nvPr/>
        </p:nvSpPr>
        <p:spPr>
          <a:xfrm>
            <a:off x="3383280" y="2971800"/>
            <a:ext cx="457200" cy="457200"/>
          </a:xfrm>
          <a:prstGeom prst="roundRect">
            <a:avLst>
              <a:gd name="adj" fmla="val 16000"/>
            </a:avLst>
          </a:prstGeom>
          <a:solidFill>
            <a:srgbClr val="06B6D4"/>
          </a:solidFill>
          <a:ln w="12700">
            <a:solidFill>
              <a:srgbClr val="06B6D4"/>
            </a:solidFill>
            <a:prstDash val="solid"/>
          </a:ln>
        </p:spPr>
      </p:sp>
      <p:pic>
        <p:nvPicPr>
          <p:cNvPr id="30" name="Image 4" descr="preencoded.png">    </p:cNvPr>
          <p:cNvPicPr>
            <a:picLocks noChangeAspect="1"/>
          </p:cNvPicPr>
          <p:nvPr/>
        </p:nvPicPr>
        <p:blipFill>
          <a:blip r:embed="rId5"/>
          <a:stretch>
            <a:fillRect/>
          </a:stretch>
        </p:blipFill>
        <p:spPr>
          <a:xfrm>
            <a:off x="3447288" y="3035808"/>
            <a:ext cx="329184" cy="329184"/>
          </a:xfrm>
          <a:prstGeom prst="rect">
            <a:avLst/>
          </a:prstGeom>
        </p:spPr>
      </p:pic>
      <p:sp>
        <p:nvSpPr>
          <p:cNvPr id="31" name="Text 24"/>
          <p:cNvSpPr/>
          <p:nvPr/>
        </p:nvSpPr>
        <p:spPr>
          <a:xfrm>
            <a:off x="3931920" y="2971800"/>
            <a:ext cx="502920" cy="228600"/>
          </a:xfrm>
          <a:prstGeom prst="rect">
            <a:avLst/>
          </a:prstGeom>
          <a:noFill/>
          <a:ln/>
        </p:spPr>
        <p:txBody>
          <a:bodyPr wrap="square"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05</a:t>
            </a:r>
            <a:endParaRPr lang="en-US" sz="1100" dirty="0"/>
          </a:p>
        </p:txBody>
      </p:sp>
      <p:sp>
        <p:nvSpPr>
          <p:cNvPr id="32" name="Text 25"/>
          <p:cNvSpPr/>
          <p:nvPr/>
        </p:nvSpPr>
        <p:spPr>
          <a:xfrm>
            <a:off x="3931920" y="3182112"/>
            <a:ext cx="182880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Hands-On Exercises</a:t>
            </a:r>
            <a:endParaRPr lang="en-US" sz="1300" dirty="0"/>
          </a:p>
        </p:txBody>
      </p:sp>
      <p:sp>
        <p:nvSpPr>
          <p:cNvPr id="33" name="Text 26"/>
          <p:cNvSpPr/>
          <p:nvPr/>
        </p:nvSpPr>
        <p:spPr>
          <a:xfrm>
            <a:off x="3383280" y="3566160"/>
            <a:ext cx="2377440" cy="73152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5 exercises from prompt building to similarity search</a:t>
            </a:r>
            <a:endParaRPr lang="en-US" sz="1050" dirty="0"/>
          </a:p>
        </p:txBody>
      </p:sp>
      <p:sp>
        <p:nvSpPr>
          <p:cNvPr id="34" name="Shape 27"/>
          <p:cNvSpPr/>
          <p:nvPr/>
        </p:nvSpPr>
        <p:spPr>
          <a:xfrm>
            <a:off x="6080760" y="2834640"/>
            <a:ext cx="2651760" cy="1600200"/>
          </a:xfrm>
          <a:prstGeom prst="roundRect">
            <a:avLst>
              <a:gd name="adj" fmla="val 685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35" name="Shape 28"/>
          <p:cNvSpPr/>
          <p:nvPr/>
        </p:nvSpPr>
        <p:spPr>
          <a:xfrm>
            <a:off x="6217920" y="2971800"/>
            <a:ext cx="457200" cy="457200"/>
          </a:xfrm>
          <a:prstGeom prst="roundRect">
            <a:avLst>
              <a:gd name="adj" fmla="val 16000"/>
            </a:avLst>
          </a:prstGeom>
          <a:solidFill>
            <a:srgbClr val="EF4444"/>
          </a:solidFill>
          <a:ln w="12700">
            <a:solidFill>
              <a:srgbClr val="EF4444"/>
            </a:solidFill>
            <a:prstDash val="solid"/>
          </a:ln>
        </p:spPr>
      </p:sp>
      <p:pic>
        <p:nvPicPr>
          <p:cNvPr id="36" name="Image 5" descr="preencoded.png">    </p:cNvPr>
          <p:cNvPicPr>
            <a:picLocks noChangeAspect="1"/>
          </p:cNvPicPr>
          <p:nvPr/>
        </p:nvPicPr>
        <p:blipFill>
          <a:blip r:embed="rId6"/>
          <a:stretch>
            <a:fillRect/>
          </a:stretch>
        </p:blipFill>
        <p:spPr>
          <a:xfrm>
            <a:off x="6281928" y="3035808"/>
            <a:ext cx="329184" cy="329184"/>
          </a:xfrm>
          <a:prstGeom prst="rect">
            <a:avLst/>
          </a:prstGeom>
        </p:spPr>
      </p:pic>
      <p:sp>
        <p:nvSpPr>
          <p:cNvPr id="37" name="Text 29"/>
          <p:cNvSpPr/>
          <p:nvPr/>
        </p:nvSpPr>
        <p:spPr>
          <a:xfrm>
            <a:off x="6766560" y="2971800"/>
            <a:ext cx="502920" cy="228600"/>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06</a:t>
            </a:r>
            <a:endParaRPr lang="en-US" sz="1100" dirty="0"/>
          </a:p>
        </p:txBody>
      </p:sp>
      <p:sp>
        <p:nvSpPr>
          <p:cNvPr id="38" name="Text 30"/>
          <p:cNvSpPr/>
          <p:nvPr/>
        </p:nvSpPr>
        <p:spPr>
          <a:xfrm>
            <a:off x="6766560" y="3182112"/>
            <a:ext cx="182880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Common Mistakes</a:t>
            </a:r>
            <a:endParaRPr lang="en-US" sz="1300" dirty="0"/>
          </a:p>
        </p:txBody>
      </p:sp>
      <p:sp>
        <p:nvSpPr>
          <p:cNvPr id="39" name="Text 31"/>
          <p:cNvSpPr/>
          <p:nvPr/>
        </p:nvSpPr>
        <p:spPr>
          <a:xfrm>
            <a:off x="6217920" y="3566160"/>
            <a:ext cx="2377440" cy="731520"/>
          </a:xfrm>
          <a:prstGeom prst="rect">
            <a:avLst/>
          </a:prstGeom>
          <a:noFill/>
          <a:ln/>
        </p:spPr>
        <p:txBody>
          <a:bodyPr wrap="square" rtlCol="0" anchor="t"/>
          <a:lstStyle/>
          <a:p>
            <a:pPr indent="0" marL="0">
              <a:buNone/>
            </a:pPr>
            <a:r>
              <a:rPr lang="en-US" sz="1050" dirty="0">
                <a:solidFill>
                  <a:srgbClr val="CBD5E1"/>
                </a:solidFill>
                <a:latin typeface="Calibri" pitchFamily="34" charset="0"/>
                <a:ea typeface="Calibri" pitchFamily="34" charset="-122"/>
                <a:cs typeface="Calibri" pitchFamily="34" charset="-120"/>
              </a:rPr>
              <a:t>8 failure modes and how to catch them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1 — FOUNDATION</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SQL Cannot Handle Free Text</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097280"/>
            <a:ext cx="4023360" cy="2926080"/>
          </a:xfrm>
          <a:prstGeom prst="roundRect">
            <a:avLst>
              <a:gd name="adj" fmla="val 375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548640" y="1170432"/>
            <a:ext cx="3749040" cy="274320"/>
          </a:xfrm>
          <a:prstGeom prst="rect">
            <a:avLst/>
          </a:prstGeom>
          <a:noFill/>
          <a:ln/>
        </p:spPr>
        <p:txBody>
          <a:bodyPr wrap="square" rtlCol="0" anchor="ctr"/>
          <a:lstStyle/>
          <a:p>
            <a:pPr indent="0" marL="0">
              <a:buNone/>
            </a:pPr>
            <a:r>
              <a:rPr lang="en-US" sz="1000" b="1" dirty="0">
                <a:solidFill>
                  <a:srgbClr val="06B6D4"/>
                </a:solidFill>
                <a:latin typeface="Calibri" pitchFamily="34" charset="0"/>
                <a:ea typeface="Calibri" pitchFamily="34" charset="-122"/>
                <a:cs typeface="Calibri" pitchFamily="34" charset="-120"/>
              </a:rPr>
              <a:t>RAW SUPPORT TICKET</a:t>
            </a:r>
            <a:endParaRPr lang="en-US" sz="1000" dirty="0"/>
          </a:p>
        </p:txBody>
      </p:sp>
      <p:sp>
        <p:nvSpPr>
          <p:cNvPr id="8" name="Shape 6"/>
          <p:cNvSpPr/>
          <p:nvPr/>
        </p:nvSpPr>
        <p:spPr>
          <a:xfrm>
            <a:off x="502920" y="1481328"/>
            <a:ext cx="3840480" cy="2377440"/>
          </a:xfrm>
          <a:prstGeom prst="roundRect">
            <a:avLst>
              <a:gd name="adj" fmla="val 3077"/>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612648" y="1572768"/>
            <a:ext cx="3621024" cy="219456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ticket_id: TKT-4521</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order_id:  ORD-8834</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channel:   EMAIL</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customer_message:</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"My order hasnt arrived.</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Tracking is stuck. Very</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frustrated — needed it</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last weekend. HELP ASAP"</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agent_notes: "2nd contact."</a:t>
            </a:r>
            <a:endParaRPr lang="en-US" sz="1050" dirty="0"/>
          </a:p>
        </p:txBody>
      </p:sp>
      <p:sp>
        <p:nvSpPr>
          <p:cNvPr id="10" name="Shape 8"/>
          <p:cNvSpPr/>
          <p:nvPr/>
        </p:nvSpPr>
        <p:spPr>
          <a:xfrm>
            <a:off x="4709160" y="1097280"/>
            <a:ext cx="4023360" cy="2926080"/>
          </a:xfrm>
          <a:prstGeom prst="roundRect">
            <a:avLst>
              <a:gd name="adj" fmla="val 375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4846320" y="1170432"/>
            <a:ext cx="3657600" cy="274320"/>
          </a:xfrm>
          <a:prstGeom prst="rect">
            <a:avLst/>
          </a:prstGeom>
          <a:noFill/>
          <a:ln/>
        </p:spPr>
        <p:txBody>
          <a:bodyPr wrap="square"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SQL QUERIES THAT FAIL</a:t>
            </a:r>
            <a:endParaRPr lang="en-US" sz="1000" dirty="0"/>
          </a:p>
        </p:txBody>
      </p:sp>
      <p:sp>
        <p:nvSpPr>
          <p:cNvPr id="12" name="Shape 10"/>
          <p:cNvSpPr/>
          <p:nvPr/>
        </p:nvSpPr>
        <p:spPr>
          <a:xfrm>
            <a:off x="4800600" y="1508760"/>
            <a:ext cx="3749040" cy="530352"/>
          </a:xfrm>
          <a:prstGeom prst="roundRect">
            <a:avLst>
              <a:gd name="adj" fmla="val 12069"/>
            </a:avLst>
          </a:prstGeom>
          <a:solidFill>
            <a:srgbClr val="1A0A0A"/>
          </a:solidFill>
          <a:ln w="12700">
            <a:solidFill>
              <a:srgbClr val="EF4444"/>
            </a:solidFill>
            <a:prstDash val="solid"/>
          </a:ln>
        </p:spPr>
      </p:sp>
      <p:sp>
        <p:nvSpPr>
          <p:cNvPr id="13" name="Text 11"/>
          <p:cNvSpPr/>
          <p:nvPr/>
        </p:nvSpPr>
        <p:spPr>
          <a:xfrm>
            <a:off x="4892040" y="1545336"/>
            <a:ext cx="3566160" cy="20116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Count delivery delays?</a:t>
            </a:r>
            <a:endParaRPr lang="en-US" sz="1100" dirty="0"/>
          </a:p>
        </p:txBody>
      </p:sp>
      <p:sp>
        <p:nvSpPr>
          <p:cNvPr id="14" name="Text 12"/>
          <p:cNvSpPr/>
          <p:nvPr/>
        </p:nvSpPr>
        <p:spPr>
          <a:xfrm>
            <a:off x="4892040" y="1764792"/>
            <a:ext cx="3566160" cy="201168"/>
          </a:xfrm>
          <a:prstGeom prst="rect">
            <a:avLst/>
          </a:prstGeom>
          <a:noFill/>
          <a:ln/>
        </p:spPr>
        <p:txBody>
          <a:bodyPr wrap="square" rtlCol="0" anchor="ctr"/>
          <a:lstStyle/>
          <a:p>
            <a:pPr indent="0" marL="0">
              <a:buNone/>
            </a:pPr>
            <a:r>
              <a:rPr lang="en-US" sz="1000" dirty="0">
                <a:solidFill>
                  <a:srgbClr val="FC9C9C"/>
                </a:solidFill>
                <a:latin typeface="Calibri" pitchFamily="34" charset="0"/>
                <a:ea typeface="Calibri" pitchFamily="34" charset="-122"/>
                <a:cs typeface="Calibri" pitchFamily="34" charset="-120"/>
              </a:rPr>
              <a:t>✗  LIKE '%delay%' misses 'stuck in transit'</a:t>
            </a:r>
            <a:endParaRPr lang="en-US" sz="1000" dirty="0"/>
          </a:p>
        </p:txBody>
      </p:sp>
      <p:sp>
        <p:nvSpPr>
          <p:cNvPr id="15" name="Shape 13"/>
          <p:cNvSpPr/>
          <p:nvPr/>
        </p:nvSpPr>
        <p:spPr>
          <a:xfrm>
            <a:off x="4800600" y="2130552"/>
            <a:ext cx="3749040" cy="530352"/>
          </a:xfrm>
          <a:prstGeom prst="roundRect">
            <a:avLst>
              <a:gd name="adj" fmla="val 12069"/>
            </a:avLst>
          </a:prstGeom>
          <a:solidFill>
            <a:srgbClr val="1A0A0A"/>
          </a:solidFill>
          <a:ln w="12700">
            <a:solidFill>
              <a:srgbClr val="EF4444"/>
            </a:solidFill>
            <a:prstDash val="solid"/>
          </a:ln>
        </p:spPr>
      </p:sp>
      <p:sp>
        <p:nvSpPr>
          <p:cNvPr id="16" name="Text 14"/>
          <p:cNvSpPr/>
          <p:nvPr/>
        </p:nvSpPr>
        <p:spPr>
          <a:xfrm>
            <a:off x="4892040" y="2167128"/>
            <a:ext cx="3566160" cy="20116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Sentiment of TKT-4521?</a:t>
            </a:r>
            <a:endParaRPr lang="en-US" sz="1100" dirty="0"/>
          </a:p>
        </p:txBody>
      </p:sp>
      <p:sp>
        <p:nvSpPr>
          <p:cNvPr id="17" name="Text 15"/>
          <p:cNvSpPr/>
          <p:nvPr/>
        </p:nvSpPr>
        <p:spPr>
          <a:xfrm>
            <a:off x="4892040" y="2386584"/>
            <a:ext cx="3566160" cy="201168"/>
          </a:xfrm>
          <a:prstGeom prst="rect">
            <a:avLst/>
          </a:prstGeom>
          <a:noFill/>
          <a:ln/>
        </p:spPr>
        <p:txBody>
          <a:bodyPr wrap="square" rtlCol="0" anchor="ctr"/>
          <a:lstStyle/>
          <a:p>
            <a:pPr indent="0" marL="0">
              <a:buNone/>
            </a:pPr>
            <a:r>
              <a:rPr lang="en-US" sz="1000" dirty="0">
                <a:solidFill>
                  <a:srgbClr val="FC9C9C"/>
                </a:solidFill>
                <a:latin typeface="Calibri" pitchFamily="34" charset="0"/>
                <a:ea typeface="Calibri" pitchFamily="34" charset="-122"/>
                <a:cs typeface="Calibri" pitchFamily="34" charset="-120"/>
              </a:rPr>
              <a:t>✗  No column — it's buried in free text</a:t>
            </a:r>
            <a:endParaRPr lang="en-US" sz="1000" dirty="0"/>
          </a:p>
        </p:txBody>
      </p:sp>
      <p:sp>
        <p:nvSpPr>
          <p:cNvPr id="18" name="Shape 16"/>
          <p:cNvSpPr/>
          <p:nvPr/>
        </p:nvSpPr>
        <p:spPr>
          <a:xfrm>
            <a:off x="4800600" y="2752344"/>
            <a:ext cx="3749040" cy="530352"/>
          </a:xfrm>
          <a:prstGeom prst="roundRect">
            <a:avLst>
              <a:gd name="adj" fmla="val 12069"/>
            </a:avLst>
          </a:prstGeom>
          <a:solidFill>
            <a:srgbClr val="1A0A0A"/>
          </a:solidFill>
          <a:ln w="12700">
            <a:solidFill>
              <a:srgbClr val="EF4444"/>
            </a:solidFill>
            <a:prstDash val="solid"/>
          </a:ln>
        </p:spPr>
      </p:sp>
      <p:sp>
        <p:nvSpPr>
          <p:cNvPr id="19" name="Text 17"/>
          <p:cNvSpPr/>
          <p:nvPr/>
        </p:nvSpPr>
        <p:spPr>
          <a:xfrm>
            <a:off x="4892040" y="2788920"/>
            <a:ext cx="3566160" cy="20116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Tickets needing human?</a:t>
            </a:r>
            <a:endParaRPr lang="en-US" sz="1100" dirty="0"/>
          </a:p>
        </p:txBody>
      </p:sp>
      <p:sp>
        <p:nvSpPr>
          <p:cNvPr id="20" name="Text 18"/>
          <p:cNvSpPr/>
          <p:nvPr/>
        </p:nvSpPr>
        <p:spPr>
          <a:xfrm>
            <a:off x="4892040" y="3008376"/>
            <a:ext cx="3566160" cy="201168"/>
          </a:xfrm>
          <a:prstGeom prst="rect">
            <a:avLst/>
          </a:prstGeom>
          <a:noFill/>
          <a:ln/>
        </p:spPr>
        <p:txBody>
          <a:bodyPr wrap="square" rtlCol="0" anchor="ctr"/>
          <a:lstStyle/>
          <a:p>
            <a:pPr indent="0" marL="0">
              <a:buNone/>
            </a:pPr>
            <a:r>
              <a:rPr lang="en-US" sz="1000" dirty="0">
                <a:solidFill>
                  <a:srgbClr val="FC9C9C"/>
                </a:solidFill>
                <a:latin typeface="Calibri" pitchFamily="34" charset="0"/>
                <a:ea typeface="Calibri" pitchFamily="34" charset="-122"/>
                <a:cs typeface="Calibri" pitchFamily="34" charset="-120"/>
              </a:rPr>
              <a:t>✗  Urgency requires reading the message</a:t>
            </a:r>
            <a:endParaRPr lang="en-US" sz="1000" dirty="0"/>
          </a:p>
        </p:txBody>
      </p:sp>
      <p:sp>
        <p:nvSpPr>
          <p:cNvPr id="21" name="Shape 19"/>
          <p:cNvSpPr/>
          <p:nvPr/>
        </p:nvSpPr>
        <p:spPr>
          <a:xfrm>
            <a:off x="4800600" y="3374136"/>
            <a:ext cx="3749040" cy="530352"/>
          </a:xfrm>
          <a:prstGeom prst="roundRect">
            <a:avLst>
              <a:gd name="adj" fmla="val 12069"/>
            </a:avLst>
          </a:prstGeom>
          <a:solidFill>
            <a:srgbClr val="1A0A0A"/>
          </a:solidFill>
          <a:ln w="12700">
            <a:solidFill>
              <a:srgbClr val="EF4444"/>
            </a:solidFill>
            <a:prstDash val="solid"/>
          </a:ln>
        </p:spPr>
      </p:sp>
      <p:sp>
        <p:nvSpPr>
          <p:cNvPr id="22" name="Text 20"/>
          <p:cNvSpPr/>
          <p:nvPr/>
        </p:nvSpPr>
        <p:spPr>
          <a:xfrm>
            <a:off x="4892040" y="3410712"/>
            <a:ext cx="3566160" cy="20116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root causes?</a:t>
            </a:r>
            <a:endParaRPr lang="en-US" sz="1100" dirty="0"/>
          </a:p>
        </p:txBody>
      </p:sp>
      <p:sp>
        <p:nvSpPr>
          <p:cNvPr id="23" name="Text 21"/>
          <p:cNvSpPr/>
          <p:nvPr/>
        </p:nvSpPr>
        <p:spPr>
          <a:xfrm>
            <a:off x="4892040" y="3630168"/>
            <a:ext cx="3566160" cy="201168"/>
          </a:xfrm>
          <a:prstGeom prst="rect">
            <a:avLst/>
          </a:prstGeom>
          <a:noFill/>
          <a:ln/>
        </p:spPr>
        <p:txBody>
          <a:bodyPr wrap="square" rtlCol="0" anchor="ctr"/>
          <a:lstStyle/>
          <a:p>
            <a:pPr indent="0" marL="0">
              <a:buNone/>
            </a:pPr>
            <a:r>
              <a:rPr lang="en-US" sz="1000" dirty="0">
                <a:solidFill>
                  <a:srgbClr val="FC9C9C"/>
                </a:solidFill>
                <a:latin typeface="Calibri" pitchFamily="34" charset="0"/>
                <a:ea typeface="Calibri" pitchFamily="34" charset="-122"/>
                <a:cs typeface="Calibri" pitchFamily="34" charset="-120"/>
              </a:rPr>
              <a:t>✗  No field to GROUP BY or aggregate</a:t>
            </a:r>
            <a:endParaRPr lang="en-US" sz="1000" dirty="0"/>
          </a:p>
        </p:txBody>
      </p:sp>
      <p:sp>
        <p:nvSpPr>
          <p:cNvPr id="24" name="Text 22"/>
          <p:cNvSpPr/>
          <p:nvPr/>
        </p:nvSpPr>
        <p:spPr>
          <a:xfrm>
            <a:off x="411480" y="4114800"/>
            <a:ext cx="8321040" cy="347472"/>
          </a:xfrm>
          <a:prstGeom prst="rect">
            <a:avLst/>
          </a:prstGeom>
          <a:noFill/>
          <a:ln/>
        </p:spPr>
        <p:txBody>
          <a:bodyPr wrap="square"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Free text cannot be queried, aggregated, or joined — it must be converted into structured fields first.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1 — FOUNDATION</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Semantic Similarity vs Keyword Search</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3977640" cy="804672"/>
          </a:xfrm>
          <a:prstGeom prst="roundRect">
            <a:avLst>
              <a:gd name="adj" fmla="val 11364"/>
            </a:avLst>
          </a:prstGeom>
          <a:solidFill>
            <a:srgbClr val="0D2818"/>
          </a:solidFill>
          <a:ln w="12700">
            <a:solidFill>
              <a:srgbClr val="0D2818"/>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548640" y="1188720"/>
            <a:ext cx="1097280" cy="201168"/>
          </a:xfrm>
          <a:prstGeom prst="rect">
            <a:avLst/>
          </a:prstGeom>
          <a:noFill/>
          <a:ln/>
        </p:spPr>
        <p:txBody>
          <a:bodyPr wrap="square"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Message A</a:t>
            </a:r>
            <a:endParaRPr lang="en-US" sz="1000" dirty="0"/>
          </a:p>
        </p:txBody>
      </p:sp>
      <p:sp>
        <p:nvSpPr>
          <p:cNvPr id="8" name="Shape 6"/>
          <p:cNvSpPr/>
          <p:nvPr/>
        </p:nvSpPr>
        <p:spPr>
          <a:xfrm>
            <a:off x="3337560" y="1207008"/>
            <a:ext cx="914400" cy="201168"/>
          </a:xfrm>
          <a:prstGeom prst="roundRect">
            <a:avLst>
              <a:gd name="adj" fmla="val 27273"/>
            </a:avLst>
          </a:prstGeom>
          <a:solidFill>
            <a:srgbClr val="10B981"/>
          </a:solidFill>
          <a:ln w="12700">
            <a:solidFill>
              <a:srgbClr val="10B981"/>
            </a:solidFill>
            <a:prstDash val="solid"/>
          </a:ln>
        </p:spPr>
      </p:sp>
      <p:sp>
        <p:nvSpPr>
          <p:cNvPr id="9" name="Text 7"/>
          <p:cNvSpPr/>
          <p:nvPr/>
        </p:nvSpPr>
        <p:spPr>
          <a:xfrm>
            <a:off x="3337560" y="1207008"/>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DELIVERY</a:t>
            </a:r>
            <a:endParaRPr lang="en-US" sz="900" dirty="0"/>
          </a:p>
        </p:txBody>
      </p:sp>
      <p:sp>
        <p:nvSpPr>
          <p:cNvPr id="10" name="Text 8"/>
          <p:cNvSpPr/>
          <p:nvPr/>
        </p:nvSpPr>
        <p:spPr>
          <a:xfrm>
            <a:off x="548640" y="1426464"/>
            <a:ext cx="3657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 order is late"</a:t>
            </a:r>
            <a:endParaRPr lang="en-US" sz="1300" dirty="0"/>
          </a:p>
        </p:txBody>
      </p:sp>
      <p:sp>
        <p:nvSpPr>
          <p:cNvPr id="11" name="Shape 9"/>
          <p:cNvSpPr/>
          <p:nvPr/>
        </p:nvSpPr>
        <p:spPr>
          <a:xfrm>
            <a:off x="4572000" y="1115568"/>
            <a:ext cx="3977640" cy="804672"/>
          </a:xfrm>
          <a:prstGeom prst="roundRect">
            <a:avLst>
              <a:gd name="adj" fmla="val 11364"/>
            </a:avLst>
          </a:prstGeom>
          <a:solidFill>
            <a:srgbClr val="0D2818"/>
          </a:solidFill>
          <a:ln w="12700">
            <a:solidFill>
              <a:srgbClr val="0D2818"/>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4709160" y="1188720"/>
            <a:ext cx="1097280" cy="201168"/>
          </a:xfrm>
          <a:prstGeom prst="rect">
            <a:avLst/>
          </a:prstGeom>
          <a:noFill/>
          <a:ln/>
        </p:spPr>
        <p:txBody>
          <a:bodyPr wrap="square"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Message B</a:t>
            </a:r>
            <a:endParaRPr lang="en-US" sz="1000" dirty="0"/>
          </a:p>
        </p:txBody>
      </p:sp>
      <p:sp>
        <p:nvSpPr>
          <p:cNvPr id="13" name="Shape 11"/>
          <p:cNvSpPr/>
          <p:nvPr/>
        </p:nvSpPr>
        <p:spPr>
          <a:xfrm>
            <a:off x="7498080" y="1207008"/>
            <a:ext cx="914400" cy="201168"/>
          </a:xfrm>
          <a:prstGeom prst="roundRect">
            <a:avLst>
              <a:gd name="adj" fmla="val 27273"/>
            </a:avLst>
          </a:prstGeom>
          <a:solidFill>
            <a:srgbClr val="10B981"/>
          </a:solidFill>
          <a:ln w="12700">
            <a:solidFill>
              <a:srgbClr val="10B981"/>
            </a:solidFill>
            <a:prstDash val="solid"/>
          </a:ln>
        </p:spPr>
      </p:sp>
      <p:sp>
        <p:nvSpPr>
          <p:cNvPr id="14" name="Text 12"/>
          <p:cNvSpPr/>
          <p:nvPr/>
        </p:nvSpPr>
        <p:spPr>
          <a:xfrm>
            <a:off x="7498080" y="1207008"/>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DELIVERY</a:t>
            </a:r>
            <a:endParaRPr lang="en-US" sz="900" dirty="0"/>
          </a:p>
        </p:txBody>
      </p:sp>
      <p:sp>
        <p:nvSpPr>
          <p:cNvPr id="15" name="Text 13"/>
          <p:cNvSpPr/>
          <p:nvPr/>
        </p:nvSpPr>
        <p:spPr>
          <a:xfrm>
            <a:off x="4709160" y="1426464"/>
            <a:ext cx="3657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"package hasn't arrived"</a:t>
            </a:r>
            <a:endParaRPr lang="en-US" sz="1300" dirty="0"/>
          </a:p>
        </p:txBody>
      </p:sp>
      <p:sp>
        <p:nvSpPr>
          <p:cNvPr id="16" name="Shape 14"/>
          <p:cNvSpPr/>
          <p:nvPr/>
        </p:nvSpPr>
        <p:spPr>
          <a:xfrm>
            <a:off x="411480" y="2075688"/>
            <a:ext cx="3977640" cy="804672"/>
          </a:xfrm>
          <a:prstGeom prst="roundRect">
            <a:avLst>
              <a:gd name="adj" fmla="val 11364"/>
            </a:avLst>
          </a:prstGeom>
          <a:solidFill>
            <a:srgbClr val="0D2818"/>
          </a:solidFill>
          <a:ln w="12700">
            <a:solidFill>
              <a:srgbClr val="0D2818"/>
            </a:solidFill>
            <a:prstDash val="solid"/>
          </a:ln>
          <a:effectLst>
            <a:outerShdw sx="100000" sy="100000" kx="0" ky="0" algn="bl" rotWithShape="0" blurRad="101600" dist="38100" dir="2700000">
              <a:srgbClr val="000000">
                <a:alpha val="18000"/>
              </a:srgbClr>
            </a:outerShdw>
          </a:effectLst>
        </p:spPr>
      </p:sp>
      <p:sp>
        <p:nvSpPr>
          <p:cNvPr id="17" name="Text 15"/>
          <p:cNvSpPr/>
          <p:nvPr/>
        </p:nvSpPr>
        <p:spPr>
          <a:xfrm>
            <a:off x="548640" y="2148840"/>
            <a:ext cx="1097280" cy="201168"/>
          </a:xfrm>
          <a:prstGeom prst="rect">
            <a:avLst/>
          </a:prstGeom>
          <a:noFill/>
          <a:ln/>
        </p:spPr>
        <p:txBody>
          <a:bodyPr wrap="square"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Message C</a:t>
            </a:r>
            <a:endParaRPr lang="en-US" sz="1000" dirty="0"/>
          </a:p>
        </p:txBody>
      </p:sp>
      <p:sp>
        <p:nvSpPr>
          <p:cNvPr id="18" name="Shape 16"/>
          <p:cNvSpPr/>
          <p:nvPr/>
        </p:nvSpPr>
        <p:spPr>
          <a:xfrm>
            <a:off x="3337560" y="2167128"/>
            <a:ext cx="914400" cy="201168"/>
          </a:xfrm>
          <a:prstGeom prst="roundRect">
            <a:avLst>
              <a:gd name="adj" fmla="val 27273"/>
            </a:avLst>
          </a:prstGeom>
          <a:solidFill>
            <a:srgbClr val="10B981"/>
          </a:solidFill>
          <a:ln w="12700">
            <a:solidFill>
              <a:srgbClr val="10B981"/>
            </a:solidFill>
            <a:prstDash val="solid"/>
          </a:ln>
        </p:spPr>
      </p:sp>
      <p:sp>
        <p:nvSpPr>
          <p:cNvPr id="19" name="Text 17"/>
          <p:cNvSpPr/>
          <p:nvPr/>
        </p:nvSpPr>
        <p:spPr>
          <a:xfrm>
            <a:off x="3337560" y="2167128"/>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DELIVERY</a:t>
            </a:r>
            <a:endParaRPr lang="en-US" sz="900" dirty="0"/>
          </a:p>
        </p:txBody>
      </p:sp>
      <p:sp>
        <p:nvSpPr>
          <p:cNvPr id="20" name="Text 18"/>
          <p:cNvSpPr/>
          <p:nvPr/>
        </p:nvSpPr>
        <p:spPr>
          <a:xfrm>
            <a:off x="548640" y="2386584"/>
            <a:ext cx="3657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"where is my shipment"</a:t>
            </a:r>
            <a:endParaRPr lang="en-US" sz="1300" dirty="0"/>
          </a:p>
        </p:txBody>
      </p:sp>
      <p:sp>
        <p:nvSpPr>
          <p:cNvPr id="21" name="Shape 19"/>
          <p:cNvSpPr/>
          <p:nvPr/>
        </p:nvSpPr>
        <p:spPr>
          <a:xfrm>
            <a:off x="4572000" y="2075688"/>
            <a:ext cx="3977640" cy="804672"/>
          </a:xfrm>
          <a:prstGeom prst="roundRect">
            <a:avLst>
              <a:gd name="adj" fmla="val 11364"/>
            </a:avLst>
          </a:prstGeom>
          <a:solidFill>
            <a:srgbClr val="1A1200"/>
          </a:solidFill>
          <a:ln w="12700">
            <a:solidFill>
              <a:srgbClr val="1A1200"/>
            </a:solidFill>
            <a:prstDash val="solid"/>
          </a:ln>
          <a:effectLst>
            <a:outerShdw sx="100000" sy="100000" kx="0" ky="0" algn="bl" rotWithShape="0" blurRad="101600" dist="38100" dir="2700000">
              <a:srgbClr val="000000">
                <a:alpha val="18000"/>
              </a:srgbClr>
            </a:outerShdw>
          </a:effectLst>
        </p:spPr>
      </p:sp>
      <p:sp>
        <p:nvSpPr>
          <p:cNvPr id="22" name="Text 20"/>
          <p:cNvSpPr/>
          <p:nvPr/>
        </p:nvSpPr>
        <p:spPr>
          <a:xfrm>
            <a:off x="4709160" y="2148840"/>
            <a:ext cx="1097280" cy="201168"/>
          </a:xfrm>
          <a:prstGeom prst="rect">
            <a:avLst/>
          </a:prstGeom>
          <a:noFill/>
          <a:ln/>
        </p:spPr>
        <p:txBody>
          <a:bodyPr wrap="square" rtlCol="0" anchor="ctr"/>
          <a:lstStyle/>
          <a:p>
            <a:pPr indent="0" marL="0">
              <a:buNone/>
            </a:pPr>
            <a:r>
              <a:rPr lang="en-US" sz="1000" b="1" dirty="0">
                <a:solidFill>
                  <a:srgbClr val="94A3B8"/>
                </a:solidFill>
                <a:latin typeface="Calibri" pitchFamily="34" charset="0"/>
                <a:ea typeface="Calibri" pitchFamily="34" charset="-122"/>
                <a:cs typeface="Calibri" pitchFamily="34" charset="-120"/>
              </a:rPr>
              <a:t>Message D</a:t>
            </a:r>
            <a:endParaRPr lang="en-US" sz="1000" dirty="0"/>
          </a:p>
        </p:txBody>
      </p:sp>
      <p:sp>
        <p:nvSpPr>
          <p:cNvPr id="23" name="Shape 21"/>
          <p:cNvSpPr/>
          <p:nvPr/>
        </p:nvSpPr>
        <p:spPr>
          <a:xfrm>
            <a:off x="7498080" y="2167128"/>
            <a:ext cx="914400" cy="201168"/>
          </a:xfrm>
          <a:prstGeom prst="roundRect">
            <a:avLst>
              <a:gd name="adj" fmla="val 27273"/>
            </a:avLst>
          </a:prstGeom>
          <a:solidFill>
            <a:srgbClr val="F59E0B"/>
          </a:solidFill>
          <a:ln w="12700">
            <a:solidFill>
              <a:srgbClr val="F59E0B"/>
            </a:solidFill>
            <a:prstDash val="solid"/>
          </a:ln>
        </p:spPr>
      </p:sp>
      <p:sp>
        <p:nvSpPr>
          <p:cNvPr id="24" name="Text 22"/>
          <p:cNvSpPr/>
          <p:nvPr/>
        </p:nvSpPr>
        <p:spPr>
          <a:xfrm>
            <a:off x="7498080" y="2167128"/>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DAMAGED</a:t>
            </a:r>
            <a:endParaRPr lang="en-US" sz="900" dirty="0"/>
          </a:p>
        </p:txBody>
      </p:sp>
      <p:sp>
        <p:nvSpPr>
          <p:cNvPr id="25" name="Text 23"/>
          <p:cNvSpPr/>
          <p:nvPr/>
        </p:nvSpPr>
        <p:spPr>
          <a:xfrm>
            <a:off x="4709160" y="2386584"/>
            <a:ext cx="3657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 received a damaged product"</a:t>
            </a:r>
            <a:endParaRPr lang="en-US" sz="1300" dirty="0"/>
          </a:p>
        </p:txBody>
      </p:sp>
      <p:sp>
        <p:nvSpPr>
          <p:cNvPr id="26" name="Shape 24"/>
          <p:cNvSpPr/>
          <p:nvPr/>
        </p:nvSpPr>
        <p:spPr>
          <a:xfrm>
            <a:off x="411480" y="3127248"/>
            <a:ext cx="3977640" cy="1600200"/>
          </a:xfrm>
          <a:prstGeom prst="roundRect">
            <a:avLst>
              <a:gd name="adj" fmla="val 685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7" name="Text 25"/>
          <p:cNvSpPr/>
          <p:nvPr/>
        </p:nvSpPr>
        <p:spPr>
          <a:xfrm>
            <a:off x="548640" y="3218688"/>
            <a:ext cx="3657600" cy="274320"/>
          </a:xfrm>
          <a:prstGeom prst="rect">
            <a:avLst/>
          </a:prstGeom>
          <a:noFill/>
          <a:ln/>
        </p:spPr>
        <p:txBody>
          <a:bodyPr wrap="square"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  Keyword Search</a:t>
            </a:r>
            <a:endParaRPr lang="en-US" sz="1300" dirty="0"/>
          </a:p>
        </p:txBody>
      </p:sp>
      <p:sp>
        <p:nvSpPr>
          <p:cNvPr id="28" name="Text 26"/>
          <p:cNvSpPr/>
          <p:nvPr/>
        </p:nvSpPr>
        <p:spPr>
          <a:xfrm>
            <a:off x="594360" y="3538728"/>
            <a:ext cx="3657600" cy="210312"/>
          </a:xfrm>
          <a:prstGeom prst="rect">
            <a:avLst/>
          </a:prstGeom>
          <a:noFill/>
          <a:ln/>
        </p:spPr>
        <p:txBody>
          <a:bodyPr wrap="square" rtlCol="0" anchor="ctr"/>
          <a:lstStyle/>
          <a:p>
            <a:pPr indent="0" marL="0">
              <a:buNone/>
            </a:pPr>
            <a:r>
              <a:rPr lang="en-US" sz="1050" dirty="0">
                <a:solidFill>
                  <a:srgbClr val="CBD5E1"/>
                </a:solidFill>
                <a:latin typeface="Courier New" pitchFamily="34" charset="0"/>
                <a:ea typeface="Courier New" pitchFamily="34" charset="-122"/>
                <a:cs typeface="Courier New" pitchFamily="34" charset="-120"/>
              </a:rPr>
              <a:t>LIKE '%late%'   → only catches A</a:t>
            </a:r>
            <a:endParaRPr lang="en-US" sz="1050" dirty="0"/>
          </a:p>
        </p:txBody>
      </p:sp>
      <p:sp>
        <p:nvSpPr>
          <p:cNvPr id="29" name="Text 27"/>
          <p:cNvSpPr/>
          <p:nvPr/>
        </p:nvSpPr>
        <p:spPr>
          <a:xfrm>
            <a:off x="594360" y="3767328"/>
            <a:ext cx="3657600" cy="210312"/>
          </a:xfrm>
          <a:prstGeom prst="rect">
            <a:avLst/>
          </a:prstGeom>
          <a:noFill/>
          <a:ln/>
        </p:spPr>
        <p:txBody>
          <a:bodyPr wrap="square" rtlCol="0" anchor="ctr"/>
          <a:lstStyle/>
          <a:p>
            <a:pPr indent="0" marL="0">
              <a:buNone/>
            </a:pPr>
            <a:r>
              <a:rPr lang="en-US" sz="1050" dirty="0">
                <a:solidFill>
                  <a:srgbClr val="CBD5E1"/>
                </a:solidFill>
                <a:latin typeface="Courier New" pitchFamily="34" charset="0"/>
                <a:ea typeface="Courier New" pitchFamily="34" charset="-122"/>
                <a:cs typeface="Courier New" pitchFamily="34" charset="-120"/>
              </a:rPr>
              <a:t>LIKE '%arrived%' → only catches B</a:t>
            </a:r>
            <a:endParaRPr lang="en-US" sz="1050" dirty="0"/>
          </a:p>
        </p:txBody>
      </p:sp>
      <p:sp>
        <p:nvSpPr>
          <p:cNvPr id="30" name="Text 28"/>
          <p:cNvSpPr/>
          <p:nvPr/>
        </p:nvSpPr>
        <p:spPr>
          <a:xfrm>
            <a:off x="594360" y="3995928"/>
            <a:ext cx="3657600" cy="210312"/>
          </a:xfrm>
          <a:prstGeom prst="rect">
            <a:avLst/>
          </a:prstGeom>
          <a:noFill/>
          <a:ln/>
        </p:spPr>
        <p:txBody>
          <a:bodyPr wrap="square" rtlCol="0" anchor="ctr"/>
          <a:lstStyle/>
          <a:p>
            <a:pPr indent="0" marL="0">
              <a:buNone/>
            </a:pPr>
            <a:r>
              <a:rPr lang="en-US" sz="1050" dirty="0">
                <a:solidFill>
                  <a:srgbClr val="CBD5E1"/>
                </a:solidFill>
                <a:latin typeface="Courier New" pitchFamily="34" charset="0"/>
                <a:ea typeface="Courier New" pitchFamily="34" charset="-122"/>
                <a:cs typeface="Courier New" pitchFamily="34" charset="-120"/>
              </a:rPr>
              <a:t>LIKE '%shipment%' → only catches C</a:t>
            </a:r>
            <a:endParaRPr lang="en-US" sz="1050" dirty="0"/>
          </a:p>
        </p:txBody>
      </p:sp>
      <p:sp>
        <p:nvSpPr>
          <p:cNvPr id="31" name="Text 29"/>
          <p:cNvSpPr/>
          <p:nvPr/>
        </p:nvSpPr>
        <p:spPr>
          <a:xfrm>
            <a:off x="594360" y="4224528"/>
            <a:ext cx="3657600" cy="210312"/>
          </a:xfrm>
          <a:prstGeom prst="rect">
            <a:avLst/>
          </a:prstGeom>
          <a:noFill/>
          <a:ln/>
        </p:spPr>
        <p:txBody>
          <a:bodyPr wrap="square" rtlCol="0" anchor="ctr"/>
          <a:lstStyle/>
          <a:p>
            <a:pPr indent="0" marL="0">
              <a:buNone/>
            </a:pPr>
            <a:r>
              <a:rPr lang="en-US" sz="1050" b="1" dirty="0">
                <a:solidFill>
                  <a:srgbClr val="F59E0B"/>
                </a:solidFill>
                <a:latin typeface="Courier New" pitchFamily="34" charset="0"/>
                <a:ea typeface="Courier New" pitchFamily="34" charset="-122"/>
                <a:cs typeface="Courier New" pitchFamily="34" charset="-120"/>
              </a:rPr>
              <a:t>A human knows all 3 are the same issue!</a:t>
            </a:r>
            <a:endParaRPr lang="en-US" sz="1050" dirty="0"/>
          </a:p>
        </p:txBody>
      </p:sp>
      <p:sp>
        <p:nvSpPr>
          <p:cNvPr id="32" name="Shape 30"/>
          <p:cNvSpPr/>
          <p:nvPr/>
        </p:nvSpPr>
        <p:spPr>
          <a:xfrm>
            <a:off x="4709160" y="3127248"/>
            <a:ext cx="3977640" cy="1600200"/>
          </a:xfrm>
          <a:prstGeom prst="roundRect">
            <a:avLst>
              <a:gd name="adj" fmla="val 685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33" name="Text 31"/>
          <p:cNvSpPr/>
          <p:nvPr/>
        </p:nvSpPr>
        <p:spPr>
          <a:xfrm>
            <a:off x="4846320" y="3218688"/>
            <a:ext cx="3657600" cy="27432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  Semantic Search</a:t>
            </a:r>
            <a:endParaRPr lang="en-US" sz="1300" dirty="0"/>
          </a:p>
        </p:txBody>
      </p:sp>
      <p:sp>
        <p:nvSpPr>
          <p:cNvPr id="34" name="Text 32"/>
          <p:cNvSpPr/>
          <p:nvPr/>
        </p:nvSpPr>
        <p:spPr>
          <a:xfrm>
            <a:off x="4846320" y="3538728"/>
            <a:ext cx="3657600" cy="109728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Convert each message to a vector</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 list of numbers encoding meaning).</a:t>
            </a:r>
            <a:endParaRPr lang="en-US" sz="1100" dirty="0"/>
          </a:p>
          <a:p>
            <a:pPr indent="0" marL="0">
              <a:buNone/>
            </a:pP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Vectors for A, B, C will be CLOSE.</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Vector for D will be FAR from A, B, C.</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1 — FOUNDATION</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is a Vector? — Intuition First</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097280"/>
            <a:ext cx="3931920" cy="3474720"/>
          </a:xfrm>
          <a:prstGeom prst="roundRect">
            <a:avLst>
              <a:gd name="adj" fmla="val 3158"/>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548640" y="1188720"/>
            <a:ext cx="3611880" cy="100584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 vector is a list of numbers representing</a:t>
            </a:r>
            <a:endParaRPr lang="en-US" sz="1200" dirty="0"/>
          </a:p>
          <a:p>
            <a:pPr indent="0" marL="0">
              <a:buNone/>
            </a:pPr>
            <a:r>
              <a:rPr lang="en-US" sz="1200" dirty="0">
                <a:solidFill>
                  <a:srgbClr val="CBD5E1"/>
                </a:solidFill>
                <a:latin typeface="Calibri" pitchFamily="34" charset="0"/>
                <a:ea typeface="Calibri" pitchFamily="34" charset="-122"/>
                <a:cs typeface="Calibri" pitchFamily="34" charset="-120"/>
              </a:rPr>
              <a:t>a position in multi-dimensional space.</a:t>
            </a:r>
            <a:endParaRPr lang="en-US" sz="1200" dirty="0"/>
          </a:p>
          <a:p>
            <a:pPr indent="0" marL="0">
              <a:buNone/>
            </a:pPr>
            <a:endParaRPr lang="en-US" sz="1200" dirty="0"/>
          </a:p>
          <a:p>
            <a:pPr indent="0" marL="0">
              <a:buNone/>
            </a:pPr>
            <a:r>
              <a:rPr lang="en-US" sz="1200" dirty="0">
                <a:solidFill>
                  <a:srgbClr val="CBD5E1"/>
                </a:solidFill>
                <a:latin typeface="Calibri" pitchFamily="34" charset="0"/>
                <a:ea typeface="Calibri" pitchFamily="34" charset="-122"/>
                <a:cs typeface="Calibri" pitchFamily="34" charset="-120"/>
              </a:rPr>
              <a:t>Similar meaning → similar position</a:t>
            </a:r>
            <a:endParaRPr lang="en-US" sz="1200" dirty="0"/>
          </a:p>
          <a:p>
            <a:pPr indent="0" marL="0">
              <a:buNone/>
            </a:pPr>
            <a:r>
              <a:rPr lang="en-US" sz="1200" dirty="0">
                <a:solidFill>
                  <a:srgbClr val="CBD5E1"/>
                </a:solidFill>
                <a:latin typeface="Calibri" pitchFamily="34" charset="0"/>
                <a:ea typeface="Calibri" pitchFamily="34" charset="-122"/>
                <a:cs typeface="Calibri" pitchFamily="34" charset="-120"/>
              </a:rPr>
              <a:t>Different meaning → different position</a:t>
            </a:r>
            <a:endParaRPr lang="en-US" sz="1200" dirty="0"/>
          </a:p>
        </p:txBody>
      </p:sp>
      <p:sp>
        <p:nvSpPr>
          <p:cNvPr id="8" name="Shape 6"/>
          <p:cNvSpPr/>
          <p:nvPr/>
        </p:nvSpPr>
        <p:spPr>
          <a:xfrm>
            <a:off x="411480" y="2258568"/>
            <a:ext cx="8321040" cy="0"/>
          </a:xfrm>
          <a:prstGeom prst="line">
            <a:avLst/>
          </a:prstGeom>
          <a:noFill/>
          <a:ln w="15240">
            <a:solidFill>
              <a:srgbClr val="1E3A5F"/>
            </a:solidFill>
            <a:prstDash val="solid"/>
          </a:ln>
        </p:spPr>
      </p:sp>
      <p:sp>
        <p:nvSpPr>
          <p:cNvPr id="9" name="Text 7"/>
          <p:cNvSpPr/>
          <p:nvPr/>
        </p:nvSpPr>
        <p:spPr>
          <a:xfrm>
            <a:off x="548640" y="2331720"/>
            <a:ext cx="3566160" cy="256032"/>
          </a:xfrm>
          <a:prstGeom prst="rect">
            <a:avLst/>
          </a:prstGeom>
          <a:noFill/>
          <a:ln/>
        </p:spPr>
        <p:txBody>
          <a:bodyPr wrap="square" rtlCol="0" anchor="ctr"/>
          <a:lstStyle/>
          <a:p>
            <a:pPr indent="0" marL="0">
              <a:buNone/>
            </a:pPr>
            <a:r>
              <a:rPr lang="en-US" sz="1000" b="1" dirty="0">
                <a:solidFill>
                  <a:srgbClr val="06B6D4"/>
                </a:solidFill>
                <a:latin typeface="Calibri" pitchFamily="34" charset="0"/>
                <a:ea typeface="Calibri" pitchFamily="34" charset="-122"/>
                <a:cs typeface="Calibri" pitchFamily="34" charset="-120"/>
              </a:rPr>
              <a:t>SIMPLIFIED 2D EXAMPLE:</a:t>
            </a:r>
            <a:endParaRPr lang="en-US" sz="1000" dirty="0"/>
          </a:p>
        </p:txBody>
      </p:sp>
      <p:sp>
        <p:nvSpPr>
          <p:cNvPr id="10" name="Shape 8"/>
          <p:cNvSpPr/>
          <p:nvPr/>
        </p:nvSpPr>
        <p:spPr>
          <a:xfrm>
            <a:off x="502920" y="2633472"/>
            <a:ext cx="3749040" cy="1783080"/>
          </a:xfrm>
          <a:prstGeom prst="roundRect">
            <a:avLst>
              <a:gd name="adj" fmla="val 4103"/>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612648" y="2724912"/>
            <a:ext cx="3529584" cy="160020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X-axis = urgency (0→1)</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Y-axis = delivery-related (0→1)</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"order is late"     → [0.90, 0.95]</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"package not here"  → [0.85, 0.92] ◀ CLOSE</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"I have a question" → [0.10, 0.10] ◀ FAR</a:t>
            </a:r>
            <a:endParaRPr lang="en-US" sz="1050" dirty="0"/>
          </a:p>
        </p:txBody>
      </p:sp>
      <p:sp>
        <p:nvSpPr>
          <p:cNvPr id="12" name="Shape 10"/>
          <p:cNvSpPr/>
          <p:nvPr/>
        </p:nvSpPr>
        <p:spPr>
          <a:xfrm>
            <a:off x="4526280" y="1097280"/>
            <a:ext cx="4206240" cy="1600200"/>
          </a:xfrm>
          <a:prstGeom prst="roundRect">
            <a:avLst>
              <a:gd name="adj" fmla="val 685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4663440" y="1188720"/>
            <a:ext cx="3886200" cy="274320"/>
          </a:xfrm>
          <a:prstGeom prst="rect">
            <a:avLst/>
          </a:prstGeom>
          <a:noFill/>
          <a:ln/>
        </p:spPr>
        <p:txBody>
          <a:bodyPr wrap="square"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Real Embeddings: 1,536 Dimensions</a:t>
            </a:r>
            <a:endParaRPr lang="en-US" sz="1300" dirty="0"/>
          </a:p>
        </p:txBody>
      </p:sp>
      <p:sp>
        <p:nvSpPr>
          <p:cNvPr id="14" name="Shape 12"/>
          <p:cNvSpPr/>
          <p:nvPr/>
        </p:nvSpPr>
        <p:spPr>
          <a:xfrm>
            <a:off x="4617720" y="1508760"/>
            <a:ext cx="4023360" cy="1005840"/>
          </a:xfrm>
          <a:prstGeom prst="roundRect">
            <a:avLst>
              <a:gd name="adj" fmla="val 7273"/>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15" name="Text 13"/>
          <p:cNvSpPr/>
          <p:nvPr/>
        </p:nvSpPr>
        <p:spPr>
          <a:xfrm>
            <a:off x="4727448" y="1600200"/>
            <a:ext cx="3803904" cy="82296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 Titan Embed v2 output:</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embedding = [</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0.023, -0.847, 0.341,</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0.109, -0.562, ...</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 1,536 numbers total</a:t>
            </a:r>
            <a:endParaRPr lang="en-US" sz="1050" dirty="0"/>
          </a:p>
        </p:txBody>
      </p:sp>
      <p:sp>
        <p:nvSpPr>
          <p:cNvPr id="16" name="Shape 14"/>
          <p:cNvSpPr/>
          <p:nvPr/>
        </p:nvSpPr>
        <p:spPr>
          <a:xfrm>
            <a:off x="4526280" y="2834640"/>
            <a:ext cx="4206240" cy="1737360"/>
          </a:xfrm>
          <a:prstGeom prst="roundRect">
            <a:avLst>
              <a:gd name="adj" fmla="val 6316"/>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7" name="Text 15"/>
          <p:cNvSpPr/>
          <p:nvPr/>
        </p:nvSpPr>
        <p:spPr>
          <a:xfrm>
            <a:off x="4663440" y="2926080"/>
            <a:ext cx="3840480" cy="25603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Key Properties</a:t>
            </a:r>
            <a:endParaRPr lang="en-US" sz="1300" dirty="0"/>
          </a:p>
        </p:txBody>
      </p:sp>
      <p:pic>
        <p:nvPicPr>
          <p:cNvPr id="18" name="Image 0" descr="preencoded.png">    </p:cNvPr>
          <p:cNvPicPr>
            <a:picLocks noChangeAspect="1"/>
          </p:cNvPicPr>
          <p:nvPr/>
        </p:nvPicPr>
        <p:blipFill>
          <a:blip r:embed="rId1"/>
          <a:stretch>
            <a:fillRect/>
          </a:stretch>
        </p:blipFill>
        <p:spPr>
          <a:xfrm>
            <a:off x="4663440" y="3264408"/>
            <a:ext cx="201168" cy="201168"/>
          </a:xfrm>
          <a:prstGeom prst="rect">
            <a:avLst/>
          </a:prstGeom>
        </p:spPr>
      </p:pic>
      <p:sp>
        <p:nvSpPr>
          <p:cNvPr id="19" name="Text 16"/>
          <p:cNvSpPr/>
          <p:nvPr/>
        </p:nvSpPr>
        <p:spPr>
          <a:xfrm>
            <a:off x="4919472" y="3246120"/>
            <a:ext cx="3657600" cy="256032"/>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Same language produces similar vectors</a:t>
            </a:r>
            <a:endParaRPr lang="en-US" sz="1100" dirty="0"/>
          </a:p>
        </p:txBody>
      </p:sp>
      <p:pic>
        <p:nvPicPr>
          <p:cNvPr id="20" name="Image 1" descr="preencoded.png">    </p:cNvPr>
          <p:cNvPicPr>
            <a:picLocks noChangeAspect="1"/>
          </p:cNvPicPr>
          <p:nvPr/>
        </p:nvPicPr>
        <p:blipFill>
          <a:blip r:embed="rId2"/>
          <a:stretch>
            <a:fillRect/>
          </a:stretch>
        </p:blipFill>
        <p:spPr>
          <a:xfrm>
            <a:off x="4663440" y="3566160"/>
            <a:ext cx="201168" cy="201168"/>
          </a:xfrm>
          <a:prstGeom prst="rect">
            <a:avLst/>
          </a:prstGeom>
        </p:spPr>
      </p:pic>
      <p:sp>
        <p:nvSpPr>
          <p:cNvPr id="21" name="Text 17"/>
          <p:cNvSpPr/>
          <p:nvPr/>
        </p:nvSpPr>
        <p:spPr>
          <a:xfrm>
            <a:off x="4919472" y="3547872"/>
            <a:ext cx="3657600" cy="256032"/>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Different languages, same meaning → close</a:t>
            </a:r>
            <a:endParaRPr lang="en-US" sz="1100" dirty="0"/>
          </a:p>
        </p:txBody>
      </p:sp>
      <p:pic>
        <p:nvPicPr>
          <p:cNvPr id="22" name="Image 2" descr="preencoded.png">    </p:cNvPr>
          <p:cNvPicPr>
            <a:picLocks noChangeAspect="1"/>
          </p:cNvPicPr>
          <p:nvPr/>
        </p:nvPicPr>
        <p:blipFill>
          <a:blip r:embed="rId3"/>
          <a:stretch>
            <a:fillRect/>
          </a:stretch>
        </p:blipFill>
        <p:spPr>
          <a:xfrm>
            <a:off x="4663440" y="3867912"/>
            <a:ext cx="201168" cy="201168"/>
          </a:xfrm>
          <a:prstGeom prst="rect">
            <a:avLst/>
          </a:prstGeom>
        </p:spPr>
      </p:pic>
      <p:sp>
        <p:nvSpPr>
          <p:cNvPr id="23" name="Text 18"/>
          <p:cNvSpPr/>
          <p:nvPr/>
        </p:nvSpPr>
        <p:spPr>
          <a:xfrm>
            <a:off x="4919472" y="3849624"/>
            <a:ext cx="3657600" cy="256032"/>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Numbers encode meaning, not grammar</a:t>
            </a:r>
            <a:endParaRPr lang="en-US" sz="1100" dirty="0"/>
          </a:p>
        </p:txBody>
      </p:sp>
      <p:pic>
        <p:nvPicPr>
          <p:cNvPr id="24" name="Image 3" descr="preencoded.png">    </p:cNvPr>
          <p:cNvPicPr>
            <a:picLocks noChangeAspect="1"/>
          </p:cNvPicPr>
          <p:nvPr/>
        </p:nvPicPr>
        <p:blipFill>
          <a:blip r:embed="rId4"/>
          <a:stretch>
            <a:fillRect/>
          </a:stretch>
        </p:blipFill>
        <p:spPr>
          <a:xfrm>
            <a:off x="4663440" y="4169664"/>
            <a:ext cx="201168" cy="201168"/>
          </a:xfrm>
          <a:prstGeom prst="rect">
            <a:avLst/>
          </a:prstGeom>
        </p:spPr>
      </p:pic>
      <p:sp>
        <p:nvSpPr>
          <p:cNvPr id="25" name="Text 19"/>
          <p:cNvSpPr/>
          <p:nvPr/>
        </p:nvSpPr>
        <p:spPr>
          <a:xfrm>
            <a:off x="4919472" y="4151376"/>
            <a:ext cx="3657600" cy="256032"/>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Raw numbers are meaningless to humans</a:t>
            </a:r>
            <a:endParaRPr lang="en-US" sz="1100" dirty="0"/>
          </a:p>
        </p:txBody>
      </p:sp>
      <p:sp>
        <p:nvSpPr>
          <p:cNvPr id="26" name="Text 20"/>
          <p:cNvSpPr/>
          <p:nvPr/>
        </p:nvSpPr>
        <p:spPr>
          <a:xfrm>
            <a:off x="411480" y="4663440"/>
            <a:ext cx="8321040" cy="27432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Real embeddings have 1,536 dimensions — same concept, just much more precise than our 2D example.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 — ENRICHMENT</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System Prompt vs User Prompt</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097280"/>
            <a:ext cx="4023360" cy="3520440"/>
          </a:xfrm>
          <a:prstGeom prst="roundRect">
            <a:avLst>
              <a:gd name="adj" fmla="val 3117"/>
            </a:avLst>
          </a:prstGeom>
          <a:solidFill>
            <a:srgbClr val="0A1628"/>
          </a:solidFill>
          <a:ln w="12700">
            <a:solidFill>
              <a:srgbClr val="0A1628"/>
            </a:solidFill>
            <a:prstDash val="solid"/>
          </a:ln>
          <a:effectLst>
            <a:outerShdw sx="100000" sy="100000" kx="0" ky="0" algn="bl" rotWithShape="0" blurRad="101600" dist="38100" dir="2700000">
              <a:srgbClr val="000000">
                <a:alpha val="18000"/>
              </a:srgbClr>
            </a:outerShdw>
          </a:effectLst>
        </p:spPr>
      </p:sp>
      <p:sp>
        <p:nvSpPr>
          <p:cNvPr id="7" name="Shape 5"/>
          <p:cNvSpPr/>
          <p:nvPr/>
        </p:nvSpPr>
        <p:spPr>
          <a:xfrm>
            <a:off x="502920" y="1188720"/>
            <a:ext cx="3840480" cy="365760"/>
          </a:xfrm>
          <a:prstGeom prst="roundRect">
            <a:avLst>
              <a:gd name="adj" fmla="val 20000"/>
            </a:avLst>
          </a:prstGeom>
          <a:solidFill>
            <a:srgbClr val="2563EB"/>
          </a:solidFill>
          <a:ln w="12700">
            <a:solidFill>
              <a:srgbClr val="2563EB"/>
            </a:solidFill>
            <a:prstDash val="solid"/>
          </a:ln>
        </p:spPr>
      </p:sp>
      <p:sp>
        <p:nvSpPr>
          <p:cNvPr id="8" name="Text 6"/>
          <p:cNvSpPr/>
          <p:nvPr/>
        </p:nvSpPr>
        <p:spPr>
          <a:xfrm>
            <a:off x="502920" y="1188720"/>
            <a:ext cx="38404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SYSTEM PROMPT</a:t>
            </a:r>
            <a:endParaRPr lang="en-US" sz="1400" dirty="0"/>
          </a:p>
        </p:txBody>
      </p:sp>
      <p:sp>
        <p:nvSpPr>
          <p:cNvPr id="9" name="Text 7"/>
          <p:cNvSpPr/>
          <p:nvPr/>
        </p:nvSpPr>
        <p:spPr>
          <a:xfrm>
            <a:off x="594360" y="1645920"/>
            <a:ext cx="3657600" cy="45720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The model's job description.</a:t>
            </a:r>
            <a:endParaRPr lang="en-US" sz="1200" dirty="0"/>
          </a:p>
          <a:p>
            <a:pPr indent="0" marL="0">
              <a:buNone/>
            </a:pPr>
            <a:r>
              <a:rPr lang="en-US" sz="1200" dirty="0">
                <a:solidFill>
                  <a:srgbClr val="CBD5E1"/>
                </a:solidFill>
                <a:latin typeface="Calibri" pitchFamily="34" charset="0"/>
                <a:ea typeface="Calibri" pitchFamily="34" charset="-122"/>
                <a:cs typeface="Calibri" pitchFamily="34" charset="-120"/>
              </a:rPr>
              <a:t>Sent ONCE. Never changes.</a:t>
            </a:r>
            <a:endParaRPr lang="en-US" sz="1200" dirty="0"/>
          </a:p>
        </p:txBody>
      </p:sp>
      <p:sp>
        <p:nvSpPr>
          <p:cNvPr id="10" name="Text 8"/>
          <p:cNvSpPr/>
          <p:nvPr/>
        </p:nvSpPr>
        <p:spPr>
          <a:xfrm>
            <a:off x="594360" y="2176272"/>
            <a:ext cx="3657600" cy="274320"/>
          </a:xfrm>
          <a:prstGeom prst="rect">
            <a:avLst/>
          </a:prstGeom>
          <a:noFill/>
          <a:ln/>
        </p:spPr>
        <p:txBody>
          <a:bodyPr wrap="square" rtlCol="0" anchor="ctr"/>
          <a:lstStyle/>
          <a:p>
            <a:pPr indent="0" marL="0">
              <a:buNone/>
            </a:pPr>
            <a:r>
              <a:rPr lang="en-US" sz="1100" dirty="0">
                <a:solidFill>
                  <a:srgbClr val="06B6D4"/>
                </a:solidFill>
                <a:latin typeface="Calibri" pitchFamily="34" charset="0"/>
                <a:ea typeface="Calibri" pitchFamily="34" charset="-122"/>
                <a:cs typeface="Calibri" pitchFamily="34" charset="-120"/>
              </a:rPr>
              <a:t>✓  Role: analytics pipeline enricher</a:t>
            </a:r>
            <a:endParaRPr lang="en-US" sz="1100" dirty="0"/>
          </a:p>
        </p:txBody>
      </p:sp>
      <p:sp>
        <p:nvSpPr>
          <p:cNvPr id="11" name="Text 9"/>
          <p:cNvSpPr/>
          <p:nvPr/>
        </p:nvSpPr>
        <p:spPr>
          <a:xfrm>
            <a:off x="594360" y="2478024"/>
            <a:ext cx="3657600" cy="274320"/>
          </a:xfrm>
          <a:prstGeom prst="rect">
            <a:avLst/>
          </a:prstGeom>
          <a:noFill/>
          <a:ln/>
        </p:spPr>
        <p:txBody>
          <a:bodyPr wrap="square" rtlCol="0" anchor="ctr"/>
          <a:lstStyle/>
          <a:p>
            <a:pPr indent="0" marL="0">
              <a:buNone/>
            </a:pPr>
            <a:r>
              <a:rPr lang="en-US" sz="1100" dirty="0">
                <a:solidFill>
                  <a:srgbClr val="06B6D4"/>
                </a:solidFill>
                <a:latin typeface="Calibri" pitchFamily="34" charset="0"/>
                <a:ea typeface="Calibri" pitchFamily="34" charset="-122"/>
                <a:cs typeface="Calibri" pitchFamily="34" charset="-120"/>
              </a:rPr>
              <a:t>✓  Output format: strict JSON only</a:t>
            </a:r>
            <a:endParaRPr lang="en-US" sz="1100" dirty="0"/>
          </a:p>
        </p:txBody>
      </p:sp>
      <p:sp>
        <p:nvSpPr>
          <p:cNvPr id="12" name="Text 10"/>
          <p:cNvSpPr/>
          <p:nvPr/>
        </p:nvSpPr>
        <p:spPr>
          <a:xfrm>
            <a:off x="594360" y="2779776"/>
            <a:ext cx="3657600" cy="2743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Required keys (8 fields)</a:t>
            </a:r>
            <a:endParaRPr lang="en-US" sz="1100" dirty="0"/>
          </a:p>
        </p:txBody>
      </p:sp>
      <p:sp>
        <p:nvSpPr>
          <p:cNvPr id="13" name="Text 11"/>
          <p:cNvSpPr/>
          <p:nvPr/>
        </p:nvSpPr>
        <p:spPr>
          <a:xfrm>
            <a:off x="594360" y="3081528"/>
            <a:ext cx="3657600" cy="2743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Allowed values for categoricals</a:t>
            </a:r>
            <a:endParaRPr lang="en-US" sz="1100" dirty="0"/>
          </a:p>
        </p:txBody>
      </p:sp>
      <p:sp>
        <p:nvSpPr>
          <p:cNvPr id="14" name="Text 12"/>
          <p:cNvSpPr/>
          <p:nvPr/>
        </p:nvSpPr>
        <p:spPr>
          <a:xfrm>
            <a:off x="594360" y="3383280"/>
            <a:ext cx="3657600" cy="2743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PII redaction rules</a:t>
            </a:r>
            <a:endParaRPr lang="en-US" sz="1100" dirty="0"/>
          </a:p>
        </p:txBody>
      </p:sp>
      <p:sp>
        <p:nvSpPr>
          <p:cNvPr id="15" name="Text 13"/>
          <p:cNvSpPr/>
          <p:nvPr/>
        </p:nvSpPr>
        <p:spPr>
          <a:xfrm>
            <a:off x="594360" y="3685032"/>
            <a:ext cx="3657600" cy="2743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Summary length: 1 sentence</a:t>
            </a:r>
            <a:endParaRPr lang="en-US" sz="1100" dirty="0"/>
          </a:p>
        </p:txBody>
      </p:sp>
      <p:sp>
        <p:nvSpPr>
          <p:cNvPr id="16" name="Text 14"/>
          <p:cNvSpPr/>
          <p:nvPr/>
        </p:nvSpPr>
        <p:spPr>
          <a:xfrm>
            <a:off x="594360" y="4279392"/>
            <a:ext cx="3566160" cy="256032"/>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Identical for every ticket</a:t>
            </a:r>
            <a:endParaRPr lang="en-US" sz="1100" dirty="0"/>
          </a:p>
        </p:txBody>
      </p:sp>
      <p:sp>
        <p:nvSpPr>
          <p:cNvPr id="17" name="Shape 15"/>
          <p:cNvSpPr/>
          <p:nvPr/>
        </p:nvSpPr>
        <p:spPr>
          <a:xfrm>
            <a:off x="4663440" y="1097280"/>
            <a:ext cx="4023360" cy="3520440"/>
          </a:xfrm>
          <a:prstGeom prst="roundRect">
            <a:avLst>
              <a:gd name="adj" fmla="val 3117"/>
            </a:avLst>
          </a:prstGeom>
          <a:solidFill>
            <a:srgbClr val="0D1A0A"/>
          </a:solidFill>
          <a:ln w="12700">
            <a:solidFill>
              <a:srgbClr val="0D1A0A"/>
            </a:solidFill>
            <a:prstDash val="solid"/>
          </a:ln>
          <a:effectLst>
            <a:outerShdw sx="100000" sy="100000" kx="0" ky="0" algn="bl" rotWithShape="0" blurRad="101600" dist="38100" dir="2700000">
              <a:srgbClr val="000000">
                <a:alpha val="18000"/>
              </a:srgbClr>
            </a:outerShdw>
          </a:effectLst>
        </p:spPr>
      </p:sp>
      <p:sp>
        <p:nvSpPr>
          <p:cNvPr id="18" name="Shape 16"/>
          <p:cNvSpPr/>
          <p:nvPr/>
        </p:nvSpPr>
        <p:spPr>
          <a:xfrm>
            <a:off x="4754880" y="1188720"/>
            <a:ext cx="3840480" cy="365760"/>
          </a:xfrm>
          <a:prstGeom prst="roundRect">
            <a:avLst>
              <a:gd name="adj" fmla="val 20000"/>
            </a:avLst>
          </a:prstGeom>
          <a:solidFill>
            <a:srgbClr val="10B981"/>
          </a:solidFill>
          <a:ln w="12700">
            <a:solidFill>
              <a:srgbClr val="10B981"/>
            </a:solidFill>
            <a:prstDash val="solid"/>
          </a:ln>
        </p:spPr>
      </p:sp>
      <p:sp>
        <p:nvSpPr>
          <p:cNvPr id="19" name="Text 17"/>
          <p:cNvSpPr/>
          <p:nvPr/>
        </p:nvSpPr>
        <p:spPr>
          <a:xfrm>
            <a:off x="4754880" y="1188720"/>
            <a:ext cx="38404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USER PROMPT</a:t>
            </a:r>
            <a:endParaRPr lang="en-US" sz="1400" dirty="0"/>
          </a:p>
        </p:txBody>
      </p:sp>
      <p:sp>
        <p:nvSpPr>
          <p:cNvPr id="20" name="Text 18"/>
          <p:cNvSpPr/>
          <p:nvPr/>
        </p:nvSpPr>
        <p:spPr>
          <a:xfrm>
            <a:off x="4846320" y="1645920"/>
            <a:ext cx="3657600" cy="45720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The specific ticket to process.</a:t>
            </a:r>
            <a:endParaRPr lang="en-US" sz="1200" dirty="0"/>
          </a:p>
          <a:p>
            <a:pPr indent="0" marL="0">
              <a:buNone/>
            </a:pPr>
            <a:r>
              <a:rPr lang="en-US" sz="1200" dirty="0">
                <a:solidFill>
                  <a:srgbClr val="CBD5E1"/>
                </a:solidFill>
                <a:latin typeface="Calibri" pitchFamily="34" charset="0"/>
                <a:ea typeface="Calibri" pitchFamily="34" charset="-122"/>
                <a:cs typeface="Calibri" pitchFamily="34" charset="-120"/>
              </a:rPr>
              <a:t>Changes for EVERY ticket.</a:t>
            </a:r>
            <a:endParaRPr lang="en-US" sz="1200" dirty="0"/>
          </a:p>
        </p:txBody>
      </p:sp>
      <p:sp>
        <p:nvSpPr>
          <p:cNvPr id="21" name="Shape 19"/>
          <p:cNvSpPr/>
          <p:nvPr/>
        </p:nvSpPr>
        <p:spPr>
          <a:xfrm>
            <a:off x="4754880" y="2176272"/>
            <a:ext cx="3840480" cy="2011680"/>
          </a:xfrm>
          <a:prstGeom prst="roundRect">
            <a:avLst>
              <a:gd name="adj" fmla="val 3636"/>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22" name="Text 20"/>
          <p:cNvSpPr/>
          <p:nvPr/>
        </p:nvSpPr>
        <p:spPr>
          <a:xfrm>
            <a:off x="4864608" y="2267712"/>
            <a:ext cx="3621024" cy="182880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Ticket ID: TKT-4521</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Order ID:  ORD-8834</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Channel:   EMAIL</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Customer message:</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"My order is late..."</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Agent notes: "2nd contact"</a:t>
            </a:r>
            <a:endParaRPr lang="en-US" sz="1050" dirty="0"/>
          </a:p>
        </p:txBody>
      </p:sp>
      <p:sp>
        <p:nvSpPr>
          <p:cNvPr id="23" name="Text 21"/>
          <p:cNvSpPr/>
          <p:nvPr/>
        </p:nvSpPr>
        <p:spPr>
          <a:xfrm>
            <a:off x="4846320" y="4279392"/>
            <a:ext cx="3566160" cy="256032"/>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Unique per ticket</a:t>
            </a:r>
            <a:endParaRPr lang="en-US" sz="1100" dirty="0"/>
          </a:p>
        </p:txBody>
      </p:sp>
      <p:sp>
        <p:nvSpPr>
          <p:cNvPr id="24" name="Text 22"/>
          <p:cNvSpPr/>
          <p:nvPr/>
        </p:nvSpPr>
        <p:spPr>
          <a:xfrm>
            <a:off x="411480" y="4663440"/>
            <a:ext cx="8321040" cy="274320"/>
          </a:xfrm>
          <a:prstGeom prst="rect">
            <a:avLst/>
          </a:prstGeom>
          <a:noFill/>
          <a:ln/>
        </p:spPr>
        <p:txBody>
          <a:bodyPr wrap="square" rtlCol="0" anchor="ctr"/>
          <a:lstStyle/>
          <a:p>
            <a:pPr algn="ctr" indent="0" marL="0">
              <a:buNone/>
            </a:pPr>
            <a:r>
              <a:rPr lang="en-US" sz="1150" i="1" dirty="0">
                <a:solidFill>
                  <a:srgbClr val="F59E0B"/>
                </a:solidFill>
                <a:latin typeface="Calibri" pitchFamily="34" charset="0"/>
                <a:ea typeface="Calibri" pitchFamily="34" charset="-122"/>
                <a:cs typeface="Calibri" pitchFamily="34" charset="-120"/>
              </a:rPr>
              <a:t>Think of it as: System = standing instructions to an employee | User = today's specific task</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 — ENRICHMENT</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Build the System Prompt — 5 Layers</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097280"/>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7" name="Shape 5"/>
          <p:cNvSpPr/>
          <p:nvPr/>
        </p:nvSpPr>
        <p:spPr>
          <a:xfrm>
            <a:off x="530352" y="1225296"/>
            <a:ext cx="384048" cy="384048"/>
          </a:xfrm>
          <a:prstGeom prst="ellipse">
            <a:avLst/>
          </a:prstGeom>
          <a:solidFill>
            <a:srgbClr val="0891B2"/>
          </a:solidFill>
          <a:ln w="12700">
            <a:solidFill>
              <a:srgbClr val="0891B2"/>
            </a:solidFill>
            <a:prstDash val="solid"/>
          </a:ln>
        </p:spPr>
      </p:sp>
      <p:sp>
        <p:nvSpPr>
          <p:cNvPr id="8" name="Text 6"/>
          <p:cNvSpPr/>
          <p:nvPr/>
        </p:nvSpPr>
        <p:spPr>
          <a:xfrm>
            <a:off x="530352" y="12252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024128" y="1152144"/>
            <a:ext cx="2560320" cy="256032"/>
          </a:xfrm>
          <a:prstGeom prst="rect">
            <a:avLst/>
          </a:prstGeom>
          <a:noFill/>
          <a:ln/>
        </p:spPr>
        <p:txBody>
          <a:bodyPr wrap="square" rtlCol="0" anchor="ctr"/>
          <a:lstStyle/>
          <a:p>
            <a:pPr indent="0" marL="0">
              <a:buNone/>
            </a:pPr>
            <a:r>
              <a:rPr lang="en-US" sz="1200" b="1" dirty="0">
                <a:solidFill>
                  <a:srgbClr val="0891B2"/>
                </a:solidFill>
                <a:latin typeface="Calibri" pitchFamily="34" charset="0"/>
                <a:ea typeface="Calibri" pitchFamily="34" charset="-122"/>
                <a:cs typeface="Calibri" pitchFamily="34" charset="-120"/>
              </a:rPr>
              <a:t>Define model role</a:t>
            </a:r>
            <a:endParaRPr lang="en-US" sz="1200" dirty="0"/>
          </a:p>
        </p:txBody>
      </p:sp>
      <p:sp>
        <p:nvSpPr>
          <p:cNvPr id="10" name="Text 8"/>
          <p:cNvSpPr/>
          <p:nvPr/>
        </p:nvSpPr>
        <p:spPr>
          <a:xfrm>
            <a:off x="1024128" y="1426464"/>
            <a:ext cx="7132320" cy="237744"/>
          </a:xfrm>
          <a:prstGeom prst="rect">
            <a:avLst/>
          </a:prstGeom>
          <a:noFill/>
          <a:ln/>
        </p:spPr>
        <p:txBody>
          <a:bodyPr wrap="square" rtlCol="0" anchor="ctr"/>
          <a:lstStyle/>
          <a:p>
            <a:pPr indent="0" marL="0">
              <a:buNone/>
            </a:pPr>
            <a:r>
              <a:rPr lang="en-US" sz="1050" dirty="0">
                <a:solidFill>
                  <a:srgbClr val="CBD5E1"/>
                </a:solidFill>
                <a:latin typeface="Courier New" pitchFamily="34" charset="0"/>
                <a:ea typeface="Courier New" pitchFamily="34" charset="-122"/>
                <a:cs typeface="Courier New" pitchFamily="34" charset="-120"/>
              </a:rPr>
              <a:t>You are enriching retail support tickets for analytics.</a:t>
            </a:r>
            <a:endParaRPr lang="en-US" sz="1050" dirty="0"/>
          </a:p>
        </p:txBody>
      </p:sp>
      <p:sp>
        <p:nvSpPr>
          <p:cNvPr id="11" name="Text 9"/>
          <p:cNvSpPr/>
          <p:nvPr/>
        </p:nvSpPr>
        <p:spPr>
          <a:xfrm>
            <a:off x="411480" y="1097280"/>
            <a:ext cx="0" cy="0"/>
          </a:xfrm>
          <a:prstGeom prst="rect">
            <a:avLst/>
          </a:prstGeom>
          <a:noFill/>
          <a:ln/>
        </p:spPr>
        <p:txBody>
          <a:bodyPr wrap="square" rtlCol="0" anchor="ctr"/>
          <a:lstStyle/>
          <a:p>
            <a:pPr indent="0" marL="0">
              <a:buNone/>
            </a:pPr>
            <a:r>
              <a:rPr lang="en-US" dirty="0">
                <a:solidFill>
                  <a:srgbClr val="000000"/>
                </a:solidFill>
              </a:rPr>
              <a:t>REMOVE THIS →</a:t>
            </a:r>
            <a:endParaRPr lang="en-US" dirty="0"/>
          </a:p>
        </p:txBody>
      </p:sp>
      <p:sp>
        <p:nvSpPr>
          <p:cNvPr id="12" name="Shape 10"/>
          <p:cNvSpPr/>
          <p:nvPr/>
        </p:nvSpPr>
        <p:spPr>
          <a:xfrm>
            <a:off x="411480" y="1847088"/>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3" name="Shape 11"/>
          <p:cNvSpPr/>
          <p:nvPr/>
        </p:nvSpPr>
        <p:spPr>
          <a:xfrm>
            <a:off x="530352" y="1975104"/>
            <a:ext cx="384048" cy="384048"/>
          </a:xfrm>
          <a:prstGeom prst="ellipse">
            <a:avLst/>
          </a:prstGeom>
          <a:solidFill>
            <a:srgbClr val="2563EB"/>
          </a:solidFill>
          <a:ln w="12700">
            <a:solidFill>
              <a:srgbClr val="2563EB"/>
            </a:solidFill>
            <a:prstDash val="solid"/>
          </a:ln>
        </p:spPr>
      </p:sp>
      <p:sp>
        <p:nvSpPr>
          <p:cNvPr id="14" name="Text 12"/>
          <p:cNvSpPr/>
          <p:nvPr/>
        </p:nvSpPr>
        <p:spPr>
          <a:xfrm>
            <a:off x="530352" y="1975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024128" y="1901952"/>
            <a:ext cx="2560320" cy="256032"/>
          </a:xfrm>
          <a:prstGeom prst="rect">
            <a:avLst/>
          </a:prstGeom>
          <a:noFill/>
          <a:ln/>
        </p:spPr>
        <p:txBody>
          <a:bodyPr wrap="square"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Enforce JSON-only output</a:t>
            </a:r>
            <a:endParaRPr lang="en-US" sz="1200" dirty="0"/>
          </a:p>
        </p:txBody>
      </p:sp>
      <p:sp>
        <p:nvSpPr>
          <p:cNvPr id="16" name="Text 14"/>
          <p:cNvSpPr/>
          <p:nvPr/>
        </p:nvSpPr>
        <p:spPr>
          <a:xfrm>
            <a:off x="1024128" y="2176272"/>
            <a:ext cx="7132320" cy="237744"/>
          </a:xfrm>
          <a:prstGeom prst="rect">
            <a:avLst/>
          </a:prstGeom>
          <a:noFill/>
          <a:ln/>
        </p:spPr>
        <p:txBody>
          <a:bodyPr wrap="square" rtlCol="0" anchor="ctr"/>
          <a:lstStyle/>
          <a:p>
            <a:pPr indent="0" marL="0">
              <a:buNone/>
            </a:pPr>
            <a:r>
              <a:rPr lang="en-US" sz="1050" dirty="0">
                <a:solidFill>
                  <a:srgbClr val="CBD5E1"/>
                </a:solidFill>
                <a:latin typeface="Courier New" pitchFamily="34" charset="0"/>
                <a:ea typeface="Courier New" pitchFamily="34" charset="-122"/>
                <a:cs typeface="Courier New" pitchFamily="34" charset="-120"/>
              </a:rPr>
              <a:t>Return JSON only. No explanation. No markdown fences.</a:t>
            </a:r>
            <a:endParaRPr lang="en-US" sz="1050" dirty="0"/>
          </a:p>
        </p:txBody>
      </p:sp>
      <p:sp>
        <p:nvSpPr>
          <p:cNvPr id="17" name="Text 15"/>
          <p:cNvSpPr/>
          <p:nvPr/>
        </p:nvSpPr>
        <p:spPr>
          <a:xfrm>
            <a:off x="411480" y="1847088"/>
            <a:ext cx="0" cy="0"/>
          </a:xfrm>
          <a:prstGeom prst="rect">
            <a:avLst/>
          </a:prstGeom>
          <a:noFill/>
          <a:ln/>
        </p:spPr>
        <p:txBody>
          <a:bodyPr wrap="square" rtlCol="0" anchor="ctr"/>
          <a:lstStyle/>
          <a:p>
            <a:pPr indent="0" marL="0">
              <a:buNone/>
            </a:pPr>
            <a:r>
              <a:rPr lang="en-US" dirty="0">
                <a:solidFill>
                  <a:srgbClr val="000000"/>
                </a:solidFill>
              </a:rPr>
              <a:t>REMOVE THIS →</a:t>
            </a:r>
            <a:endParaRPr lang="en-US" dirty="0"/>
          </a:p>
        </p:txBody>
      </p:sp>
      <p:sp>
        <p:nvSpPr>
          <p:cNvPr id="18" name="Shape 16"/>
          <p:cNvSpPr/>
          <p:nvPr/>
        </p:nvSpPr>
        <p:spPr>
          <a:xfrm>
            <a:off x="411480" y="2596896"/>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9" name="Shape 17"/>
          <p:cNvSpPr/>
          <p:nvPr/>
        </p:nvSpPr>
        <p:spPr>
          <a:xfrm>
            <a:off x="530352" y="2724912"/>
            <a:ext cx="384048" cy="384048"/>
          </a:xfrm>
          <a:prstGeom prst="ellipse">
            <a:avLst/>
          </a:prstGeom>
          <a:solidFill>
            <a:srgbClr val="10B981"/>
          </a:solidFill>
          <a:ln w="12700">
            <a:solidFill>
              <a:srgbClr val="10B981"/>
            </a:solidFill>
            <a:prstDash val="solid"/>
          </a:ln>
        </p:spPr>
      </p:sp>
      <p:sp>
        <p:nvSpPr>
          <p:cNvPr id="20" name="Text 18"/>
          <p:cNvSpPr/>
          <p:nvPr/>
        </p:nvSpPr>
        <p:spPr>
          <a:xfrm>
            <a:off x="530352"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1024128" y="2651760"/>
            <a:ext cx="2560320" cy="256032"/>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Specify required keys</a:t>
            </a:r>
            <a:endParaRPr lang="en-US" sz="1200" dirty="0"/>
          </a:p>
        </p:txBody>
      </p:sp>
      <p:sp>
        <p:nvSpPr>
          <p:cNvPr id="22" name="Text 20"/>
          <p:cNvSpPr/>
          <p:nvPr/>
        </p:nvSpPr>
        <p:spPr>
          <a:xfrm>
            <a:off x="1024128" y="2926080"/>
            <a:ext cx="7132320" cy="237744"/>
          </a:xfrm>
          <a:prstGeom prst="rect">
            <a:avLst/>
          </a:prstGeom>
          <a:noFill/>
          <a:ln/>
        </p:spPr>
        <p:txBody>
          <a:bodyPr wrap="square" rtlCol="0" anchor="ctr"/>
          <a:lstStyle/>
          <a:p>
            <a:pPr indent="0" marL="0">
              <a:buNone/>
            </a:pPr>
            <a:r>
              <a:rPr lang="en-US" sz="1050" dirty="0">
                <a:solidFill>
                  <a:srgbClr val="CBD5E1"/>
                </a:solidFill>
                <a:latin typeface="Courier New" pitchFamily="34" charset="0"/>
                <a:ea typeface="Courier New" pitchFamily="34" charset="-122"/>
                <a:cs typeface="Courier New" pitchFamily="34" charset="-120"/>
              </a:rPr>
              <a:t>Required keys: issue_category, sentiment, urgency, ...</a:t>
            </a:r>
            <a:endParaRPr lang="en-US" sz="1050" dirty="0"/>
          </a:p>
        </p:txBody>
      </p:sp>
      <p:sp>
        <p:nvSpPr>
          <p:cNvPr id="23" name="Text 21"/>
          <p:cNvSpPr/>
          <p:nvPr/>
        </p:nvSpPr>
        <p:spPr>
          <a:xfrm>
            <a:off x="411480" y="2596896"/>
            <a:ext cx="0" cy="0"/>
          </a:xfrm>
          <a:prstGeom prst="rect">
            <a:avLst/>
          </a:prstGeom>
          <a:noFill/>
          <a:ln/>
        </p:spPr>
        <p:txBody>
          <a:bodyPr wrap="square" rtlCol="0" anchor="ctr"/>
          <a:lstStyle/>
          <a:p>
            <a:pPr indent="0" marL="0">
              <a:buNone/>
            </a:pPr>
            <a:r>
              <a:rPr lang="en-US" dirty="0">
                <a:solidFill>
                  <a:srgbClr val="000000"/>
                </a:solidFill>
              </a:rPr>
              <a:t>REMOVE THIS →</a:t>
            </a:r>
            <a:endParaRPr lang="en-US" dirty="0"/>
          </a:p>
        </p:txBody>
      </p:sp>
      <p:sp>
        <p:nvSpPr>
          <p:cNvPr id="24" name="Shape 22"/>
          <p:cNvSpPr/>
          <p:nvPr/>
        </p:nvSpPr>
        <p:spPr>
          <a:xfrm>
            <a:off x="411480" y="3346704"/>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5" name="Shape 23"/>
          <p:cNvSpPr/>
          <p:nvPr/>
        </p:nvSpPr>
        <p:spPr>
          <a:xfrm>
            <a:off x="530352" y="3474720"/>
            <a:ext cx="384048" cy="384048"/>
          </a:xfrm>
          <a:prstGeom prst="ellipse">
            <a:avLst/>
          </a:prstGeom>
          <a:solidFill>
            <a:srgbClr val="F59E0B"/>
          </a:solidFill>
          <a:ln w="12700">
            <a:solidFill>
              <a:srgbClr val="F59E0B"/>
            </a:solidFill>
            <a:prstDash val="solid"/>
          </a:ln>
        </p:spPr>
      </p:sp>
      <p:sp>
        <p:nvSpPr>
          <p:cNvPr id="26" name="Text 24"/>
          <p:cNvSpPr/>
          <p:nvPr/>
        </p:nvSpPr>
        <p:spPr>
          <a:xfrm>
            <a:off x="530352" y="3474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1024128" y="3401568"/>
            <a:ext cx="2560320" cy="256032"/>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Enumerate allowed values</a:t>
            </a:r>
            <a:endParaRPr lang="en-US" sz="1200" dirty="0"/>
          </a:p>
        </p:txBody>
      </p:sp>
      <p:sp>
        <p:nvSpPr>
          <p:cNvPr id="28" name="Text 26"/>
          <p:cNvSpPr/>
          <p:nvPr/>
        </p:nvSpPr>
        <p:spPr>
          <a:xfrm>
            <a:off x="1024128" y="3675888"/>
            <a:ext cx="7132320" cy="237744"/>
          </a:xfrm>
          <a:prstGeom prst="rect">
            <a:avLst/>
          </a:prstGeom>
          <a:noFill/>
          <a:ln/>
        </p:spPr>
        <p:txBody>
          <a:bodyPr wrap="square" rtlCol="0" anchor="ctr"/>
          <a:lstStyle/>
          <a:p>
            <a:pPr indent="0" marL="0">
              <a:buNone/>
            </a:pPr>
            <a:r>
              <a:rPr lang="en-US" sz="1050" dirty="0">
                <a:solidFill>
                  <a:srgbClr val="CBD5E1"/>
                </a:solidFill>
                <a:latin typeface="Courier New" pitchFamily="34" charset="0"/>
                <a:ea typeface="Courier New" pitchFamily="34" charset="-122"/>
                <a:cs typeface="Courier New" pitchFamily="34" charset="-120"/>
              </a:rPr>
              <a:t>Allowed issue_category: DELIVERY_DELAY | DAMAGED_ITEM | ...</a:t>
            </a:r>
            <a:endParaRPr lang="en-US" sz="1050" dirty="0"/>
          </a:p>
        </p:txBody>
      </p:sp>
      <p:sp>
        <p:nvSpPr>
          <p:cNvPr id="29" name="Text 27"/>
          <p:cNvSpPr/>
          <p:nvPr/>
        </p:nvSpPr>
        <p:spPr>
          <a:xfrm>
            <a:off x="411480" y="3346704"/>
            <a:ext cx="0" cy="0"/>
          </a:xfrm>
          <a:prstGeom prst="rect">
            <a:avLst/>
          </a:prstGeom>
          <a:noFill/>
          <a:ln/>
        </p:spPr>
        <p:txBody>
          <a:bodyPr wrap="square" rtlCol="0" anchor="ctr"/>
          <a:lstStyle/>
          <a:p>
            <a:pPr indent="0" marL="0">
              <a:buNone/>
            </a:pPr>
            <a:r>
              <a:rPr lang="en-US" dirty="0">
                <a:solidFill>
                  <a:srgbClr val="000000"/>
                </a:solidFill>
              </a:rPr>
              <a:t>REMOVE THIS →</a:t>
            </a:r>
            <a:endParaRPr lang="en-US" dirty="0"/>
          </a:p>
        </p:txBody>
      </p:sp>
      <p:sp>
        <p:nvSpPr>
          <p:cNvPr id="30" name="Shape 28"/>
          <p:cNvSpPr/>
          <p:nvPr/>
        </p:nvSpPr>
        <p:spPr>
          <a:xfrm>
            <a:off x="411480" y="4096512"/>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31" name="Shape 29"/>
          <p:cNvSpPr/>
          <p:nvPr/>
        </p:nvSpPr>
        <p:spPr>
          <a:xfrm>
            <a:off x="530352" y="4224528"/>
            <a:ext cx="384048" cy="384048"/>
          </a:xfrm>
          <a:prstGeom prst="ellipse">
            <a:avLst/>
          </a:prstGeom>
          <a:solidFill>
            <a:srgbClr val="A855F7"/>
          </a:solidFill>
          <a:ln w="12700">
            <a:solidFill>
              <a:srgbClr val="A855F7"/>
            </a:solidFill>
            <a:prstDash val="solid"/>
          </a:ln>
        </p:spPr>
      </p:sp>
      <p:sp>
        <p:nvSpPr>
          <p:cNvPr id="32" name="Text 30"/>
          <p:cNvSpPr/>
          <p:nvPr/>
        </p:nvSpPr>
        <p:spPr>
          <a:xfrm>
            <a:off x="530352" y="4224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3" name="Text 31"/>
          <p:cNvSpPr/>
          <p:nvPr/>
        </p:nvSpPr>
        <p:spPr>
          <a:xfrm>
            <a:off x="1024128" y="4151376"/>
            <a:ext cx="2560320" cy="256032"/>
          </a:xfrm>
          <a:prstGeom prst="rect">
            <a:avLst/>
          </a:prstGeom>
          <a:noFill/>
          <a:ln/>
        </p:spPr>
        <p:txBody>
          <a:bodyPr wrap="square" rtlCol="0" anchor="ctr"/>
          <a:lstStyle/>
          <a:p>
            <a:pPr indent="0" marL="0">
              <a:buNone/>
            </a:pPr>
            <a:r>
              <a:rPr lang="en-US" sz="1200" b="1" dirty="0">
                <a:solidFill>
                  <a:srgbClr val="A855F7"/>
                </a:solidFill>
                <a:latin typeface="Calibri" pitchFamily="34" charset="0"/>
                <a:ea typeface="Calibri" pitchFamily="34" charset="-122"/>
                <a:cs typeface="Calibri" pitchFamily="34" charset="-120"/>
              </a:rPr>
              <a:t>Add field-specific rules</a:t>
            </a:r>
            <a:endParaRPr lang="en-US" sz="1200" dirty="0"/>
          </a:p>
        </p:txBody>
      </p:sp>
      <p:sp>
        <p:nvSpPr>
          <p:cNvPr id="34" name="Text 32"/>
          <p:cNvSpPr/>
          <p:nvPr/>
        </p:nvSpPr>
        <p:spPr>
          <a:xfrm>
            <a:off x="1024128" y="4425696"/>
            <a:ext cx="7132320" cy="237744"/>
          </a:xfrm>
          <a:prstGeom prst="rect">
            <a:avLst/>
          </a:prstGeom>
          <a:noFill/>
          <a:ln/>
        </p:spPr>
        <p:txBody>
          <a:bodyPr wrap="square" rtlCol="0" anchor="ctr"/>
          <a:lstStyle/>
          <a:p>
            <a:pPr indent="0" marL="0">
              <a:buNone/>
            </a:pPr>
            <a:r>
              <a:rPr lang="en-US" sz="1050" dirty="0">
                <a:solidFill>
                  <a:srgbClr val="CBD5E1"/>
                </a:solidFill>
                <a:latin typeface="Courier New" pitchFamily="34" charset="0"/>
                <a:ea typeface="Courier New" pitchFamily="34" charset="-122"/>
                <a:cs typeface="Courier New" pitchFamily="34" charset="-120"/>
              </a:rPr>
              <a:t>pii_redacted_message must mask phones &amp; emails.</a:t>
            </a:r>
            <a:endParaRPr lang="en-US" sz="1050" dirty="0"/>
          </a:p>
        </p:txBody>
      </p:sp>
      <p:sp>
        <p:nvSpPr>
          <p:cNvPr id="35" name="Text 33"/>
          <p:cNvSpPr/>
          <p:nvPr/>
        </p:nvSpPr>
        <p:spPr>
          <a:xfrm>
            <a:off x="411480" y="4096512"/>
            <a:ext cx="0" cy="0"/>
          </a:xfrm>
          <a:prstGeom prst="rect">
            <a:avLst/>
          </a:prstGeom>
          <a:noFill/>
          <a:ln/>
        </p:spPr>
        <p:txBody>
          <a:bodyPr wrap="square" rtlCol="0" anchor="ctr"/>
          <a:lstStyle/>
          <a:p>
            <a:pPr indent="0" marL="0">
              <a:buNone/>
            </a:pPr>
            <a:r>
              <a:rPr lang="en-US" dirty="0">
                <a:solidFill>
                  <a:srgbClr val="000000"/>
                </a:solidFill>
              </a:rPr>
              <a:t>REMOVE THIS →</a:t>
            </a:r>
            <a:endParaRPr lang="en-US" dirty="0"/>
          </a:p>
        </p:txBody>
      </p:sp>
      <p:sp>
        <p:nvSpPr>
          <p:cNvPr id="36" name="Text 34"/>
          <p:cNvSpPr/>
          <p:nvPr/>
        </p:nvSpPr>
        <p:spPr>
          <a:xfrm>
            <a:off x="411480" y="4828032"/>
            <a:ext cx="8321040" cy="256032"/>
          </a:xfrm>
          <a:prstGeom prst="rect">
            <a:avLst/>
          </a:prstGeom>
          <a:noFill/>
          <a:ln/>
        </p:spPr>
        <p:txBody>
          <a:bodyPr wrap="square" rtlCol="0" anchor="ctr"/>
          <a:lstStyle/>
          <a:p>
            <a:pPr algn="ctr" indent="0" marL="0">
              <a:buNone/>
            </a:pPr>
            <a:r>
              <a:rPr lang="en-US" sz="1150" i="1" dirty="0">
                <a:solidFill>
                  <a:srgbClr val="F59E0B"/>
                </a:solidFill>
                <a:latin typeface="Calibri" pitchFamily="34" charset="0"/>
                <a:ea typeface="Calibri" pitchFamily="34" charset="-122"/>
                <a:cs typeface="Calibri" pitchFamily="34" charset="-120"/>
              </a:rPr>
              <a:t>Remove any layer and a specific failure mode appears. Every line exists for a reason.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 — ENRICHMENT</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Allowed Values Matter for Downstream SQL</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097280"/>
            <a:ext cx="4023360" cy="3200400"/>
          </a:xfrm>
          <a:prstGeom prst="roundRect">
            <a:avLst>
              <a:gd name="adj" fmla="val 2857"/>
            </a:avLst>
          </a:prstGeom>
          <a:solidFill>
            <a:srgbClr val="1A0A0A"/>
          </a:solidFill>
          <a:ln w="12700">
            <a:solidFill>
              <a:srgbClr val="1A0A0A"/>
            </a:solidFill>
            <a:prstDash val="solid"/>
          </a:ln>
          <a:effectLst>
            <a:outerShdw sx="100000" sy="100000" kx="0" ky="0" algn="bl" rotWithShape="0" blurRad="101600" dist="38100" dir="2700000">
              <a:srgbClr val="000000">
                <a:alpha val="18000"/>
              </a:srgbClr>
            </a:outerShdw>
          </a:effectLst>
        </p:spPr>
      </p:sp>
      <p:sp>
        <p:nvSpPr>
          <p:cNvPr id="7" name="Shape 5"/>
          <p:cNvSpPr/>
          <p:nvPr/>
        </p:nvSpPr>
        <p:spPr>
          <a:xfrm>
            <a:off x="502920" y="1170432"/>
            <a:ext cx="3840480" cy="320040"/>
          </a:xfrm>
          <a:prstGeom prst="roundRect">
            <a:avLst>
              <a:gd name="adj" fmla="val 20000"/>
            </a:avLst>
          </a:prstGeom>
          <a:solidFill>
            <a:srgbClr val="EF4444"/>
          </a:solidFill>
          <a:ln w="12700">
            <a:solidFill>
              <a:srgbClr val="EF4444"/>
            </a:solidFill>
            <a:prstDash val="solid"/>
          </a:ln>
        </p:spPr>
      </p:sp>
      <p:sp>
        <p:nvSpPr>
          <p:cNvPr id="8" name="Text 6"/>
          <p:cNvSpPr/>
          <p:nvPr/>
        </p:nvSpPr>
        <p:spPr>
          <a:xfrm>
            <a:off x="502920" y="1170432"/>
            <a:ext cx="38404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WITHOUT allowed values</a:t>
            </a:r>
            <a:endParaRPr lang="en-US" sz="1200" dirty="0"/>
          </a:p>
        </p:txBody>
      </p:sp>
      <p:sp>
        <p:nvSpPr>
          <p:cNvPr id="9" name="Text 7"/>
          <p:cNvSpPr/>
          <p:nvPr/>
        </p:nvSpPr>
        <p:spPr>
          <a:xfrm>
            <a:off x="594360" y="1581912"/>
            <a:ext cx="3611880" cy="246888"/>
          </a:xfrm>
          <a:prstGeom prst="rect">
            <a:avLst/>
          </a:prstGeom>
          <a:noFill/>
          <a:ln/>
        </p:spPr>
        <p:txBody>
          <a:bodyPr wrap="square" rtlCol="0" anchor="ctr"/>
          <a:lstStyle/>
          <a:p>
            <a:pPr indent="0" marL="0">
              <a:buNone/>
            </a:pPr>
            <a:r>
              <a:rPr lang="en-US" sz="1100" dirty="0">
                <a:solidFill>
                  <a:srgbClr val="FC9C9C"/>
                </a:solidFill>
                <a:latin typeface="Courier New" pitchFamily="34" charset="0"/>
                <a:ea typeface="Courier New" pitchFamily="34" charset="-122"/>
                <a:cs typeface="Courier New" pitchFamily="34" charset="-120"/>
              </a:rPr>
              <a:t>"LATE_PACKAGE"</a:t>
            </a:r>
            <a:endParaRPr lang="en-US" sz="1100" dirty="0"/>
          </a:p>
        </p:txBody>
      </p:sp>
      <p:sp>
        <p:nvSpPr>
          <p:cNvPr id="10" name="Text 8"/>
          <p:cNvSpPr/>
          <p:nvPr/>
        </p:nvSpPr>
        <p:spPr>
          <a:xfrm>
            <a:off x="594360" y="1856232"/>
            <a:ext cx="3611880" cy="246888"/>
          </a:xfrm>
          <a:prstGeom prst="rect">
            <a:avLst/>
          </a:prstGeom>
          <a:noFill/>
          <a:ln/>
        </p:spPr>
        <p:txBody>
          <a:bodyPr wrap="square" rtlCol="0" anchor="ctr"/>
          <a:lstStyle/>
          <a:p>
            <a:pPr indent="0" marL="0">
              <a:buNone/>
            </a:pPr>
            <a:r>
              <a:rPr lang="en-US" sz="1100" dirty="0">
                <a:solidFill>
                  <a:srgbClr val="FC9C9C"/>
                </a:solidFill>
                <a:latin typeface="Courier New" pitchFamily="34" charset="0"/>
                <a:ea typeface="Courier New" pitchFamily="34" charset="-122"/>
                <a:cs typeface="Courier New" pitchFamily="34" charset="-120"/>
              </a:rPr>
              <a:t>"delivery issue"</a:t>
            </a:r>
            <a:endParaRPr lang="en-US" sz="1100" dirty="0"/>
          </a:p>
        </p:txBody>
      </p:sp>
      <p:sp>
        <p:nvSpPr>
          <p:cNvPr id="11" name="Text 9"/>
          <p:cNvSpPr/>
          <p:nvPr/>
        </p:nvSpPr>
        <p:spPr>
          <a:xfrm>
            <a:off x="594360" y="2130552"/>
            <a:ext cx="3611880" cy="246888"/>
          </a:xfrm>
          <a:prstGeom prst="rect">
            <a:avLst/>
          </a:prstGeom>
          <a:noFill/>
          <a:ln/>
        </p:spPr>
        <p:txBody>
          <a:bodyPr wrap="square" rtlCol="0" anchor="ctr"/>
          <a:lstStyle/>
          <a:p>
            <a:pPr indent="0" marL="0">
              <a:buNone/>
            </a:pPr>
            <a:r>
              <a:rPr lang="en-US" sz="1100" dirty="0">
                <a:solidFill>
                  <a:srgbClr val="FC9C9C"/>
                </a:solidFill>
                <a:latin typeface="Courier New" pitchFamily="34" charset="0"/>
                <a:ea typeface="Courier New" pitchFamily="34" charset="-122"/>
                <a:cs typeface="Courier New" pitchFamily="34" charset="-120"/>
              </a:rPr>
              <a:t>"Delivery Problem"</a:t>
            </a:r>
            <a:endParaRPr lang="en-US" sz="1100" dirty="0"/>
          </a:p>
        </p:txBody>
      </p:sp>
      <p:sp>
        <p:nvSpPr>
          <p:cNvPr id="12" name="Text 10"/>
          <p:cNvSpPr/>
          <p:nvPr/>
        </p:nvSpPr>
        <p:spPr>
          <a:xfrm>
            <a:off x="594360" y="2404872"/>
            <a:ext cx="3611880" cy="246888"/>
          </a:xfrm>
          <a:prstGeom prst="rect">
            <a:avLst/>
          </a:prstGeom>
          <a:noFill/>
          <a:ln/>
        </p:spPr>
        <p:txBody>
          <a:bodyPr wrap="square" rtlCol="0" anchor="ctr"/>
          <a:lstStyle/>
          <a:p>
            <a:pPr indent="0" marL="0">
              <a:buNone/>
            </a:pPr>
            <a:r>
              <a:rPr lang="en-US" sz="1100" dirty="0">
                <a:solidFill>
                  <a:srgbClr val="FC9C9C"/>
                </a:solidFill>
                <a:latin typeface="Courier New" pitchFamily="34" charset="0"/>
                <a:ea typeface="Courier New" pitchFamily="34" charset="-122"/>
                <a:cs typeface="Courier New" pitchFamily="34" charset="-120"/>
              </a:rPr>
              <a:t>"shipping_delay"</a:t>
            </a:r>
            <a:endParaRPr lang="en-US" sz="1100" dirty="0"/>
          </a:p>
        </p:txBody>
      </p:sp>
      <p:sp>
        <p:nvSpPr>
          <p:cNvPr id="13" name="Text 11"/>
          <p:cNvSpPr/>
          <p:nvPr/>
        </p:nvSpPr>
        <p:spPr>
          <a:xfrm>
            <a:off x="594360" y="2679192"/>
            <a:ext cx="3611880" cy="246888"/>
          </a:xfrm>
          <a:prstGeom prst="rect">
            <a:avLst/>
          </a:prstGeom>
          <a:noFill/>
          <a:ln/>
        </p:spPr>
        <p:txBody>
          <a:bodyPr wrap="square" rtlCol="0" anchor="ctr"/>
          <a:lstStyle/>
          <a:p>
            <a:pPr indent="0" marL="0">
              <a:buNone/>
            </a:pPr>
            <a:r>
              <a:rPr lang="en-US" sz="1100" dirty="0">
                <a:solidFill>
                  <a:srgbClr val="FC9C9C"/>
                </a:solidFill>
                <a:latin typeface="Courier New" pitchFamily="34" charset="0"/>
                <a:ea typeface="Courier New" pitchFamily="34" charset="-122"/>
                <a:cs typeface="Courier New" pitchFamily="34" charset="-120"/>
              </a:rPr>
              <a:t>"order_delayed"</a:t>
            </a:r>
            <a:endParaRPr lang="en-US" sz="1100" dirty="0"/>
          </a:p>
        </p:txBody>
      </p:sp>
      <p:sp>
        <p:nvSpPr>
          <p:cNvPr id="14" name="Text 12"/>
          <p:cNvSpPr/>
          <p:nvPr/>
        </p:nvSpPr>
        <p:spPr>
          <a:xfrm>
            <a:off x="594360" y="2953512"/>
            <a:ext cx="3611880" cy="246888"/>
          </a:xfrm>
          <a:prstGeom prst="rect">
            <a:avLst/>
          </a:prstGeom>
          <a:noFill/>
          <a:ln/>
        </p:spPr>
        <p:txBody>
          <a:bodyPr wrap="square" rtlCol="0" anchor="ctr"/>
          <a:lstStyle/>
          <a:p>
            <a:pPr indent="0" marL="0">
              <a:buNone/>
            </a:pPr>
            <a:r>
              <a:rPr lang="en-US" sz="1100" dirty="0">
                <a:solidFill>
                  <a:srgbClr val="FC9C9C"/>
                </a:solidFill>
                <a:latin typeface="Courier New" pitchFamily="34" charset="0"/>
                <a:ea typeface="Courier New" pitchFamily="34" charset="-122"/>
                <a:cs typeface="Courier New" pitchFamily="34" charset="-120"/>
              </a:rPr>
              <a:t>"TRANSIT_ISSUE"</a:t>
            </a:r>
            <a:endParaRPr lang="en-US" sz="1100" dirty="0"/>
          </a:p>
        </p:txBody>
      </p:sp>
      <p:sp>
        <p:nvSpPr>
          <p:cNvPr id="15" name="Text 13"/>
          <p:cNvSpPr/>
          <p:nvPr/>
        </p:nvSpPr>
        <p:spPr>
          <a:xfrm>
            <a:off x="594360" y="3227832"/>
            <a:ext cx="3611880" cy="246888"/>
          </a:xfrm>
          <a:prstGeom prst="rect">
            <a:avLst/>
          </a:prstGeom>
          <a:noFill/>
          <a:ln/>
        </p:spPr>
        <p:txBody>
          <a:bodyPr wrap="square" rtlCol="0" anchor="ctr"/>
          <a:lstStyle/>
          <a:p>
            <a:pPr indent="0" marL="0">
              <a:buNone/>
            </a:pPr>
            <a:r>
              <a:rPr lang="en-US" sz="1100" dirty="0">
                <a:solidFill>
                  <a:srgbClr val="FC9C9C"/>
                </a:solidFill>
                <a:latin typeface="Courier New" pitchFamily="34" charset="0"/>
                <a:ea typeface="Courier New" pitchFamily="34" charset="-122"/>
                <a:cs typeface="Courier New" pitchFamily="34" charset="-120"/>
              </a:rPr>
              <a:t>"late delivery"</a:t>
            </a:r>
            <a:endParaRPr lang="en-US" sz="1100" dirty="0"/>
          </a:p>
        </p:txBody>
      </p:sp>
      <p:sp>
        <p:nvSpPr>
          <p:cNvPr id="16" name="Text 14"/>
          <p:cNvSpPr/>
          <p:nvPr/>
        </p:nvSpPr>
        <p:spPr>
          <a:xfrm>
            <a:off x="594360" y="3502152"/>
            <a:ext cx="3611880" cy="246888"/>
          </a:xfrm>
          <a:prstGeom prst="rect">
            <a:avLst/>
          </a:prstGeom>
          <a:noFill/>
          <a:ln/>
        </p:spPr>
        <p:txBody>
          <a:bodyPr wrap="square" rtlCol="0" anchor="ctr"/>
          <a:lstStyle/>
          <a:p>
            <a:pPr indent="0" marL="0">
              <a:buNone/>
            </a:pPr>
            <a:r>
              <a:rPr lang="en-US" sz="1100" dirty="0">
                <a:solidFill>
                  <a:srgbClr val="FC9C9C"/>
                </a:solidFill>
                <a:latin typeface="Courier New" pitchFamily="34" charset="0"/>
                <a:ea typeface="Courier New" pitchFamily="34" charset="-122"/>
                <a:cs typeface="Courier New" pitchFamily="34" charset="-120"/>
              </a:rPr>
              <a:t>"DELIVERY_PROBLEM"</a:t>
            </a:r>
            <a:endParaRPr lang="en-US" sz="1100" dirty="0"/>
          </a:p>
        </p:txBody>
      </p:sp>
      <p:sp>
        <p:nvSpPr>
          <p:cNvPr id="17" name="Text 15"/>
          <p:cNvSpPr/>
          <p:nvPr/>
        </p:nvSpPr>
        <p:spPr>
          <a:xfrm>
            <a:off x="594360" y="3822192"/>
            <a:ext cx="3566160" cy="365760"/>
          </a:xfrm>
          <a:prstGeom prst="rect">
            <a:avLst/>
          </a:prstGeom>
          <a:noFill/>
          <a:ln/>
        </p:spPr>
        <p:txBody>
          <a:bodyPr wrap="square"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8 different values</a:t>
            </a:r>
            <a:endParaRPr lang="en-US" sz="1200" dirty="0"/>
          </a:p>
          <a:p>
            <a:pPr indent="0" marL="0">
              <a:buNone/>
            </a:pPr>
            <a:r>
              <a:rPr lang="en-US" sz="1200" b="1" dirty="0">
                <a:solidFill>
                  <a:srgbClr val="EF4444"/>
                </a:solidFill>
                <a:latin typeface="Calibri" pitchFamily="34" charset="0"/>
                <a:ea typeface="Calibri" pitchFamily="34" charset="-122"/>
                <a:cs typeface="Calibri" pitchFamily="34" charset="-120"/>
              </a:rPr>
              <a:t>for the SAME issue type!</a:t>
            </a:r>
            <a:endParaRPr lang="en-US" sz="1200" dirty="0"/>
          </a:p>
        </p:txBody>
      </p:sp>
      <p:sp>
        <p:nvSpPr>
          <p:cNvPr id="18" name="Shape 16"/>
          <p:cNvSpPr/>
          <p:nvPr/>
        </p:nvSpPr>
        <p:spPr>
          <a:xfrm>
            <a:off x="4663440" y="1097280"/>
            <a:ext cx="4023360" cy="3200400"/>
          </a:xfrm>
          <a:prstGeom prst="roundRect">
            <a:avLst>
              <a:gd name="adj" fmla="val 2857"/>
            </a:avLst>
          </a:prstGeom>
          <a:solidFill>
            <a:srgbClr val="0A1A0A"/>
          </a:solidFill>
          <a:ln w="12700">
            <a:solidFill>
              <a:srgbClr val="0A1A0A"/>
            </a:solidFill>
            <a:prstDash val="solid"/>
          </a:ln>
          <a:effectLst>
            <a:outerShdw sx="100000" sy="100000" kx="0" ky="0" algn="bl" rotWithShape="0" blurRad="101600" dist="38100" dir="2700000">
              <a:srgbClr val="000000">
                <a:alpha val="18000"/>
              </a:srgbClr>
            </a:outerShdw>
          </a:effectLst>
        </p:spPr>
      </p:sp>
      <p:sp>
        <p:nvSpPr>
          <p:cNvPr id="19" name="Shape 17"/>
          <p:cNvSpPr/>
          <p:nvPr/>
        </p:nvSpPr>
        <p:spPr>
          <a:xfrm>
            <a:off x="4754880" y="1170432"/>
            <a:ext cx="3840480" cy="320040"/>
          </a:xfrm>
          <a:prstGeom prst="roundRect">
            <a:avLst>
              <a:gd name="adj" fmla="val 20000"/>
            </a:avLst>
          </a:prstGeom>
          <a:solidFill>
            <a:srgbClr val="10B981"/>
          </a:solidFill>
          <a:ln w="12700">
            <a:solidFill>
              <a:srgbClr val="10B981"/>
            </a:solidFill>
            <a:prstDash val="solid"/>
          </a:ln>
        </p:spPr>
      </p:sp>
      <p:sp>
        <p:nvSpPr>
          <p:cNvPr id="20" name="Text 18"/>
          <p:cNvSpPr/>
          <p:nvPr/>
        </p:nvSpPr>
        <p:spPr>
          <a:xfrm>
            <a:off x="4754880" y="1170432"/>
            <a:ext cx="38404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WITH allowed values</a:t>
            </a:r>
            <a:endParaRPr lang="en-US" sz="1200" dirty="0"/>
          </a:p>
        </p:txBody>
      </p:sp>
      <p:sp>
        <p:nvSpPr>
          <p:cNvPr id="21" name="Text 19"/>
          <p:cNvSpPr/>
          <p:nvPr/>
        </p:nvSpPr>
        <p:spPr>
          <a:xfrm>
            <a:off x="4846320" y="1581912"/>
            <a:ext cx="3611880" cy="246888"/>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"DELIVERY_DELAY"</a:t>
            </a:r>
            <a:endParaRPr lang="en-US" sz="1100" dirty="0"/>
          </a:p>
        </p:txBody>
      </p:sp>
      <p:sp>
        <p:nvSpPr>
          <p:cNvPr id="22" name="Text 20"/>
          <p:cNvSpPr/>
          <p:nvPr/>
        </p:nvSpPr>
        <p:spPr>
          <a:xfrm>
            <a:off x="4846320" y="1856232"/>
            <a:ext cx="3611880" cy="246888"/>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"DELIVERY_DELAY"</a:t>
            </a:r>
            <a:endParaRPr lang="en-US" sz="1100" dirty="0"/>
          </a:p>
        </p:txBody>
      </p:sp>
      <p:sp>
        <p:nvSpPr>
          <p:cNvPr id="23" name="Text 21"/>
          <p:cNvSpPr/>
          <p:nvPr/>
        </p:nvSpPr>
        <p:spPr>
          <a:xfrm>
            <a:off x="4846320" y="2130552"/>
            <a:ext cx="3611880" cy="246888"/>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"DELIVERY_DELAY"</a:t>
            </a:r>
            <a:endParaRPr lang="en-US" sz="1100" dirty="0"/>
          </a:p>
        </p:txBody>
      </p:sp>
      <p:sp>
        <p:nvSpPr>
          <p:cNvPr id="24" name="Text 22"/>
          <p:cNvSpPr/>
          <p:nvPr/>
        </p:nvSpPr>
        <p:spPr>
          <a:xfrm>
            <a:off x="4846320" y="2404872"/>
            <a:ext cx="3611880" cy="246888"/>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"DELIVERY_DELAY"</a:t>
            </a:r>
            <a:endParaRPr lang="en-US" sz="1100" dirty="0"/>
          </a:p>
        </p:txBody>
      </p:sp>
      <p:sp>
        <p:nvSpPr>
          <p:cNvPr id="25" name="Text 23"/>
          <p:cNvSpPr/>
          <p:nvPr/>
        </p:nvSpPr>
        <p:spPr>
          <a:xfrm>
            <a:off x="4846320" y="2679192"/>
            <a:ext cx="3611880" cy="246888"/>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"DELIVERY_DELAY"</a:t>
            </a:r>
            <a:endParaRPr lang="en-US" sz="1100" dirty="0"/>
          </a:p>
        </p:txBody>
      </p:sp>
      <p:sp>
        <p:nvSpPr>
          <p:cNvPr id="26" name="Text 24"/>
          <p:cNvSpPr/>
          <p:nvPr/>
        </p:nvSpPr>
        <p:spPr>
          <a:xfrm>
            <a:off x="4846320" y="2953512"/>
            <a:ext cx="3611880" cy="246888"/>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"DELIVERY_DELAY"</a:t>
            </a:r>
            <a:endParaRPr lang="en-US" sz="1100" dirty="0"/>
          </a:p>
        </p:txBody>
      </p:sp>
      <p:sp>
        <p:nvSpPr>
          <p:cNvPr id="27" name="Text 25"/>
          <p:cNvSpPr/>
          <p:nvPr/>
        </p:nvSpPr>
        <p:spPr>
          <a:xfrm>
            <a:off x="4846320" y="3227832"/>
            <a:ext cx="3611880" cy="246888"/>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"DELIVERY_DELAY"</a:t>
            </a:r>
            <a:endParaRPr lang="en-US" sz="1100" dirty="0"/>
          </a:p>
        </p:txBody>
      </p:sp>
      <p:sp>
        <p:nvSpPr>
          <p:cNvPr id="28" name="Text 26"/>
          <p:cNvSpPr/>
          <p:nvPr/>
        </p:nvSpPr>
        <p:spPr>
          <a:xfrm>
            <a:off x="4846320" y="3502152"/>
            <a:ext cx="3611880" cy="246888"/>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"DELIVERY_DELAY"</a:t>
            </a:r>
            <a:endParaRPr lang="en-US" sz="1100" dirty="0"/>
          </a:p>
        </p:txBody>
      </p:sp>
      <p:sp>
        <p:nvSpPr>
          <p:cNvPr id="29" name="Text 27"/>
          <p:cNvSpPr/>
          <p:nvPr/>
        </p:nvSpPr>
        <p:spPr>
          <a:xfrm>
            <a:off x="4846320" y="3822192"/>
            <a:ext cx="3566160" cy="36576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Consistent every time.</a:t>
            </a:r>
            <a:endParaRPr lang="en-US" sz="1200" dirty="0"/>
          </a:p>
          <a:p>
            <a:pPr indent="0" marL="0">
              <a:buNone/>
            </a:pPr>
            <a:r>
              <a:rPr lang="en-US" sz="1200" b="1" dirty="0">
                <a:solidFill>
                  <a:srgbClr val="10B981"/>
                </a:solidFill>
                <a:latin typeface="Calibri" pitchFamily="34" charset="0"/>
                <a:ea typeface="Calibri" pitchFamily="34" charset="-122"/>
                <a:cs typeface="Calibri" pitchFamily="34" charset="-120"/>
              </a:rPr>
              <a:t>SQL GROUP BY works perfectly.</a:t>
            </a:r>
            <a:endParaRPr lang="en-US" sz="1200" dirty="0"/>
          </a:p>
        </p:txBody>
      </p:sp>
      <p:sp>
        <p:nvSpPr>
          <p:cNvPr id="30" name="Text 28"/>
          <p:cNvSpPr/>
          <p:nvPr/>
        </p:nvSpPr>
        <p:spPr>
          <a:xfrm>
            <a:off x="411480" y="4407408"/>
            <a:ext cx="8321040" cy="457200"/>
          </a:xfrm>
          <a:prstGeom prst="rect">
            <a:avLst/>
          </a:prstGeom>
          <a:noFill/>
          <a:ln/>
        </p:spPr>
        <p:txBody>
          <a:bodyPr wrap="square" rtlCol="0" anchor="ctr"/>
          <a:lstStyle/>
          <a:p>
            <a:pPr algn="ctr" indent="0" marL="0">
              <a:buNone/>
            </a:pPr>
            <a:r>
              <a:rPr lang="en-US" sz="1000" dirty="0">
                <a:solidFill>
                  <a:srgbClr val="7DD3FC"/>
                </a:solidFill>
                <a:latin typeface="Courier New" pitchFamily="34" charset="0"/>
                <a:ea typeface="Courier New" pitchFamily="34" charset="-122"/>
                <a:cs typeface="Courier New" pitchFamily="34" charset="-120"/>
              </a:rPr>
              <a:t>SELECT issue_category, COUNT(*) FROM tickets WHERE issue_category = 'DELIVERY_DELAY' GROUP BY 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 — ENRICHMENT</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Temperature — The Most Misunderstood Parameter</a:t>
            </a:r>
            <a:endParaRPr lang="en-US" sz="26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2011680" cy="1463040"/>
          </a:xfrm>
          <a:prstGeom prst="roundRect">
            <a:avLst>
              <a:gd name="adj" fmla="val 6250"/>
            </a:avLst>
          </a:prstGeom>
          <a:solidFill>
            <a:srgbClr val="0D2818"/>
          </a:solidFill>
          <a:ln w="12700">
            <a:solidFill>
              <a:srgbClr val="0D2818"/>
            </a:solidFill>
            <a:prstDash val="solid"/>
          </a:ln>
          <a:effectLst>
            <a:outerShdw sx="100000" sy="100000" kx="0" ky="0" algn="bl" rotWithShape="0" blurRad="101600" dist="38100" dir="2700000">
              <a:srgbClr val="000000">
                <a:alpha val="18000"/>
              </a:srgbClr>
            </a:outerShdw>
          </a:effectLst>
        </p:spPr>
      </p:sp>
      <p:sp>
        <p:nvSpPr>
          <p:cNvPr id="7" name="Shape 5"/>
          <p:cNvSpPr/>
          <p:nvPr/>
        </p:nvSpPr>
        <p:spPr>
          <a:xfrm>
            <a:off x="411480" y="1115568"/>
            <a:ext cx="2011680" cy="0"/>
          </a:xfrm>
          <a:prstGeom prst="line">
            <a:avLst/>
          </a:prstGeom>
          <a:noFill/>
          <a:ln w="38100">
            <a:solidFill>
              <a:srgbClr val="10B981"/>
            </a:solidFill>
            <a:prstDash val="solid"/>
          </a:ln>
        </p:spPr>
      </p:sp>
      <p:sp>
        <p:nvSpPr>
          <p:cNvPr id="8" name="Text 6"/>
          <p:cNvSpPr/>
          <p:nvPr/>
        </p:nvSpPr>
        <p:spPr>
          <a:xfrm>
            <a:off x="411480" y="1188720"/>
            <a:ext cx="2011680" cy="502920"/>
          </a:xfrm>
          <a:prstGeom prst="rect">
            <a:avLst/>
          </a:prstGeom>
          <a:noFill/>
          <a:ln/>
        </p:spPr>
        <p:txBody>
          <a:bodyPr wrap="square"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0.0</a:t>
            </a:r>
            <a:endParaRPr lang="en-US" sz="3600" dirty="0"/>
          </a:p>
        </p:txBody>
      </p:sp>
      <p:sp>
        <p:nvSpPr>
          <p:cNvPr id="9" name="Text 7"/>
          <p:cNvSpPr/>
          <p:nvPr/>
        </p:nvSpPr>
        <p:spPr>
          <a:xfrm>
            <a:off x="502920" y="1719072"/>
            <a:ext cx="1828800"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Deterministic</a:t>
            </a:r>
            <a:endParaRPr lang="en-US" sz="1100" dirty="0"/>
          </a:p>
        </p:txBody>
      </p:sp>
      <p:sp>
        <p:nvSpPr>
          <p:cNvPr id="10" name="Text 8"/>
          <p:cNvSpPr/>
          <p:nvPr/>
        </p:nvSpPr>
        <p:spPr>
          <a:xfrm>
            <a:off x="484632" y="1993392"/>
            <a:ext cx="1883664" cy="475488"/>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Same input → always same output</a:t>
            </a:r>
            <a:endParaRPr lang="en-US" sz="1000" dirty="0"/>
          </a:p>
        </p:txBody>
      </p:sp>
      <p:sp>
        <p:nvSpPr>
          <p:cNvPr id="11" name="Shape 9"/>
          <p:cNvSpPr/>
          <p:nvPr/>
        </p:nvSpPr>
        <p:spPr>
          <a:xfrm>
            <a:off x="2697480" y="1115568"/>
            <a:ext cx="2011680" cy="1463040"/>
          </a:xfrm>
          <a:prstGeom prst="roundRect">
            <a:avLst>
              <a:gd name="adj" fmla="val 6250"/>
            </a:avLst>
          </a:prstGeom>
          <a:solidFill>
            <a:srgbClr val="0D2818"/>
          </a:solidFill>
          <a:ln w="12700">
            <a:solidFill>
              <a:srgbClr val="0D2818"/>
            </a:solidFill>
            <a:prstDash val="solid"/>
          </a:ln>
          <a:effectLst>
            <a:outerShdw sx="100000" sy="100000" kx="0" ky="0" algn="bl" rotWithShape="0" blurRad="101600" dist="38100" dir="2700000">
              <a:srgbClr val="000000">
                <a:alpha val="18000"/>
              </a:srgbClr>
            </a:outerShdw>
          </a:effectLst>
        </p:spPr>
      </p:sp>
      <p:sp>
        <p:nvSpPr>
          <p:cNvPr id="12" name="Shape 10"/>
          <p:cNvSpPr/>
          <p:nvPr/>
        </p:nvSpPr>
        <p:spPr>
          <a:xfrm>
            <a:off x="2697480" y="1115568"/>
            <a:ext cx="2011680" cy="0"/>
          </a:xfrm>
          <a:prstGeom prst="line">
            <a:avLst/>
          </a:prstGeom>
          <a:noFill/>
          <a:ln w="38100">
            <a:solidFill>
              <a:srgbClr val="10B981"/>
            </a:solidFill>
            <a:prstDash val="solid"/>
          </a:ln>
        </p:spPr>
      </p:sp>
      <p:sp>
        <p:nvSpPr>
          <p:cNvPr id="13" name="Text 11"/>
          <p:cNvSpPr/>
          <p:nvPr/>
        </p:nvSpPr>
        <p:spPr>
          <a:xfrm>
            <a:off x="2697480" y="1188720"/>
            <a:ext cx="2011680" cy="502920"/>
          </a:xfrm>
          <a:prstGeom prst="rect">
            <a:avLst/>
          </a:prstGeom>
          <a:noFill/>
          <a:ln/>
        </p:spPr>
        <p:txBody>
          <a:bodyPr wrap="square" rtlCol="0" anchor="ctr"/>
          <a:lstStyle/>
          <a:p>
            <a:pPr algn="ctr" indent="0" marL="0">
              <a:buNone/>
            </a:pPr>
            <a:r>
              <a:rPr lang="en-US" sz="3600" b="1" dirty="0">
                <a:solidFill>
                  <a:srgbClr val="10B981"/>
                </a:solidFill>
                <a:latin typeface="Calibri" pitchFamily="34" charset="0"/>
                <a:ea typeface="Calibri" pitchFamily="34" charset="-122"/>
                <a:cs typeface="Calibri" pitchFamily="34" charset="-120"/>
              </a:rPr>
              <a:t>0.1</a:t>
            </a:r>
            <a:endParaRPr lang="en-US" sz="3600" dirty="0"/>
          </a:p>
        </p:txBody>
      </p:sp>
      <p:sp>
        <p:nvSpPr>
          <p:cNvPr id="14" name="Text 12"/>
          <p:cNvSpPr/>
          <p:nvPr/>
        </p:nvSpPr>
        <p:spPr>
          <a:xfrm>
            <a:off x="2788920" y="1719072"/>
            <a:ext cx="1828800"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Near-deterministic</a:t>
            </a:r>
            <a:endParaRPr lang="en-US" sz="1100" dirty="0"/>
          </a:p>
        </p:txBody>
      </p:sp>
      <p:sp>
        <p:nvSpPr>
          <p:cNvPr id="15" name="Text 13"/>
          <p:cNvSpPr/>
          <p:nvPr/>
        </p:nvSpPr>
        <p:spPr>
          <a:xfrm>
            <a:off x="2770632" y="1993392"/>
            <a:ext cx="1883664" cy="475488"/>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Tiny variation, used in the Lambda</a:t>
            </a:r>
            <a:endParaRPr lang="en-US" sz="1000" dirty="0"/>
          </a:p>
        </p:txBody>
      </p:sp>
      <p:sp>
        <p:nvSpPr>
          <p:cNvPr id="16" name="Shape 14"/>
          <p:cNvSpPr/>
          <p:nvPr/>
        </p:nvSpPr>
        <p:spPr>
          <a:xfrm>
            <a:off x="4983480" y="1115568"/>
            <a:ext cx="2011680" cy="1463040"/>
          </a:xfrm>
          <a:prstGeom prst="roundRect">
            <a:avLst>
              <a:gd name="adj" fmla="val 6250"/>
            </a:avLst>
          </a:prstGeom>
          <a:solidFill>
            <a:srgbClr val="1A0A0A"/>
          </a:solidFill>
          <a:ln w="12700">
            <a:solidFill>
              <a:srgbClr val="1A0A0A"/>
            </a:solidFill>
            <a:prstDash val="solid"/>
          </a:ln>
          <a:effectLst>
            <a:outerShdw sx="100000" sy="100000" kx="0" ky="0" algn="bl" rotWithShape="0" blurRad="101600" dist="38100" dir="2700000">
              <a:srgbClr val="000000">
                <a:alpha val="18000"/>
              </a:srgbClr>
            </a:outerShdw>
          </a:effectLst>
        </p:spPr>
      </p:sp>
      <p:sp>
        <p:nvSpPr>
          <p:cNvPr id="17" name="Shape 15"/>
          <p:cNvSpPr/>
          <p:nvPr/>
        </p:nvSpPr>
        <p:spPr>
          <a:xfrm>
            <a:off x="4983480" y="1115568"/>
            <a:ext cx="2011680" cy="0"/>
          </a:xfrm>
          <a:prstGeom prst="line">
            <a:avLst/>
          </a:prstGeom>
          <a:noFill/>
          <a:ln w="38100">
            <a:solidFill>
              <a:srgbClr val="EF4444"/>
            </a:solidFill>
            <a:prstDash val="solid"/>
          </a:ln>
        </p:spPr>
      </p:sp>
      <p:sp>
        <p:nvSpPr>
          <p:cNvPr id="18" name="Text 16"/>
          <p:cNvSpPr/>
          <p:nvPr/>
        </p:nvSpPr>
        <p:spPr>
          <a:xfrm>
            <a:off x="4983480" y="1188720"/>
            <a:ext cx="2011680" cy="502920"/>
          </a:xfrm>
          <a:prstGeom prst="rect">
            <a:avLst/>
          </a:prstGeom>
          <a:noFill/>
          <a:ln/>
        </p:spPr>
        <p:txBody>
          <a:bodyPr wrap="square" rtlCol="0" anchor="ctr"/>
          <a:lstStyle/>
          <a:p>
            <a:pPr algn="ctr" indent="0" marL="0">
              <a:buNone/>
            </a:pPr>
            <a:r>
              <a:rPr lang="en-US" sz="3600" b="1" dirty="0">
                <a:solidFill>
                  <a:srgbClr val="EF4444"/>
                </a:solidFill>
                <a:latin typeface="Calibri" pitchFamily="34" charset="0"/>
                <a:ea typeface="Calibri" pitchFamily="34" charset="-122"/>
                <a:cs typeface="Calibri" pitchFamily="34" charset="-120"/>
              </a:rPr>
              <a:t>0.5</a:t>
            </a:r>
            <a:endParaRPr lang="en-US" sz="3600" dirty="0"/>
          </a:p>
        </p:txBody>
      </p:sp>
      <p:sp>
        <p:nvSpPr>
          <p:cNvPr id="19" name="Text 17"/>
          <p:cNvSpPr/>
          <p:nvPr/>
        </p:nvSpPr>
        <p:spPr>
          <a:xfrm>
            <a:off x="5074920" y="1719072"/>
            <a:ext cx="1828800"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Balanced</a:t>
            </a:r>
            <a:endParaRPr lang="en-US" sz="1100" dirty="0"/>
          </a:p>
        </p:txBody>
      </p:sp>
      <p:sp>
        <p:nvSpPr>
          <p:cNvPr id="20" name="Text 18"/>
          <p:cNvSpPr/>
          <p:nvPr/>
        </p:nvSpPr>
        <p:spPr>
          <a:xfrm>
            <a:off x="5056632" y="1993392"/>
            <a:ext cx="1883664" cy="475488"/>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Noticeable variation between runs</a:t>
            </a:r>
            <a:endParaRPr lang="en-US" sz="1000" dirty="0"/>
          </a:p>
        </p:txBody>
      </p:sp>
      <p:sp>
        <p:nvSpPr>
          <p:cNvPr id="21" name="Shape 19"/>
          <p:cNvSpPr/>
          <p:nvPr/>
        </p:nvSpPr>
        <p:spPr>
          <a:xfrm>
            <a:off x="6995160" y="1115568"/>
            <a:ext cx="2011680" cy="1463040"/>
          </a:xfrm>
          <a:prstGeom prst="roundRect">
            <a:avLst>
              <a:gd name="adj" fmla="val 6250"/>
            </a:avLst>
          </a:prstGeom>
          <a:solidFill>
            <a:srgbClr val="1A0A0A"/>
          </a:solidFill>
          <a:ln w="12700">
            <a:solidFill>
              <a:srgbClr val="1A0A0A"/>
            </a:solidFill>
            <a:prstDash val="solid"/>
          </a:ln>
          <a:effectLst>
            <a:outerShdw sx="100000" sy="100000" kx="0" ky="0" algn="bl" rotWithShape="0" blurRad="101600" dist="38100" dir="2700000">
              <a:srgbClr val="000000">
                <a:alpha val="18000"/>
              </a:srgbClr>
            </a:outerShdw>
          </a:effectLst>
        </p:spPr>
      </p:sp>
      <p:sp>
        <p:nvSpPr>
          <p:cNvPr id="22" name="Shape 20"/>
          <p:cNvSpPr/>
          <p:nvPr/>
        </p:nvSpPr>
        <p:spPr>
          <a:xfrm>
            <a:off x="6995160" y="1115568"/>
            <a:ext cx="2011680" cy="0"/>
          </a:xfrm>
          <a:prstGeom prst="line">
            <a:avLst/>
          </a:prstGeom>
          <a:noFill/>
          <a:ln w="38100">
            <a:solidFill>
              <a:srgbClr val="EF4444"/>
            </a:solidFill>
            <a:prstDash val="solid"/>
          </a:ln>
        </p:spPr>
      </p:sp>
      <p:sp>
        <p:nvSpPr>
          <p:cNvPr id="23" name="Text 21"/>
          <p:cNvSpPr/>
          <p:nvPr/>
        </p:nvSpPr>
        <p:spPr>
          <a:xfrm>
            <a:off x="6995160" y="1188720"/>
            <a:ext cx="2011680" cy="502920"/>
          </a:xfrm>
          <a:prstGeom prst="rect">
            <a:avLst/>
          </a:prstGeom>
          <a:noFill/>
          <a:ln/>
        </p:spPr>
        <p:txBody>
          <a:bodyPr wrap="square" rtlCol="0" anchor="ctr"/>
          <a:lstStyle/>
          <a:p>
            <a:pPr algn="ctr" indent="0" marL="0">
              <a:buNone/>
            </a:pPr>
            <a:r>
              <a:rPr lang="en-US" sz="3600" b="1" dirty="0">
                <a:solidFill>
                  <a:srgbClr val="EF4444"/>
                </a:solidFill>
                <a:latin typeface="Calibri" pitchFamily="34" charset="0"/>
                <a:ea typeface="Calibri" pitchFamily="34" charset="-122"/>
                <a:cs typeface="Calibri" pitchFamily="34" charset="-120"/>
              </a:rPr>
              <a:t>1.0</a:t>
            </a:r>
            <a:endParaRPr lang="en-US" sz="3600" dirty="0"/>
          </a:p>
        </p:txBody>
      </p:sp>
      <p:sp>
        <p:nvSpPr>
          <p:cNvPr id="24" name="Text 22"/>
          <p:cNvSpPr/>
          <p:nvPr/>
        </p:nvSpPr>
        <p:spPr>
          <a:xfrm>
            <a:off x="7086600" y="1719072"/>
            <a:ext cx="1828800"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Creative</a:t>
            </a:r>
            <a:endParaRPr lang="en-US" sz="1100" dirty="0"/>
          </a:p>
        </p:txBody>
      </p:sp>
      <p:sp>
        <p:nvSpPr>
          <p:cNvPr id="25" name="Text 23"/>
          <p:cNvSpPr/>
          <p:nvPr/>
        </p:nvSpPr>
        <p:spPr>
          <a:xfrm>
            <a:off x="7068312" y="1993392"/>
            <a:ext cx="1883664" cy="475488"/>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High variation — never for classification</a:t>
            </a:r>
            <a:endParaRPr lang="en-US" sz="1000" dirty="0"/>
          </a:p>
        </p:txBody>
      </p:sp>
      <p:sp>
        <p:nvSpPr>
          <p:cNvPr id="26" name="Shape 24"/>
          <p:cNvSpPr/>
          <p:nvPr/>
        </p:nvSpPr>
        <p:spPr>
          <a:xfrm>
            <a:off x="411480" y="2743200"/>
            <a:ext cx="4023360" cy="2176272"/>
          </a:xfrm>
          <a:prstGeom prst="roundRect">
            <a:avLst>
              <a:gd name="adj" fmla="val 504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7" name="Text 25"/>
          <p:cNvSpPr/>
          <p:nvPr/>
        </p:nvSpPr>
        <p:spPr>
          <a:xfrm>
            <a:off x="548640" y="2816352"/>
            <a:ext cx="3749040" cy="256032"/>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Temperature 0.1 — 10 runs same ticket:</a:t>
            </a:r>
            <a:endParaRPr lang="en-US" sz="1100" dirty="0"/>
          </a:p>
        </p:txBody>
      </p:sp>
      <p:sp>
        <p:nvSpPr>
          <p:cNvPr id="28" name="Text 26"/>
          <p:cNvSpPr/>
          <p:nvPr/>
        </p:nvSpPr>
        <p:spPr>
          <a:xfrm>
            <a:off x="594360" y="3108960"/>
            <a:ext cx="3566160" cy="274320"/>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Run 1:  "DELIVERY_DELAY"</a:t>
            </a:r>
            <a:endParaRPr lang="en-US" sz="1100" dirty="0"/>
          </a:p>
        </p:txBody>
      </p:sp>
      <p:sp>
        <p:nvSpPr>
          <p:cNvPr id="29" name="Text 27"/>
          <p:cNvSpPr/>
          <p:nvPr/>
        </p:nvSpPr>
        <p:spPr>
          <a:xfrm>
            <a:off x="594360" y="3429000"/>
            <a:ext cx="3566160" cy="274320"/>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Run 2:  "DELIVERY_DELAY"</a:t>
            </a:r>
            <a:endParaRPr lang="en-US" sz="1100" dirty="0"/>
          </a:p>
        </p:txBody>
      </p:sp>
      <p:sp>
        <p:nvSpPr>
          <p:cNvPr id="30" name="Text 28"/>
          <p:cNvSpPr/>
          <p:nvPr/>
        </p:nvSpPr>
        <p:spPr>
          <a:xfrm>
            <a:off x="594360" y="3749040"/>
            <a:ext cx="3566160" cy="274320"/>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Run 3:  "DELIVERY_DELAY"</a:t>
            </a:r>
            <a:endParaRPr lang="en-US" sz="1100" dirty="0"/>
          </a:p>
        </p:txBody>
      </p:sp>
      <p:sp>
        <p:nvSpPr>
          <p:cNvPr id="31" name="Text 29"/>
          <p:cNvSpPr/>
          <p:nvPr/>
        </p:nvSpPr>
        <p:spPr>
          <a:xfrm>
            <a:off x="594360" y="4069080"/>
            <a:ext cx="3566160" cy="274320"/>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Run 4:  "DELIVERY_DELAY"</a:t>
            </a:r>
            <a:endParaRPr lang="en-US" sz="1100" dirty="0"/>
          </a:p>
        </p:txBody>
      </p:sp>
      <p:sp>
        <p:nvSpPr>
          <p:cNvPr id="32" name="Text 30"/>
          <p:cNvSpPr/>
          <p:nvPr/>
        </p:nvSpPr>
        <p:spPr>
          <a:xfrm>
            <a:off x="594360" y="4389120"/>
            <a:ext cx="3566160" cy="274320"/>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Run 5:  "DELIVERY_DELAY"</a:t>
            </a:r>
            <a:endParaRPr lang="en-US" sz="1100" dirty="0"/>
          </a:p>
        </p:txBody>
      </p:sp>
      <p:sp>
        <p:nvSpPr>
          <p:cNvPr id="33" name="Text 31"/>
          <p:cNvSpPr/>
          <p:nvPr/>
        </p:nvSpPr>
        <p:spPr>
          <a:xfrm>
            <a:off x="594360" y="4709160"/>
            <a:ext cx="3566160" cy="155448"/>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  Perfectly consistent</a:t>
            </a:r>
            <a:endParaRPr lang="en-US" sz="1100" dirty="0"/>
          </a:p>
        </p:txBody>
      </p:sp>
      <p:sp>
        <p:nvSpPr>
          <p:cNvPr id="34" name="Shape 32"/>
          <p:cNvSpPr/>
          <p:nvPr/>
        </p:nvSpPr>
        <p:spPr>
          <a:xfrm>
            <a:off x="4663440" y="2743200"/>
            <a:ext cx="4023360" cy="2176272"/>
          </a:xfrm>
          <a:prstGeom prst="roundRect">
            <a:avLst>
              <a:gd name="adj" fmla="val 504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35" name="Text 33"/>
          <p:cNvSpPr/>
          <p:nvPr/>
        </p:nvSpPr>
        <p:spPr>
          <a:xfrm>
            <a:off x="4800600" y="2816352"/>
            <a:ext cx="37490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Temperature 1.0 — 10 runs same ticket:</a:t>
            </a:r>
            <a:endParaRPr lang="en-US" sz="1100" dirty="0"/>
          </a:p>
        </p:txBody>
      </p:sp>
      <p:sp>
        <p:nvSpPr>
          <p:cNvPr id="36" name="Text 34"/>
          <p:cNvSpPr/>
          <p:nvPr/>
        </p:nvSpPr>
        <p:spPr>
          <a:xfrm>
            <a:off x="4828032" y="3108960"/>
            <a:ext cx="3749040" cy="274320"/>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Run 1:  "DELIVERY_DELAY"</a:t>
            </a:r>
            <a:endParaRPr lang="en-US" sz="1100" dirty="0"/>
          </a:p>
        </p:txBody>
      </p:sp>
      <p:sp>
        <p:nvSpPr>
          <p:cNvPr id="37" name="Text 35"/>
          <p:cNvSpPr/>
          <p:nvPr/>
        </p:nvSpPr>
        <p:spPr>
          <a:xfrm>
            <a:off x="4828032" y="3429000"/>
            <a:ext cx="3749040" cy="274320"/>
          </a:xfrm>
          <a:prstGeom prst="rect">
            <a:avLst/>
          </a:prstGeom>
          <a:noFill/>
          <a:ln/>
        </p:spPr>
        <p:txBody>
          <a:bodyPr wrap="square" rtlCol="0" anchor="ctr"/>
          <a:lstStyle/>
          <a:p>
            <a:pPr indent="0" marL="0">
              <a:buNone/>
            </a:pPr>
            <a:r>
              <a:rPr lang="en-US" sz="1100" dirty="0">
                <a:solidFill>
                  <a:srgbClr val="F59E0B"/>
                </a:solidFill>
                <a:latin typeface="Courier New" pitchFamily="34" charset="0"/>
                <a:ea typeface="Courier New" pitchFamily="34" charset="-122"/>
                <a:cs typeface="Courier New" pitchFamily="34" charset="-120"/>
              </a:rPr>
              <a:t>Run 2:  "DELIVERY_EXCEPTION"</a:t>
            </a:r>
            <a:endParaRPr lang="en-US" sz="1100" dirty="0"/>
          </a:p>
        </p:txBody>
      </p:sp>
      <p:sp>
        <p:nvSpPr>
          <p:cNvPr id="38" name="Text 36"/>
          <p:cNvSpPr/>
          <p:nvPr/>
        </p:nvSpPr>
        <p:spPr>
          <a:xfrm>
            <a:off x="4828032" y="3749040"/>
            <a:ext cx="3749040" cy="274320"/>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Run 3:  "DELIVERY_DELAY"</a:t>
            </a:r>
            <a:endParaRPr lang="en-US" sz="1100" dirty="0"/>
          </a:p>
        </p:txBody>
      </p:sp>
      <p:sp>
        <p:nvSpPr>
          <p:cNvPr id="39" name="Text 37"/>
          <p:cNvSpPr/>
          <p:nvPr/>
        </p:nvSpPr>
        <p:spPr>
          <a:xfrm>
            <a:off x="4828032" y="4069080"/>
            <a:ext cx="3749040" cy="274320"/>
          </a:xfrm>
          <a:prstGeom prst="rect">
            <a:avLst/>
          </a:prstGeom>
          <a:noFill/>
          <a:ln/>
        </p:spPr>
        <p:txBody>
          <a:bodyPr wrap="square" rtlCol="0" anchor="ctr"/>
          <a:lstStyle/>
          <a:p>
            <a:pPr indent="0" marL="0">
              <a:buNone/>
            </a:pPr>
            <a:r>
              <a:rPr lang="en-US" sz="1100" dirty="0">
                <a:solidFill>
                  <a:srgbClr val="F59E0B"/>
                </a:solidFill>
                <a:latin typeface="Courier New" pitchFamily="34" charset="0"/>
                <a:ea typeface="Courier New" pitchFamily="34" charset="-122"/>
                <a:cs typeface="Courier New" pitchFamily="34" charset="-120"/>
              </a:rPr>
              <a:t>Run 4:  "GENERAL_QUERY"</a:t>
            </a:r>
            <a:endParaRPr lang="en-US" sz="1100" dirty="0"/>
          </a:p>
        </p:txBody>
      </p:sp>
      <p:sp>
        <p:nvSpPr>
          <p:cNvPr id="40" name="Text 38"/>
          <p:cNvSpPr/>
          <p:nvPr/>
        </p:nvSpPr>
        <p:spPr>
          <a:xfrm>
            <a:off x="4828032" y="4389120"/>
            <a:ext cx="3749040" cy="274320"/>
          </a:xfrm>
          <a:prstGeom prst="rect">
            <a:avLst/>
          </a:prstGeom>
          <a:noFill/>
          <a:ln/>
        </p:spPr>
        <p:txBody>
          <a:bodyPr wrap="square" rtlCol="0" anchor="ctr"/>
          <a:lstStyle/>
          <a:p>
            <a:pPr indent="0" marL="0">
              <a:buNone/>
            </a:pPr>
            <a:r>
              <a:rPr lang="en-US" sz="1100" dirty="0">
                <a:solidFill>
                  <a:srgbClr val="10B981"/>
                </a:solidFill>
                <a:latin typeface="Courier New" pitchFamily="34" charset="0"/>
                <a:ea typeface="Courier New" pitchFamily="34" charset="-122"/>
                <a:cs typeface="Courier New" pitchFamily="34" charset="-120"/>
              </a:rPr>
              <a:t>Run 5:  "DELIVERY_DELAY"</a:t>
            </a:r>
            <a:endParaRPr lang="en-US" sz="1100" dirty="0"/>
          </a:p>
        </p:txBody>
      </p:sp>
      <p:sp>
        <p:nvSpPr>
          <p:cNvPr id="41" name="Text 39"/>
          <p:cNvSpPr/>
          <p:nvPr/>
        </p:nvSpPr>
        <p:spPr>
          <a:xfrm>
            <a:off x="4828032" y="4709160"/>
            <a:ext cx="3749040" cy="155448"/>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  3 different categories for same ticket!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 — ENRICHMENT</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Markdown Fence Bug — Most Common Production Crash</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4023360" cy="1737360"/>
          </a:xfrm>
          <a:prstGeom prst="roundRect">
            <a:avLst>
              <a:gd name="adj" fmla="val 5263"/>
            </a:avLst>
          </a:prstGeom>
          <a:solidFill>
            <a:srgbClr val="1A0A0A"/>
          </a:solidFill>
          <a:ln w="12700">
            <a:solidFill>
              <a:srgbClr val="1A0A0A"/>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548640" y="1188720"/>
            <a:ext cx="37490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  What the model sometimes returns:</a:t>
            </a:r>
            <a:endParaRPr lang="en-US" sz="1100" dirty="0"/>
          </a:p>
        </p:txBody>
      </p:sp>
      <p:sp>
        <p:nvSpPr>
          <p:cNvPr id="8" name="Shape 6"/>
          <p:cNvSpPr/>
          <p:nvPr/>
        </p:nvSpPr>
        <p:spPr>
          <a:xfrm>
            <a:off x="502920" y="1481328"/>
            <a:ext cx="3840480" cy="1188720"/>
          </a:xfrm>
          <a:prstGeom prst="roundRect">
            <a:avLst>
              <a:gd name="adj" fmla="val 6154"/>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612648" y="1572768"/>
            <a:ext cx="3621024" cy="100584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```json</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"issue_category": "DELIVERY_DELAY",</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"sentiment": "NEGATIVE"</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4663440" y="1115568"/>
            <a:ext cx="4023360" cy="1737360"/>
          </a:xfrm>
          <a:prstGeom prst="roundRect">
            <a:avLst>
              <a:gd name="adj" fmla="val 5263"/>
            </a:avLst>
          </a:prstGeom>
          <a:solidFill>
            <a:srgbClr val="1A0A0A"/>
          </a:solidFill>
          <a:ln w="12700">
            <a:solidFill>
              <a:srgbClr val="1A0A0A"/>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4800600" y="1188720"/>
            <a:ext cx="37490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  What json.loads() returns:</a:t>
            </a:r>
            <a:endParaRPr lang="en-US" sz="1100" dirty="0"/>
          </a:p>
        </p:txBody>
      </p:sp>
      <p:sp>
        <p:nvSpPr>
          <p:cNvPr id="12" name="Shape 10"/>
          <p:cNvSpPr/>
          <p:nvPr/>
        </p:nvSpPr>
        <p:spPr>
          <a:xfrm>
            <a:off x="4754880" y="1481328"/>
            <a:ext cx="3840480" cy="1188720"/>
          </a:xfrm>
          <a:prstGeom prst="roundRect">
            <a:avLst>
              <a:gd name="adj" fmla="val 6154"/>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4864608" y="1572768"/>
            <a:ext cx="3621024" cy="100584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JSONDecodeError:</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Expecting value:</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line 1 column 1</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(char 0)</a:t>
            </a:r>
            <a:endParaRPr lang="en-US" sz="1050" dirty="0"/>
          </a:p>
        </p:txBody>
      </p:sp>
      <p:sp>
        <p:nvSpPr>
          <p:cNvPr id="14" name="Text 12"/>
          <p:cNvSpPr/>
          <p:nvPr/>
        </p:nvSpPr>
        <p:spPr>
          <a:xfrm>
            <a:off x="411480" y="2971800"/>
            <a:ext cx="8321040" cy="27432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The Fix — Always strip fences before parsing:</a:t>
            </a:r>
            <a:endParaRPr lang="en-US" sz="1200" dirty="0"/>
          </a:p>
        </p:txBody>
      </p:sp>
      <p:sp>
        <p:nvSpPr>
          <p:cNvPr id="15" name="Shape 13"/>
          <p:cNvSpPr/>
          <p:nvPr/>
        </p:nvSpPr>
        <p:spPr>
          <a:xfrm>
            <a:off x="411480" y="3273552"/>
            <a:ext cx="8321040" cy="1508760"/>
          </a:xfrm>
          <a:prstGeom prst="roundRect">
            <a:avLst>
              <a:gd name="adj" fmla="val 4848"/>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521208" y="3364992"/>
            <a:ext cx="8101584" cy="132588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import re, json</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def extract_json_object(raw_text: str) -&gt; dict:</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cleaned = raw_text.strip()</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cleaned = re.sub(r"^```json", "", cleaned, flags=re.IGNORECASE).strip()</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cleaned = re.sub(r"^```",     "", cleaned).strip()</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cleaned = re.sub(r"```$",     "", cleaned).strip()</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return json.loads(cleaned)</a:t>
            </a:r>
            <a:endParaRPr lang="en-US" sz="1050" dirty="0"/>
          </a:p>
        </p:txBody>
      </p:sp>
      <p:sp>
        <p:nvSpPr>
          <p:cNvPr id="17" name="Text 15"/>
          <p:cNvSpPr/>
          <p:nvPr/>
        </p:nvSpPr>
        <p:spPr>
          <a:xfrm>
            <a:off x="411480" y="4846320"/>
            <a:ext cx="8321040" cy="256032"/>
          </a:xfrm>
          <a:prstGeom prst="rect">
            <a:avLst/>
          </a:prstGeom>
          <a:noFill/>
          <a:ln/>
        </p:spPr>
        <p:txBody>
          <a:bodyPr wrap="square" rtlCol="0" anchor="ctr"/>
          <a:lstStyle/>
          <a:p>
            <a:pPr algn="ctr" indent="0" marL="0">
              <a:buNone/>
            </a:pPr>
            <a:r>
              <a:rPr lang="en-US" sz="1100" i="1" dirty="0">
                <a:solidFill>
                  <a:srgbClr val="F59E0B"/>
                </a:solidFill>
                <a:latin typeface="Calibri" pitchFamily="34" charset="0"/>
                <a:ea typeface="Calibri" pitchFamily="34" charset="-122"/>
                <a:cs typeface="Calibri" pitchFamily="34" charset="-120"/>
              </a:rPr>
              <a:t>Run 20 tickets without this fix. Count the crashes. Then add it. Zero crashes. The lesson lands hard.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3 — EMBEDDINGS</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an Embedding Actually Is</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8321040" cy="1371600"/>
          </a:xfrm>
          <a:prstGeom prst="roundRect">
            <a:avLst>
              <a:gd name="adj" fmla="val 666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594360" y="1298448"/>
            <a:ext cx="1554480" cy="274320"/>
          </a:xfrm>
          <a:prstGeom prst="rect">
            <a:avLst/>
          </a:prstGeom>
          <a:noFill/>
          <a:ln/>
        </p:spPr>
        <p:txBody>
          <a:bodyPr wrap="square" rtlCol="0" anchor="ctr"/>
          <a:lstStyle/>
          <a:p>
            <a:pPr algn="ctr" indent="0" marL="0">
              <a:buNone/>
            </a:pPr>
            <a:r>
              <a:rPr lang="en-US" sz="1100" b="1" dirty="0">
                <a:solidFill>
                  <a:srgbClr val="94A3B8"/>
                </a:solidFill>
                <a:latin typeface="Calibri" pitchFamily="34" charset="0"/>
                <a:ea typeface="Calibri" pitchFamily="34" charset="-122"/>
                <a:cs typeface="Calibri" pitchFamily="34" charset="-120"/>
              </a:rPr>
              <a:t>INPUT TEXT</a:t>
            </a:r>
            <a:endParaRPr lang="en-US" sz="1100" dirty="0"/>
          </a:p>
        </p:txBody>
      </p:sp>
      <p:sp>
        <p:nvSpPr>
          <p:cNvPr id="8" name="Shape 6"/>
          <p:cNvSpPr/>
          <p:nvPr/>
        </p:nvSpPr>
        <p:spPr>
          <a:xfrm>
            <a:off x="548640" y="1600200"/>
            <a:ext cx="1920240" cy="658368"/>
          </a:xfrm>
          <a:prstGeom prst="roundRect">
            <a:avLst>
              <a:gd name="adj" fmla="val 11111"/>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658368" y="1691640"/>
            <a:ext cx="1700784" cy="475488"/>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"DELIVERY_DELAY:</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"order not received"</a:t>
            </a:r>
            <a:endParaRPr lang="en-US" sz="1050" dirty="0"/>
          </a:p>
        </p:txBody>
      </p:sp>
      <p:pic>
        <p:nvPicPr>
          <p:cNvPr id="10" name="Image 0" descr="preencoded.png">    </p:cNvPr>
          <p:cNvPicPr>
            <a:picLocks noChangeAspect="1"/>
          </p:cNvPicPr>
          <p:nvPr/>
        </p:nvPicPr>
        <p:blipFill>
          <a:blip r:embed="rId1"/>
          <a:stretch>
            <a:fillRect/>
          </a:stretch>
        </p:blipFill>
        <p:spPr>
          <a:xfrm>
            <a:off x="2606040" y="1837944"/>
            <a:ext cx="411480" cy="274320"/>
          </a:xfrm>
          <a:prstGeom prst="rect">
            <a:avLst/>
          </a:prstGeom>
        </p:spPr>
      </p:pic>
      <p:sp>
        <p:nvSpPr>
          <p:cNvPr id="11" name="Shape 8"/>
          <p:cNvSpPr/>
          <p:nvPr/>
        </p:nvSpPr>
        <p:spPr>
          <a:xfrm>
            <a:off x="3154680" y="1508760"/>
            <a:ext cx="2011680" cy="868680"/>
          </a:xfrm>
          <a:prstGeom prst="roundRect">
            <a:avLst>
              <a:gd name="adj" fmla="val 10526"/>
            </a:avLst>
          </a:prstGeom>
          <a:solidFill>
            <a:srgbClr val="0891B2"/>
          </a:solidFill>
          <a:ln w="12700">
            <a:solidFill>
              <a:srgbClr val="0891B2"/>
            </a:solidFill>
            <a:prstDash val="solid"/>
          </a:ln>
        </p:spPr>
      </p:sp>
      <p:sp>
        <p:nvSpPr>
          <p:cNvPr id="12" name="Text 9"/>
          <p:cNvSpPr/>
          <p:nvPr/>
        </p:nvSpPr>
        <p:spPr>
          <a:xfrm>
            <a:off x="3154680" y="1508760"/>
            <a:ext cx="2011680" cy="8686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Neural Network</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(Titan Embed v2)</a:t>
            </a:r>
            <a:endParaRPr lang="en-US" sz="1200" dirty="0"/>
          </a:p>
        </p:txBody>
      </p:sp>
      <p:pic>
        <p:nvPicPr>
          <p:cNvPr id="13" name="Image 1" descr="preencoded.png">    </p:cNvPr>
          <p:cNvPicPr>
            <a:picLocks noChangeAspect="1"/>
          </p:cNvPicPr>
          <p:nvPr/>
        </p:nvPicPr>
        <p:blipFill>
          <a:blip r:embed="rId2"/>
          <a:stretch>
            <a:fillRect/>
          </a:stretch>
        </p:blipFill>
        <p:spPr>
          <a:xfrm>
            <a:off x="5303520" y="1837944"/>
            <a:ext cx="411480" cy="274320"/>
          </a:xfrm>
          <a:prstGeom prst="rect">
            <a:avLst/>
          </a:prstGeom>
        </p:spPr>
      </p:pic>
      <p:sp>
        <p:nvSpPr>
          <p:cNvPr id="14" name="Text 10"/>
          <p:cNvSpPr/>
          <p:nvPr/>
        </p:nvSpPr>
        <p:spPr>
          <a:xfrm>
            <a:off x="5760720" y="1298448"/>
            <a:ext cx="2743200" cy="274320"/>
          </a:xfrm>
          <a:prstGeom prst="rect">
            <a:avLst/>
          </a:prstGeom>
          <a:noFill/>
          <a:ln/>
        </p:spPr>
        <p:txBody>
          <a:bodyPr wrap="square" rtlCol="0" anchor="ctr"/>
          <a:lstStyle/>
          <a:p>
            <a:pPr algn="ctr" indent="0" marL="0">
              <a:buNone/>
            </a:pPr>
            <a:r>
              <a:rPr lang="en-US" sz="1100" b="1" dirty="0">
                <a:solidFill>
                  <a:srgbClr val="94A3B8"/>
                </a:solidFill>
                <a:latin typeface="Calibri" pitchFamily="34" charset="0"/>
                <a:ea typeface="Calibri" pitchFamily="34" charset="-122"/>
                <a:cs typeface="Calibri" pitchFamily="34" charset="-120"/>
              </a:rPr>
              <a:t>OUTPUT VECTOR</a:t>
            </a:r>
            <a:endParaRPr lang="en-US" sz="1100" dirty="0"/>
          </a:p>
        </p:txBody>
      </p:sp>
      <p:sp>
        <p:nvSpPr>
          <p:cNvPr id="15" name="Shape 11"/>
          <p:cNvSpPr/>
          <p:nvPr/>
        </p:nvSpPr>
        <p:spPr>
          <a:xfrm>
            <a:off x="5806440" y="1600200"/>
            <a:ext cx="2697480" cy="658368"/>
          </a:xfrm>
          <a:prstGeom prst="roundRect">
            <a:avLst>
              <a:gd name="adj" fmla="val 11111"/>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16" name="Text 12"/>
          <p:cNvSpPr/>
          <p:nvPr/>
        </p:nvSpPr>
        <p:spPr>
          <a:xfrm>
            <a:off x="5916168" y="1691640"/>
            <a:ext cx="2478024" cy="475488"/>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[0.023, -0.847, 0.341,</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0.109, -0.562, ...</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...1,536 numbers]</a:t>
            </a:r>
            <a:endParaRPr lang="en-US" sz="1050" dirty="0"/>
          </a:p>
        </p:txBody>
      </p:sp>
      <p:sp>
        <p:nvSpPr>
          <p:cNvPr id="17" name="Shape 13"/>
          <p:cNvSpPr/>
          <p:nvPr/>
        </p:nvSpPr>
        <p:spPr>
          <a:xfrm>
            <a:off x="411480" y="2697480"/>
            <a:ext cx="4023360" cy="1005840"/>
          </a:xfrm>
          <a:prstGeom prst="roundRect">
            <a:avLst>
              <a:gd name="adj" fmla="val 818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8" name="Shape 14"/>
          <p:cNvSpPr/>
          <p:nvPr/>
        </p:nvSpPr>
        <p:spPr>
          <a:xfrm>
            <a:off x="521208" y="2807208"/>
            <a:ext cx="347472" cy="347472"/>
          </a:xfrm>
          <a:prstGeom prst="ellipse">
            <a:avLst/>
          </a:prstGeom>
          <a:solidFill>
            <a:srgbClr val="10B981"/>
          </a:solidFill>
          <a:ln w="12700">
            <a:solidFill>
              <a:srgbClr val="10B981"/>
            </a:solidFill>
            <a:prstDash val="solid"/>
          </a:ln>
        </p:spPr>
      </p:sp>
      <p:pic>
        <p:nvPicPr>
          <p:cNvPr id="19" name="Image 2" descr="preencoded.png">    </p:cNvPr>
          <p:cNvPicPr>
            <a:picLocks noChangeAspect="1"/>
          </p:cNvPicPr>
          <p:nvPr/>
        </p:nvPicPr>
        <p:blipFill>
          <a:blip r:embed="rId3"/>
          <a:stretch>
            <a:fillRect/>
          </a:stretch>
        </p:blipFill>
        <p:spPr>
          <a:xfrm>
            <a:off x="576072" y="2862072"/>
            <a:ext cx="237744" cy="237744"/>
          </a:xfrm>
          <a:prstGeom prst="rect">
            <a:avLst/>
          </a:prstGeom>
        </p:spPr>
      </p:pic>
      <p:sp>
        <p:nvSpPr>
          <p:cNvPr id="20" name="Text 15"/>
          <p:cNvSpPr/>
          <p:nvPr/>
        </p:nvSpPr>
        <p:spPr>
          <a:xfrm>
            <a:off x="960120" y="2788920"/>
            <a:ext cx="333756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Similar meaning → close vectors</a:t>
            </a:r>
            <a:endParaRPr lang="en-US" sz="1100" dirty="0"/>
          </a:p>
        </p:txBody>
      </p:sp>
      <p:sp>
        <p:nvSpPr>
          <p:cNvPr id="21" name="Text 16"/>
          <p:cNvSpPr/>
          <p:nvPr/>
        </p:nvSpPr>
        <p:spPr>
          <a:xfrm>
            <a:off x="960120" y="3081528"/>
            <a:ext cx="3337560" cy="5029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'late order' and 'shipment delayed' produce vectors pointing in nearly the same direction.</a:t>
            </a:r>
            <a:endParaRPr lang="en-US" sz="1000" dirty="0"/>
          </a:p>
        </p:txBody>
      </p:sp>
      <p:sp>
        <p:nvSpPr>
          <p:cNvPr id="22" name="Shape 17"/>
          <p:cNvSpPr/>
          <p:nvPr/>
        </p:nvSpPr>
        <p:spPr>
          <a:xfrm>
            <a:off x="4663440" y="2697480"/>
            <a:ext cx="4023360" cy="1005840"/>
          </a:xfrm>
          <a:prstGeom prst="roundRect">
            <a:avLst>
              <a:gd name="adj" fmla="val 818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3" name="Shape 18"/>
          <p:cNvSpPr/>
          <p:nvPr/>
        </p:nvSpPr>
        <p:spPr>
          <a:xfrm>
            <a:off x="4773168" y="2807208"/>
            <a:ext cx="347472" cy="347472"/>
          </a:xfrm>
          <a:prstGeom prst="ellipse">
            <a:avLst/>
          </a:prstGeom>
          <a:solidFill>
            <a:srgbClr val="2563EB"/>
          </a:solidFill>
          <a:ln w="12700">
            <a:solidFill>
              <a:srgbClr val="2563EB"/>
            </a:solidFill>
            <a:prstDash val="solid"/>
          </a:ln>
        </p:spPr>
      </p:sp>
      <p:pic>
        <p:nvPicPr>
          <p:cNvPr id="24" name="Image 3" descr="preencoded.png">    </p:cNvPr>
          <p:cNvPicPr>
            <a:picLocks noChangeAspect="1"/>
          </p:cNvPicPr>
          <p:nvPr/>
        </p:nvPicPr>
        <p:blipFill>
          <a:blip r:embed="rId4"/>
          <a:stretch>
            <a:fillRect/>
          </a:stretch>
        </p:blipFill>
        <p:spPr>
          <a:xfrm>
            <a:off x="4828032" y="2862072"/>
            <a:ext cx="237744" cy="237744"/>
          </a:xfrm>
          <a:prstGeom prst="rect">
            <a:avLst/>
          </a:prstGeom>
        </p:spPr>
      </p:pic>
      <p:sp>
        <p:nvSpPr>
          <p:cNvPr id="25" name="Text 19"/>
          <p:cNvSpPr/>
          <p:nvPr/>
        </p:nvSpPr>
        <p:spPr>
          <a:xfrm>
            <a:off x="5212080" y="2788920"/>
            <a:ext cx="333756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Language-independent (with right model)</a:t>
            </a:r>
            <a:endParaRPr lang="en-US" sz="1100" dirty="0"/>
          </a:p>
        </p:txBody>
      </p:sp>
      <p:sp>
        <p:nvSpPr>
          <p:cNvPr id="26" name="Text 20"/>
          <p:cNvSpPr/>
          <p:nvPr/>
        </p:nvSpPr>
        <p:spPr>
          <a:xfrm>
            <a:off x="5212080" y="3081528"/>
            <a:ext cx="3337560" cy="5029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English and Spanish tickets about the same issue can produce similar vectors.</a:t>
            </a:r>
            <a:endParaRPr lang="en-US" sz="1000" dirty="0"/>
          </a:p>
        </p:txBody>
      </p:sp>
      <p:sp>
        <p:nvSpPr>
          <p:cNvPr id="27" name="Shape 21"/>
          <p:cNvSpPr/>
          <p:nvPr/>
        </p:nvSpPr>
        <p:spPr>
          <a:xfrm>
            <a:off x="411480" y="3840480"/>
            <a:ext cx="4023360" cy="1005840"/>
          </a:xfrm>
          <a:prstGeom prst="roundRect">
            <a:avLst>
              <a:gd name="adj" fmla="val 818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8" name="Shape 22"/>
          <p:cNvSpPr/>
          <p:nvPr/>
        </p:nvSpPr>
        <p:spPr>
          <a:xfrm>
            <a:off x="521208" y="3950208"/>
            <a:ext cx="347472" cy="347472"/>
          </a:xfrm>
          <a:prstGeom prst="ellipse">
            <a:avLst/>
          </a:prstGeom>
          <a:solidFill>
            <a:srgbClr val="0891B2"/>
          </a:solidFill>
          <a:ln w="12700">
            <a:solidFill>
              <a:srgbClr val="0891B2"/>
            </a:solidFill>
            <a:prstDash val="solid"/>
          </a:ln>
        </p:spPr>
      </p:sp>
      <p:pic>
        <p:nvPicPr>
          <p:cNvPr id="29" name="Image 4" descr="preencoded.png">    </p:cNvPr>
          <p:cNvPicPr>
            <a:picLocks noChangeAspect="1"/>
          </p:cNvPicPr>
          <p:nvPr/>
        </p:nvPicPr>
        <p:blipFill>
          <a:blip r:embed="rId5"/>
          <a:stretch>
            <a:fillRect/>
          </a:stretch>
        </p:blipFill>
        <p:spPr>
          <a:xfrm>
            <a:off x="576072" y="4005072"/>
            <a:ext cx="237744" cy="237744"/>
          </a:xfrm>
          <a:prstGeom prst="rect">
            <a:avLst/>
          </a:prstGeom>
        </p:spPr>
      </p:pic>
      <p:sp>
        <p:nvSpPr>
          <p:cNvPr id="30" name="Text 23"/>
          <p:cNvSpPr/>
          <p:nvPr/>
        </p:nvSpPr>
        <p:spPr>
          <a:xfrm>
            <a:off x="960120" y="3931920"/>
            <a:ext cx="333756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Fixed length — always 1,536 numbers</a:t>
            </a:r>
            <a:endParaRPr lang="en-US" sz="1100" dirty="0"/>
          </a:p>
        </p:txBody>
      </p:sp>
      <p:sp>
        <p:nvSpPr>
          <p:cNvPr id="31" name="Text 24"/>
          <p:cNvSpPr/>
          <p:nvPr/>
        </p:nvSpPr>
        <p:spPr>
          <a:xfrm>
            <a:off x="960120" y="4224528"/>
            <a:ext cx="3337560" cy="5029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 5-word message and a 500-word paragraph both produce exactly 1,536 numbers.</a:t>
            </a:r>
            <a:endParaRPr lang="en-US" sz="1000" dirty="0"/>
          </a:p>
        </p:txBody>
      </p:sp>
      <p:sp>
        <p:nvSpPr>
          <p:cNvPr id="32" name="Shape 25"/>
          <p:cNvSpPr/>
          <p:nvPr/>
        </p:nvSpPr>
        <p:spPr>
          <a:xfrm>
            <a:off x="4663440" y="3840480"/>
            <a:ext cx="4023360" cy="1005840"/>
          </a:xfrm>
          <a:prstGeom prst="roundRect">
            <a:avLst>
              <a:gd name="adj" fmla="val 818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33" name="Shape 26"/>
          <p:cNvSpPr/>
          <p:nvPr/>
        </p:nvSpPr>
        <p:spPr>
          <a:xfrm>
            <a:off x="4773168" y="3950208"/>
            <a:ext cx="347472" cy="347472"/>
          </a:xfrm>
          <a:prstGeom prst="ellipse">
            <a:avLst/>
          </a:prstGeom>
          <a:solidFill>
            <a:srgbClr val="F59E0B"/>
          </a:solidFill>
          <a:ln w="12700">
            <a:solidFill>
              <a:srgbClr val="F59E0B"/>
            </a:solidFill>
            <a:prstDash val="solid"/>
          </a:ln>
        </p:spPr>
      </p:sp>
      <p:pic>
        <p:nvPicPr>
          <p:cNvPr id="34" name="Image 5" descr="preencoded.png">    </p:cNvPr>
          <p:cNvPicPr>
            <a:picLocks noChangeAspect="1"/>
          </p:cNvPicPr>
          <p:nvPr/>
        </p:nvPicPr>
        <p:blipFill>
          <a:blip r:embed="rId6"/>
          <a:stretch>
            <a:fillRect/>
          </a:stretch>
        </p:blipFill>
        <p:spPr>
          <a:xfrm>
            <a:off x="4828032" y="4005072"/>
            <a:ext cx="237744" cy="237744"/>
          </a:xfrm>
          <a:prstGeom prst="rect">
            <a:avLst/>
          </a:prstGeom>
        </p:spPr>
      </p:pic>
      <p:sp>
        <p:nvSpPr>
          <p:cNvPr id="35" name="Text 27"/>
          <p:cNvSpPr/>
          <p:nvPr/>
        </p:nvSpPr>
        <p:spPr>
          <a:xfrm>
            <a:off x="5212080" y="3931920"/>
            <a:ext cx="333756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Numbers are meaningless to humans</a:t>
            </a:r>
            <a:endParaRPr lang="en-US" sz="1100" dirty="0"/>
          </a:p>
        </p:txBody>
      </p:sp>
      <p:sp>
        <p:nvSpPr>
          <p:cNvPr id="36" name="Text 28"/>
          <p:cNvSpPr/>
          <p:nvPr/>
        </p:nvSpPr>
        <p:spPr>
          <a:xfrm>
            <a:off x="5212080" y="4224528"/>
            <a:ext cx="3337560" cy="5029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You cannot 'read' a vector. You can only measure distance between vectors.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3 — EMBEDDINGS</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Cosine Similarity — Measuring Vector Distance</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8321040" cy="1188720"/>
          </a:xfrm>
          <a:prstGeom prst="roundRect">
            <a:avLst>
              <a:gd name="adj" fmla="val 7692"/>
            </a:avLst>
          </a:prstGeom>
          <a:solidFill>
            <a:srgbClr val="0A1628"/>
          </a:solidFill>
          <a:ln w="12700">
            <a:solidFill>
              <a:srgbClr val="0A1628"/>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594360" y="1207008"/>
            <a:ext cx="7955280" cy="502920"/>
          </a:xfrm>
          <a:prstGeom prst="rect">
            <a:avLst/>
          </a:prstGeom>
          <a:noFill/>
          <a:ln/>
        </p:spPr>
        <p:txBody>
          <a:bodyPr wrap="square" rtlCol="0" anchor="ctr"/>
          <a:lstStyle/>
          <a:p>
            <a:pPr algn="ctr" indent="0" marL="0">
              <a:buNone/>
            </a:pPr>
            <a:r>
              <a:rPr lang="en-US" sz="2200" b="1" dirty="0">
                <a:solidFill>
                  <a:srgbClr val="06B6D4"/>
                </a:solidFill>
                <a:latin typeface="Courier New" pitchFamily="34" charset="0"/>
                <a:ea typeface="Courier New" pitchFamily="34" charset="-122"/>
                <a:cs typeface="Courier New" pitchFamily="34" charset="-120"/>
              </a:rPr>
              <a:t>cosine_similarity(A, B)  =  (A · B) / (|A| × |B|)</a:t>
            </a:r>
            <a:endParaRPr lang="en-US" sz="2200" dirty="0"/>
          </a:p>
        </p:txBody>
      </p:sp>
      <p:sp>
        <p:nvSpPr>
          <p:cNvPr id="8" name="Text 6"/>
          <p:cNvSpPr/>
          <p:nvPr/>
        </p:nvSpPr>
        <p:spPr>
          <a:xfrm>
            <a:off x="594360" y="1719072"/>
            <a:ext cx="7955280" cy="256032"/>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dot product of A and B  divided by  (magnitude of A  ×  magnitude of B)</a:t>
            </a:r>
            <a:endParaRPr lang="en-US" sz="1100" dirty="0"/>
          </a:p>
        </p:txBody>
      </p:sp>
      <p:sp>
        <p:nvSpPr>
          <p:cNvPr id="9" name="Shape 7"/>
          <p:cNvSpPr/>
          <p:nvPr/>
        </p:nvSpPr>
        <p:spPr>
          <a:xfrm>
            <a:off x="411480" y="2423160"/>
            <a:ext cx="2011680" cy="1188720"/>
          </a:xfrm>
          <a:prstGeom prst="roundRect">
            <a:avLst>
              <a:gd name="adj" fmla="val 769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411480" y="2496312"/>
            <a:ext cx="2011680" cy="502920"/>
          </a:xfrm>
          <a:prstGeom prst="rect">
            <a:avLst/>
          </a:prstGeom>
          <a:noFill/>
          <a:ln/>
        </p:spPr>
        <p:txBody>
          <a:bodyPr wrap="square"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1.0</a:t>
            </a:r>
            <a:endParaRPr lang="en-US" sz="2800" dirty="0"/>
          </a:p>
        </p:txBody>
      </p:sp>
      <p:sp>
        <p:nvSpPr>
          <p:cNvPr id="11" name="Text 9"/>
          <p:cNvSpPr/>
          <p:nvPr/>
        </p:nvSpPr>
        <p:spPr>
          <a:xfrm>
            <a:off x="502920" y="3017520"/>
            <a:ext cx="1828800" cy="50292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Identical direction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Very similar meaning</a:t>
            </a:r>
            <a:endParaRPr lang="en-US" sz="1000" dirty="0"/>
          </a:p>
        </p:txBody>
      </p:sp>
      <p:sp>
        <p:nvSpPr>
          <p:cNvPr id="12" name="Shape 10"/>
          <p:cNvSpPr/>
          <p:nvPr/>
        </p:nvSpPr>
        <p:spPr>
          <a:xfrm>
            <a:off x="2542032" y="2423160"/>
            <a:ext cx="2011680" cy="1188720"/>
          </a:xfrm>
          <a:prstGeom prst="roundRect">
            <a:avLst>
              <a:gd name="adj" fmla="val 769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2542032" y="2496312"/>
            <a:ext cx="2011680" cy="502920"/>
          </a:xfrm>
          <a:prstGeom prst="rect">
            <a:avLst/>
          </a:prstGeom>
          <a:noFill/>
          <a:ln/>
        </p:spPr>
        <p:txBody>
          <a:bodyPr wrap="square" rtlCol="0" anchor="ctr"/>
          <a:lstStyle/>
          <a:p>
            <a:pPr algn="ctr" indent="0" marL="0">
              <a:buNone/>
            </a:pPr>
            <a:r>
              <a:rPr lang="en-US" sz="2800" b="1" dirty="0">
                <a:solidFill>
                  <a:srgbClr val="06B6D4"/>
                </a:solidFill>
                <a:latin typeface="Calibri" pitchFamily="34" charset="0"/>
                <a:ea typeface="Calibri" pitchFamily="34" charset="-122"/>
                <a:cs typeface="Calibri" pitchFamily="34" charset="-120"/>
              </a:rPr>
              <a:t>0.5</a:t>
            </a:r>
            <a:endParaRPr lang="en-US" sz="2800" dirty="0"/>
          </a:p>
        </p:txBody>
      </p:sp>
      <p:sp>
        <p:nvSpPr>
          <p:cNvPr id="14" name="Text 12"/>
          <p:cNvSpPr/>
          <p:nvPr/>
        </p:nvSpPr>
        <p:spPr>
          <a:xfrm>
            <a:off x="2633472" y="3017520"/>
            <a:ext cx="1828800" cy="50292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Moderate similarity</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Somewhat related</a:t>
            </a:r>
            <a:endParaRPr lang="en-US" sz="1000" dirty="0"/>
          </a:p>
        </p:txBody>
      </p:sp>
      <p:sp>
        <p:nvSpPr>
          <p:cNvPr id="15" name="Shape 13"/>
          <p:cNvSpPr/>
          <p:nvPr/>
        </p:nvSpPr>
        <p:spPr>
          <a:xfrm>
            <a:off x="4672584" y="2423160"/>
            <a:ext cx="2011680" cy="1188720"/>
          </a:xfrm>
          <a:prstGeom prst="roundRect">
            <a:avLst>
              <a:gd name="adj" fmla="val 769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4672584" y="2496312"/>
            <a:ext cx="2011680" cy="502920"/>
          </a:xfrm>
          <a:prstGeom prst="rect">
            <a:avLst/>
          </a:prstGeom>
          <a:noFill/>
          <a:ln/>
        </p:spPr>
        <p:txBody>
          <a:bodyPr wrap="square" rtlCol="0" anchor="ctr"/>
          <a:lstStyle/>
          <a:p>
            <a:pPr algn="ctr" indent="0" marL="0">
              <a:buNone/>
            </a:pPr>
            <a:r>
              <a:rPr lang="en-US" sz="2800" b="1" dirty="0">
                <a:solidFill>
                  <a:srgbClr val="94A3B8"/>
                </a:solidFill>
                <a:latin typeface="Calibri" pitchFamily="34" charset="0"/>
                <a:ea typeface="Calibri" pitchFamily="34" charset="-122"/>
                <a:cs typeface="Calibri" pitchFamily="34" charset="-120"/>
              </a:rPr>
              <a:t>0.0</a:t>
            </a:r>
            <a:endParaRPr lang="en-US" sz="2800" dirty="0"/>
          </a:p>
        </p:txBody>
      </p:sp>
      <p:sp>
        <p:nvSpPr>
          <p:cNvPr id="17" name="Text 15"/>
          <p:cNvSpPr/>
          <p:nvPr/>
        </p:nvSpPr>
        <p:spPr>
          <a:xfrm>
            <a:off x="4764024" y="3017520"/>
            <a:ext cx="1828800" cy="50292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Perpendicular</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Unrelated topics</a:t>
            </a:r>
            <a:endParaRPr lang="en-US" sz="1000" dirty="0"/>
          </a:p>
        </p:txBody>
      </p:sp>
      <p:sp>
        <p:nvSpPr>
          <p:cNvPr id="18" name="Shape 16"/>
          <p:cNvSpPr/>
          <p:nvPr/>
        </p:nvSpPr>
        <p:spPr>
          <a:xfrm>
            <a:off x="6803136" y="2423160"/>
            <a:ext cx="2011680" cy="1188720"/>
          </a:xfrm>
          <a:prstGeom prst="roundRect">
            <a:avLst>
              <a:gd name="adj" fmla="val 7692"/>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9" name="Text 17"/>
          <p:cNvSpPr/>
          <p:nvPr/>
        </p:nvSpPr>
        <p:spPr>
          <a:xfrm>
            <a:off x="6803136" y="2496312"/>
            <a:ext cx="2011680" cy="502920"/>
          </a:xfrm>
          <a:prstGeom prst="rect">
            <a:avLst/>
          </a:prstGeom>
          <a:noFill/>
          <a:ln/>
        </p:spPr>
        <p:txBody>
          <a:bodyPr wrap="square" rtlCol="0" anchor="ctr"/>
          <a:lstStyle/>
          <a:p>
            <a:pPr algn="ctr" indent="0" marL="0">
              <a:buNone/>
            </a:pPr>
            <a:r>
              <a:rPr lang="en-US" sz="2800" b="1" dirty="0">
                <a:solidFill>
                  <a:srgbClr val="EF4444"/>
                </a:solidFill>
                <a:latin typeface="Calibri" pitchFamily="34" charset="0"/>
                <a:ea typeface="Calibri" pitchFamily="34" charset="-122"/>
                <a:cs typeface="Calibri" pitchFamily="34" charset="-120"/>
              </a:rPr>
              <a:t>-1.0</a:t>
            </a:r>
            <a:endParaRPr lang="en-US" sz="2800" dirty="0"/>
          </a:p>
        </p:txBody>
      </p:sp>
      <p:sp>
        <p:nvSpPr>
          <p:cNvPr id="20" name="Text 18"/>
          <p:cNvSpPr/>
          <p:nvPr/>
        </p:nvSpPr>
        <p:spPr>
          <a:xfrm>
            <a:off x="6894576" y="3017520"/>
            <a:ext cx="1828800" cy="50292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Opposite direction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Opposite meaning</a:t>
            </a:r>
            <a:endParaRPr lang="en-US" sz="1000" dirty="0"/>
          </a:p>
        </p:txBody>
      </p:sp>
      <p:sp>
        <p:nvSpPr>
          <p:cNvPr id="21" name="Text 19"/>
          <p:cNvSpPr/>
          <p:nvPr/>
        </p:nvSpPr>
        <p:spPr>
          <a:xfrm>
            <a:off x="411480" y="3730752"/>
            <a:ext cx="832104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Python implementation:</a:t>
            </a:r>
            <a:endParaRPr lang="en-US" sz="1100" dirty="0"/>
          </a:p>
        </p:txBody>
      </p:sp>
      <p:sp>
        <p:nvSpPr>
          <p:cNvPr id="22" name="Shape 20"/>
          <p:cNvSpPr/>
          <p:nvPr/>
        </p:nvSpPr>
        <p:spPr>
          <a:xfrm>
            <a:off x="411480" y="4005072"/>
            <a:ext cx="8321040" cy="960120"/>
          </a:xfrm>
          <a:prstGeom prst="roundRect">
            <a:avLst>
              <a:gd name="adj" fmla="val 7619"/>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23" name="Text 21"/>
          <p:cNvSpPr/>
          <p:nvPr/>
        </p:nvSpPr>
        <p:spPr>
          <a:xfrm>
            <a:off x="521208" y="4096512"/>
            <a:ext cx="8101584" cy="77724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import numpy as np</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def cosine_similarity(vec_a, vec_b):</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return np.dot(vec_a, vec_b) / (np.linalg.norm(vec_a) * np.linalg.norm(vec_b))</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Result: delivery_delay vs shipment_late → ~0.97   |   delivery vs payment_issue → ~0.11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3 — EMBEDDINGS</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Enrichment Must Run Before Embeddings</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1920240" cy="822960"/>
          </a:xfrm>
          <a:prstGeom prst="roundRect">
            <a:avLst>
              <a:gd name="adj" fmla="val 100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411480" y="1188720"/>
            <a:ext cx="1920240" cy="347472"/>
          </a:xfrm>
          <a:prstGeom prst="rect">
            <a:avLst/>
          </a:prstGeom>
          <a:noFill/>
          <a:ln/>
        </p:spPr>
        <p:txBody>
          <a:bodyPr wrap="square" rtlCol="0" anchor="ctr"/>
          <a:lstStyle/>
          <a:p>
            <a:pPr algn="ctr" indent="0" marL="0">
              <a:buNone/>
            </a:pPr>
            <a:r>
              <a:rPr lang="en-US" sz="1400" b="1" dirty="0">
                <a:solidFill>
                  <a:srgbClr val="94A3B8"/>
                </a:solidFill>
                <a:latin typeface="Calibri" pitchFamily="34" charset="0"/>
                <a:ea typeface="Calibri" pitchFamily="34" charset="-122"/>
                <a:cs typeface="Calibri" pitchFamily="34" charset="-120"/>
              </a:rPr>
              <a:t>Raw Ticket</a:t>
            </a:r>
            <a:endParaRPr lang="en-US" sz="1400" dirty="0"/>
          </a:p>
        </p:txBody>
      </p:sp>
      <p:sp>
        <p:nvSpPr>
          <p:cNvPr id="8" name="Text 6"/>
          <p:cNvSpPr/>
          <p:nvPr/>
        </p:nvSpPr>
        <p:spPr>
          <a:xfrm>
            <a:off x="411480" y="1536192"/>
            <a:ext cx="192024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free text</a:t>
            </a:r>
            <a:endParaRPr lang="en-US" sz="1000" dirty="0"/>
          </a:p>
        </p:txBody>
      </p:sp>
      <p:pic>
        <p:nvPicPr>
          <p:cNvPr id="9" name="Image 0" descr="preencoded.png">    </p:cNvPr>
          <p:cNvPicPr>
            <a:picLocks noChangeAspect="1"/>
          </p:cNvPicPr>
          <p:nvPr/>
        </p:nvPicPr>
        <p:blipFill>
          <a:blip r:embed="rId1"/>
          <a:stretch>
            <a:fillRect/>
          </a:stretch>
        </p:blipFill>
        <p:spPr>
          <a:xfrm>
            <a:off x="2377440" y="1417320"/>
            <a:ext cx="365760" cy="274320"/>
          </a:xfrm>
          <a:prstGeom prst="rect">
            <a:avLst/>
          </a:prstGeom>
        </p:spPr>
      </p:pic>
      <p:sp>
        <p:nvSpPr>
          <p:cNvPr id="10" name="Shape 7"/>
          <p:cNvSpPr/>
          <p:nvPr/>
        </p:nvSpPr>
        <p:spPr>
          <a:xfrm>
            <a:off x="2560320" y="1115568"/>
            <a:ext cx="1920240" cy="822960"/>
          </a:xfrm>
          <a:prstGeom prst="roundRect">
            <a:avLst>
              <a:gd name="adj" fmla="val 100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1" name="Text 8"/>
          <p:cNvSpPr/>
          <p:nvPr/>
        </p:nvSpPr>
        <p:spPr>
          <a:xfrm>
            <a:off x="2560320" y="1188720"/>
            <a:ext cx="1920240" cy="347472"/>
          </a:xfrm>
          <a:prstGeom prst="rect">
            <a:avLst/>
          </a:prstGeom>
          <a:noFill/>
          <a:ln/>
        </p:spPr>
        <p:txBody>
          <a:bodyPr wrap="square" rtlCol="0" anchor="ctr"/>
          <a:lstStyle/>
          <a:p>
            <a:pPr algn="ctr" indent="0" marL="0">
              <a:buNone/>
            </a:pPr>
            <a:r>
              <a:rPr lang="en-US" sz="1400" b="1" dirty="0">
                <a:solidFill>
                  <a:srgbClr val="2563EB"/>
                </a:solidFill>
                <a:latin typeface="Calibri" pitchFamily="34" charset="0"/>
                <a:ea typeface="Calibri" pitchFamily="34" charset="-122"/>
                <a:cs typeface="Calibri" pitchFamily="34" charset="-120"/>
              </a:rPr>
              <a:t>Enrich</a:t>
            </a:r>
            <a:endParaRPr lang="en-US" sz="1400" dirty="0"/>
          </a:p>
        </p:txBody>
      </p:sp>
      <p:sp>
        <p:nvSpPr>
          <p:cNvPr id="12" name="Text 9"/>
          <p:cNvSpPr/>
          <p:nvPr/>
        </p:nvSpPr>
        <p:spPr>
          <a:xfrm>
            <a:off x="2560320" y="1536192"/>
            <a:ext cx="192024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Bedrock Converse</a:t>
            </a:r>
            <a:endParaRPr lang="en-US" sz="1000" dirty="0"/>
          </a:p>
        </p:txBody>
      </p:sp>
      <p:pic>
        <p:nvPicPr>
          <p:cNvPr id="13" name="Image 1" descr="preencoded.png">    </p:cNvPr>
          <p:cNvPicPr>
            <a:picLocks noChangeAspect="1"/>
          </p:cNvPicPr>
          <p:nvPr/>
        </p:nvPicPr>
        <p:blipFill>
          <a:blip r:embed="rId2"/>
          <a:stretch>
            <a:fillRect/>
          </a:stretch>
        </p:blipFill>
        <p:spPr>
          <a:xfrm>
            <a:off x="4526280" y="1417320"/>
            <a:ext cx="365760" cy="274320"/>
          </a:xfrm>
          <a:prstGeom prst="rect">
            <a:avLst/>
          </a:prstGeom>
        </p:spPr>
      </p:pic>
      <p:sp>
        <p:nvSpPr>
          <p:cNvPr id="14" name="Shape 10"/>
          <p:cNvSpPr/>
          <p:nvPr/>
        </p:nvSpPr>
        <p:spPr>
          <a:xfrm>
            <a:off x="4709160" y="1115568"/>
            <a:ext cx="1920240" cy="822960"/>
          </a:xfrm>
          <a:prstGeom prst="roundRect">
            <a:avLst>
              <a:gd name="adj" fmla="val 100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5" name="Text 11"/>
          <p:cNvSpPr/>
          <p:nvPr/>
        </p:nvSpPr>
        <p:spPr>
          <a:xfrm>
            <a:off x="4709160" y="1188720"/>
            <a:ext cx="1920240" cy="347472"/>
          </a:xfrm>
          <a:prstGeom prst="rect">
            <a:avLst/>
          </a:prstGeom>
          <a:noFill/>
          <a:ln/>
        </p:spPr>
        <p:txBody>
          <a:bodyPr wrap="square" rtlCol="0" anchor="ctr"/>
          <a:lstStyle/>
          <a:p>
            <a:pPr algn="ctr" indent="0" marL="0">
              <a:buNone/>
            </a:pPr>
            <a:r>
              <a:rPr lang="en-US" sz="1400" b="1" dirty="0">
                <a:solidFill>
                  <a:srgbClr val="0891B2"/>
                </a:solidFill>
                <a:latin typeface="Calibri" pitchFamily="34" charset="0"/>
                <a:ea typeface="Calibri" pitchFamily="34" charset="-122"/>
                <a:cs typeface="Calibri" pitchFamily="34" charset="-120"/>
              </a:rPr>
              <a:t>Summary</a:t>
            </a:r>
            <a:endParaRPr lang="en-US" sz="1400" dirty="0"/>
          </a:p>
        </p:txBody>
      </p:sp>
      <p:sp>
        <p:nvSpPr>
          <p:cNvPr id="16" name="Text 12"/>
          <p:cNvSpPr/>
          <p:nvPr/>
        </p:nvSpPr>
        <p:spPr>
          <a:xfrm>
            <a:off x="4709160" y="1536192"/>
            <a:ext cx="192024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structured text</a:t>
            </a:r>
            <a:endParaRPr lang="en-US" sz="1000" dirty="0"/>
          </a:p>
        </p:txBody>
      </p:sp>
      <p:pic>
        <p:nvPicPr>
          <p:cNvPr id="17" name="Image 2" descr="preencoded.png">    </p:cNvPr>
          <p:cNvPicPr>
            <a:picLocks noChangeAspect="1"/>
          </p:cNvPicPr>
          <p:nvPr/>
        </p:nvPicPr>
        <p:blipFill>
          <a:blip r:embed="rId3"/>
          <a:stretch>
            <a:fillRect/>
          </a:stretch>
        </p:blipFill>
        <p:spPr>
          <a:xfrm>
            <a:off x="6675120" y="1417320"/>
            <a:ext cx="365760" cy="274320"/>
          </a:xfrm>
          <a:prstGeom prst="rect">
            <a:avLst/>
          </a:prstGeom>
        </p:spPr>
      </p:pic>
      <p:sp>
        <p:nvSpPr>
          <p:cNvPr id="18" name="Shape 13"/>
          <p:cNvSpPr/>
          <p:nvPr/>
        </p:nvSpPr>
        <p:spPr>
          <a:xfrm>
            <a:off x="6858000" y="1115568"/>
            <a:ext cx="1920240" cy="822960"/>
          </a:xfrm>
          <a:prstGeom prst="roundRect">
            <a:avLst>
              <a:gd name="adj" fmla="val 100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9" name="Text 14"/>
          <p:cNvSpPr/>
          <p:nvPr/>
        </p:nvSpPr>
        <p:spPr>
          <a:xfrm>
            <a:off x="6858000" y="1188720"/>
            <a:ext cx="1920240" cy="347472"/>
          </a:xfrm>
          <a:prstGeom prst="rect">
            <a:avLst/>
          </a:prstGeom>
          <a:noFill/>
          <a:ln/>
        </p:spPr>
        <p:txBody>
          <a:bodyPr wrap="square"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Embed</a:t>
            </a:r>
            <a:endParaRPr lang="en-US" sz="1400" dirty="0"/>
          </a:p>
        </p:txBody>
      </p:sp>
      <p:sp>
        <p:nvSpPr>
          <p:cNvPr id="20" name="Text 15"/>
          <p:cNvSpPr/>
          <p:nvPr/>
        </p:nvSpPr>
        <p:spPr>
          <a:xfrm>
            <a:off x="6858000" y="1536192"/>
            <a:ext cx="1920240" cy="2743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Bedrock InvokeModel</a:t>
            </a:r>
            <a:endParaRPr lang="en-US" sz="1000" dirty="0"/>
          </a:p>
        </p:txBody>
      </p:sp>
      <p:sp>
        <p:nvSpPr>
          <p:cNvPr id="21" name="Shape 16"/>
          <p:cNvSpPr/>
          <p:nvPr/>
        </p:nvSpPr>
        <p:spPr>
          <a:xfrm>
            <a:off x="411480" y="2121408"/>
            <a:ext cx="4023360" cy="2560320"/>
          </a:xfrm>
          <a:prstGeom prst="roundRect">
            <a:avLst>
              <a:gd name="adj" fmla="val 3571"/>
            </a:avLst>
          </a:prstGeom>
          <a:solidFill>
            <a:srgbClr val="1A0A0A"/>
          </a:solidFill>
          <a:ln w="12700">
            <a:solidFill>
              <a:srgbClr val="1A0A0A"/>
            </a:solidFill>
            <a:prstDash val="solid"/>
          </a:ln>
          <a:effectLst>
            <a:outerShdw sx="100000" sy="100000" kx="0" ky="0" algn="bl" rotWithShape="0" blurRad="101600" dist="38100" dir="2700000">
              <a:srgbClr val="000000">
                <a:alpha val="18000"/>
              </a:srgbClr>
            </a:outerShdw>
          </a:effectLst>
        </p:spPr>
      </p:sp>
      <p:sp>
        <p:nvSpPr>
          <p:cNvPr id="22" name="Text 17"/>
          <p:cNvSpPr/>
          <p:nvPr/>
        </p:nvSpPr>
        <p:spPr>
          <a:xfrm>
            <a:off x="548640" y="2194560"/>
            <a:ext cx="3749040" cy="256032"/>
          </a:xfrm>
          <a:prstGeom prst="rect">
            <a:avLst/>
          </a:prstGeom>
          <a:noFill/>
          <a:ln/>
        </p:spPr>
        <p:txBody>
          <a:bodyPr wrap="square"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  Embedding RAW messages:</a:t>
            </a:r>
            <a:endParaRPr lang="en-US" sz="1200" dirty="0"/>
          </a:p>
        </p:txBody>
      </p:sp>
      <p:sp>
        <p:nvSpPr>
          <p:cNvPr id="23" name="Shape 18"/>
          <p:cNvSpPr/>
          <p:nvPr/>
        </p:nvSpPr>
        <p:spPr>
          <a:xfrm>
            <a:off x="502920" y="2487168"/>
            <a:ext cx="3840480" cy="1143000"/>
          </a:xfrm>
          <a:prstGeom prst="roundRect">
            <a:avLst>
              <a:gd name="adj" fmla="val 6400"/>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24" name="Text 19"/>
          <p:cNvSpPr/>
          <p:nvPr/>
        </p:nvSpPr>
        <p:spPr>
          <a:xfrm>
            <a:off x="612648" y="2578608"/>
            <a:ext cx="3621024" cy="96012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"my order is late"</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"donde está mi paquete"   ← Spanish</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"its been 3 weeks wtf"    ← informal</a:t>
            </a:r>
            <a:endParaRPr lang="en-US" sz="1050" dirty="0"/>
          </a:p>
        </p:txBody>
      </p:sp>
      <p:sp>
        <p:nvSpPr>
          <p:cNvPr id="25" name="Text 20"/>
          <p:cNvSpPr/>
          <p:nvPr/>
        </p:nvSpPr>
        <p:spPr>
          <a:xfrm>
            <a:off x="548640" y="3703320"/>
            <a:ext cx="3749040" cy="822960"/>
          </a:xfrm>
          <a:prstGeom prst="rect">
            <a:avLst/>
          </a:prstGeom>
          <a:noFill/>
          <a:ln/>
        </p:spPr>
        <p:txBody>
          <a:bodyPr wrap="square" rtlCol="0" anchor="ctr"/>
          <a:lstStyle/>
          <a:p>
            <a:pPr indent="0" marL="0">
              <a:buNone/>
            </a:pPr>
            <a:r>
              <a:rPr lang="en-US" sz="1100" dirty="0">
                <a:solidFill>
                  <a:srgbClr val="FC9C9C"/>
                </a:solidFill>
                <a:latin typeface="Calibri" pitchFamily="34" charset="0"/>
                <a:ea typeface="Calibri" pitchFamily="34" charset="-122"/>
                <a:cs typeface="Calibri" pitchFamily="34" charset="-120"/>
              </a:rPr>
              <a:t>Similarity A↔B: 0.61  (language gap)</a:t>
            </a:r>
            <a:endParaRPr lang="en-US" sz="1100" dirty="0"/>
          </a:p>
          <a:p>
            <a:pPr indent="0" marL="0">
              <a:buNone/>
            </a:pPr>
            <a:r>
              <a:rPr lang="en-US" sz="1100" dirty="0">
                <a:solidFill>
                  <a:srgbClr val="FC9C9C"/>
                </a:solidFill>
                <a:latin typeface="Calibri" pitchFamily="34" charset="0"/>
                <a:ea typeface="Calibri" pitchFamily="34" charset="-122"/>
                <a:cs typeface="Calibri" pitchFamily="34" charset="-120"/>
              </a:rPr>
              <a:t>Similarity A↔C: 0.54  (style gap)</a:t>
            </a:r>
            <a:endParaRPr lang="en-US" sz="1100" dirty="0"/>
          </a:p>
          <a:p>
            <a:pPr indent="0" marL="0">
              <a:buNone/>
            </a:pPr>
            <a:r>
              <a:rPr lang="en-US" sz="1100" dirty="0">
                <a:solidFill>
                  <a:srgbClr val="FC9C9C"/>
                </a:solidFill>
                <a:latin typeface="Calibri" pitchFamily="34" charset="0"/>
                <a:ea typeface="Calibri" pitchFamily="34" charset="-122"/>
                <a:cs typeface="Calibri" pitchFamily="34" charset="-120"/>
              </a:rPr>
              <a:t>Same issue — poor clustering!</a:t>
            </a:r>
            <a:endParaRPr lang="en-US" sz="1100" dirty="0"/>
          </a:p>
        </p:txBody>
      </p:sp>
      <p:sp>
        <p:nvSpPr>
          <p:cNvPr id="26" name="Shape 21"/>
          <p:cNvSpPr/>
          <p:nvPr/>
        </p:nvSpPr>
        <p:spPr>
          <a:xfrm>
            <a:off x="4663440" y="2121408"/>
            <a:ext cx="4023360" cy="2560320"/>
          </a:xfrm>
          <a:prstGeom prst="roundRect">
            <a:avLst>
              <a:gd name="adj" fmla="val 3571"/>
            </a:avLst>
          </a:prstGeom>
          <a:solidFill>
            <a:srgbClr val="0A1A0A"/>
          </a:solidFill>
          <a:ln w="12700">
            <a:solidFill>
              <a:srgbClr val="0A1A0A"/>
            </a:solidFill>
            <a:prstDash val="solid"/>
          </a:ln>
          <a:effectLst>
            <a:outerShdw sx="100000" sy="100000" kx="0" ky="0" algn="bl" rotWithShape="0" blurRad="101600" dist="38100" dir="2700000">
              <a:srgbClr val="000000">
                <a:alpha val="18000"/>
              </a:srgbClr>
            </a:outerShdw>
          </a:effectLst>
        </p:spPr>
      </p:sp>
      <p:sp>
        <p:nvSpPr>
          <p:cNvPr id="27" name="Text 22"/>
          <p:cNvSpPr/>
          <p:nvPr/>
        </p:nvSpPr>
        <p:spPr>
          <a:xfrm>
            <a:off x="4800600" y="2194560"/>
            <a:ext cx="3749040" cy="256032"/>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Embedding ENRICHED summaries:</a:t>
            </a:r>
            <a:endParaRPr lang="en-US" sz="1200" dirty="0"/>
          </a:p>
        </p:txBody>
      </p:sp>
      <p:sp>
        <p:nvSpPr>
          <p:cNvPr id="28" name="Shape 23"/>
          <p:cNvSpPr/>
          <p:nvPr/>
        </p:nvSpPr>
        <p:spPr>
          <a:xfrm>
            <a:off x="4754880" y="2487168"/>
            <a:ext cx="3840480" cy="1143000"/>
          </a:xfrm>
          <a:prstGeom prst="roundRect">
            <a:avLst>
              <a:gd name="adj" fmla="val 6400"/>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29" name="Text 24"/>
          <p:cNvSpPr/>
          <p:nvPr/>
        </p:nvSpPr>
        <p:spPr>
          <a:xfrm>
            <a:off x="4864608" y="2578608"/>
            <a:ext cx="3621024" cy="96012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"DELIVERY_DELAY|HIGH|not received"</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"DELIVERY_DELAY|HIGH|not received"</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"DELIVERY_DELAY|HIGH|not received"</a:t>
            </a:r>
            <a:endParaRPr lang="en-US" sz="1050" dirty="0"/>
          </a:p>
        </p:txBody>
      </p:sp>
      <p:sp>
        <p:nvSpPr>
          <p:cNvPr id="30" name="Text 25"/>
          <p:cNvSpPr/>
          <p:nvPr/>
        </p:nvSpPr>
        <p:spPr>
          <a:xfrm>
            <a:off x="4828032" y="3703320"/>
            <a:ext cx="3749040" cy="822960"/>
          </a:xfrm>
          <a:prstGeom prst="rect">
            <a:avLst/>
          </a:prstGeom>
          <a:noFill/>
          <a:ln/>
        </p:spPr>
        <p:txBody>
          <a:bodyPr wrap="square" rtlCol="0" anchor="ctr"/>
          <a:lstStyle/>
          <a:p>
            <a:pPr indent="0" marL="0">
              <a:buNone/>
            </a:pPr>
            <a:r>
              <a:rPr lang="en-US" sz="1100" dirty="0">
                <a:solidFill>
                  <a:srgbClr val="10B981"/>
                </a:solidFill>
                <a:latin typeface="Calibri" pitchFamily="34" charset="0"/>
                <a:ea typeface="Calibri" pitchFamily="34" charset="-122"/>
                <a:cs typeface="Calibri" pitchFamily="34" charset="-120"/>
              </a:rPr>
              <a:t>Similarity A↔B: 0.99</a:t>
            </a:r>
            <a:endParaRPr lang="en-US" sz="1100" dirty="0"/>
          </a:p>
          <a:p>
            <a:pPr indent="0" marL="0">
              <a:buNone/>
            </a:pPr>
            <a:r>
              <a:rPr lang="en-US" sz="1100" dirty="0">
                <a:solidFill>
                  <a:srgbClr val="10B981"/>
                </a:solidFill>
                <a:latin typeface="Calibri" pitchFamily="34" charset="0"/>
                <a:ea typeface="Calibri" pitchFamily="34" charset="-122"/>
                <a:cs typeface="Calibri" pitchFamily="34" charset="-120"/>
              </a:rPr>
              <a:t>Similarity A↔C: 0.99</a:t>
            </a:r>
            <a:endParaRPr lang="en-US" sz="1100" dirty="0"/>
          </a:p>
          <a:p>
            <a:pPr indent="0" marL="0">
              <a:buNone/>
            </a:pPr>
            <a:r>
              <a:rPr lang="en-US" sz="1100" dirty="0">
                <a:solidFill>
                  <a:srgbClr val="10B981"/>
                </a:solidFill>
                <a:latin typeface="Calibri" pitchFamily="34" charset="0"/>
                <a:ea typeface="Calibri" pitchFamily="34" charset="-122"/>
                <a:cs typeface="Calibri" pitchFamily="34" charset="-120"/>
              </a:rPr>
              <a:t>Perfect clustering!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3 — EMBEDDINGS</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Two Different APIs — Easy to Confuse</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115568"/>
          <a:ext cx="8321040" cy="3200400"/>
        </p:xfrm>
        <a:graphic>
          <a:graphicData uri="http://schemas.openxmlformats.org/drawingml/2006/table">
            <a:tbl>
              <a:tblPr/>
              <a:tblGrid>
                <a:gridCol w="2011680"/>
                <a:gridCol w="3154680"/>
                <a:gridCol w="31546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Property</a:t>
                      </a:r>
                      <a:endParaRPr lang="en-US" sz="13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E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Converse API (Enrichment)</a:t>
                      </a:r>
                      <a:endParaRPr lang="en-US" sz="13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E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InvokeModel API (Embeddings)</a:t>
                      </a:r>
                      <a:endParaRPr lang="en-US" sz="13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E3A5F"/>
                    </a:solidFill>
                  </a:tcPr>
                </a:tc>
              </a:tr>
              <a:tr h="457200">
                <a:tc>
                  <a:txBody>
                    <a:bodyPr/>
                    <a:lstStyle/>
                    <a:p>
                      <a:pPr indent="0" marL="0">
                        <a:buNone/>
                      </a:pPr>
                      <a:r>
                        <a:rPr lang="en-US" sz="1200" b="1" dirty="0">
                          <a:solidFill>
                            <a:srgbClr val="CBD5E1"/>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Classify, extract, generate text</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0F172A"/>
                    </a:solidFill>
                  </a:tcPr>
                </a:tc>
                <a:tc>
                  <a:txBody>
                    <a:bodyPr/>
                    <a:lstStyle/>
                    <a:p>
                      <a:pPr indent="0" marL="0">
                        <a:buNone/>
                      </a:pPr>
                      <a:r>
                        <a:rPr lang="en-US" sz="1200" dirty="0">
                          <a:solidFill>
                            <a:srgbClr val="10B981"/>
                          </a:solidFill>
                          <a:latin typeface="Courier New" pitchFamily="34" charset="0"/>
                          <a:ea typeface="Courier New" pitchFamily="34" charset="-122"/>
                          <a:cs typeface="Courier New" pitchFamily="34" charset="-120"/>
                        </a:rPr>
                        <a:t>Convert text to a number vector</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0F172A"/>
                    </a:solidFill>
                  </a:tcPr>
                </a:tc>
              </a:tr>
              <a:tr h="457200">
                <a:tc>
                  <a:txBody>
                    <a:bodyPr/>
                    <a:lstStyle/>
                    <a:p>
                      <a:pPr indent="0" marL="0">
                        <a:buNone/>
                      </a:pPr>
                      <a:r>
                        <a:rPr lang="en-US" sz="1200" b="1" dirty="0">
                          <a:solidFill>
                            <a:srgbClr val="CBD5E1"/>
                          </a:solidFill>
                          <a:latin typeface="Calibri" pitchFamily="34" charset="0"/>
                          <a:ea typeface="Calibri" pitchFamily="34" charset="-122"/>
                          <a:cs typeface="Calibri" pitchFamily="34" charset="-120"/>
                        </a:rPr>
                        <a:t>boto3 method</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bedrock_client.converse()</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01820"/>
                    </a:solidFill>
                  </a:tcPr>
                </a:tc>
                <a:tc>
                  <a:txBody>
                    <a:bodyPr/>
                    <a:lstStyle/>
                    <a:p>
                      <a:pPr indent="0" marL="0">
                        <a:buNone/>
                      </a:pPr>
                      <a:r>
                        <a:rPr lang="en-US" sz="1200" dirty="0">
                          <a:solidFill>
                            <a:srgbClr val="10B981"/>
                          </a:solidFill>
                          <a:latin typeface="Courier New" pitchFamily="34" charset="0"/>
                          <a:ea typeface="Courier New" pitchFamily="34" charset="-122"/>
                          <a:cs typeface="Courier New" pitchFamily="34" charset="-120"/>
                        </a:rPr>
                        <a:t>bedrock_client.invoke_model()</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01820"/>
                    </a:solidFill>
                  </a:tcPr>
                </a:tc>
              </a:tr>
              <a:tr h="457200">
                <a:tc>
                  <a:txBody>
                    <a:bodyPr/>
                    <a:lstStyle/>
                    <a:p>
                      <a:pPr indent="0" marL="0">
                        <a:buNone/>
                      </a:pPr>
                      <a:r>
                        <a:rPr lang="en-US" sz="1200" b="1" dirty="0">
                          <a:solidFill>
                            <a:srgbClr val="CBD5E1"/>
                          </a:solidFill>
                          <a:latin typeface="Calibri" pitchFamily="34" charset="0"/>
                          <a:ea typeface="Calibri" pitchFamily="34" charset="-122"/>
                          <a:cs typeface="Calibri" pitchFamily="34" charset="-120"/>
                        </a:rPr>
                        <a:t>Model example</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amazon.nova-lite-v1:0</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0F172A"/>
                    </a:solidFill>
                  </a:tcPr>
                </a:tc>
                <a:tc>
                  <a:txBody>
                    <a:bodyPr/>
                    <a:lstStyle/>
                    <a:p>
                      <a:pPr indent="0" marL="0">
                        <a:buNone/>
                      </a:pPr>
                      <a:r>
                        <a:rPr lang="en-US" sz="1200" dirty="0">
                          <a:solidFill>
                            <a:srgbClr val="10B981"/>
                          </a:solidFill>
                          <a:latin typeface="Courier New" pitchFamily="34" charset="0"/>
                          <a:ea typeface="Courier New" pitchFamily="34" charset="-122"/>
                          <a:cs typeface="Courier New" pitchFamily="34" charset="-120"/>
                        </a:rPr>
                        <a:t>amazon.titan-embed-text-v2:0</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0F172A"/>
                    </a:solidFill>
                  </a:tcPr>
                </a:tc>
              </a:tr>
              <a:tr h="457200">
                <a:tc>
                  <a:txBody>
                    <a:bodyPr/>
                    <a:lstStyle/>
                    <a:p>
                      <a:pPr indent="0" marL="0">
                        <a:buNone/>
                      </a:pPr>
                      <a:r>
                        <a:rPr lang="en-US" sz="1200" b="1" dirty="0">
                          <a:solidFill>
                            <a:srgbClr val="CBD5E1"/>
                          </a:solidFill>
                          <a:latin typeface="Calibri" pitchFamily="34" charset="0"/>
                          <a:ea typeface="Calibri" pitchFamily="34" charset="-122"/>
                          <a:cs typeface="Calibri" pitchFamily="34" charset="-120"/>
                        </a:rPr>
                        <a:t>System prompt</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YES — required</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01820"/>
                    </a:solidFill>
                  </a:tcPr>
                </a:tc>
                <a:tc>
                  <a:txBody>
                    <a:bodyPr/>
                    <a:lstStyle/>
                    <a:p>
                      <a:pPr indent="0" marL="0">
                        <a:buNone/>
                      </a:pPr>
                      <a:r>
                        <a:rPr lang="en-US" sz="1200" dirty="0">
                          <a:solidFill>
                            <a:srgbClr val="10B981"/>
                          </a:solidFill>
                          <a:latin typeface="Courier New" pitchFamily="34" charset="0"/>
                          <a:ea typeface="Courier New" pitchFamily="34" charset="-122"/>
                          <a:cs typeface="Courier New" pitchFamily="34" charset="-120"/>
                        </a:rPr>
                        <a:t>NO — not supported</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01820"/>
                    </a:solidFill>
                  </a:tcPr>
                </a:tc>
              </a:tr>
              <a:tr h="457200">
                <a:tc>
                  <a:txBody>
                    <a:bodyPr/>
                    <a:lstStyle/>
                    <a:p>
                      <a:pPr indent="0" marL="0">
                        <a:buNone/>
                      </a:pPr>
                      <a:r>
                        <a:rPr lang="en-US" sz="1200" b="1" dirty="0">
                          <a:solidFill>
                            <a:srgbClr val="CBD5E1"/>
                          </a:solidFill>
                          <a:latin typeface="Calibri" pitchFamily="34" charset="0"/>
                          <a:ea typeface="Calibri" pitchFamily="34" charset="-122"/>
                          <a:cs typeface="Calibri" pitchFamily="34" charset="-120"/>
                        </a:rPr>
                        <a:t>Temperature</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Configurable — use 0.1</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0F172A"/>
                    </a:solidFill>
                  </a:tcPr>
                </a:tc>
                <a:tc>
                  <a:txBody>
                    <a:bodyPr/>
                    <a:lstStyle/>
                    <a:p>
                      <a:pPr indent="0" marL="0">
                        <a:buNone/>
                      </a:pPr>
                      <a:r>
                        <a:rPr lang="en-US" sz="1200" dirty="0">
                          <a:solidFill>
                            <a:srgbClr val="10B981"/>
                          </a:solidFill>
                          <a:latin typeface="Courier New" pitchFamily="34" charset="0"/>
                          <a:ea typeface="Courier New" pitchFamily="34" charset="-122"/>
                          <a:cs typeface="Courier New" pitchFamily="34" charset="-120"/>
                        </a:rPr>
                        <a:t>Not applicable</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0F172A"/>
                    </a:solidFill>
                  </a:tcPr>
                </a:tc>
              </a:tr>
              <a:tr h="457200">
                <a:tc>
                  <a:txBody>
                    <a:bodyPr/>
                    <a:lstStyle/>
                    <a:p>
                      <a:pPr indent="0" marL="0">
                        <a:buNone/>
                      </a:pPr>
                      <a:r>
                        <a:rPr lang="en-US" sz="1200" b="1" dirty="0">
                          <a:solidFill>
                            <a:srgbClr val="CBD5E1"/>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E293B"/>
                    </a:solidFill>
                  </a:tcPr>
                </a:tc>
                <a:tc>
                  <a:txBody>
                    <a:bodyPr/>
                    <a:lstStyle/>
                    <a:p>
                      <a:pPr indent="0" marL="0">
                        <a:buNone/>
                      </a:pPr>
                      <a:r>
                        <a:rPr lang="en-US" sz="1200" dirty="0">
                          <a:solidFill>
                            <a:srgbClr val="06B6D4"/>
                          </a:solidFill>
                          <a:latin typeface="Courier New" pitchFamily="34" charset="0"/>
                          <a:ea typeface="Courier New" pitchFamily="34" charset="-122"/>
                          <a:cs typeface="Courier New" pitchFamily="34" charset="-120"/>
                        </a:rPr>
                        <a:t>Text (JSON, prose)</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01820"/>
                    </a:solidFill>
                  </a:tcPr>
                </a:tc>
                <a:tc>
                  <a:txBody>
                    <a:bodyPr/>
                    <a:lstStyle/>
                    <a:p>
                      <a:pPr indent="0" marL="0">
                        <a:buNone/>
                      </a:pPr>
                      <a:r>
                        <a:rPr lang="en-US" sz="1200" dirty="0">
                          <a:solidFill>
                            <a:srgbClr val="10B981"/>
                          </a:solidFill>
                          <a:latin typeface="Courier New" pitchFamily="34" charset="0"/>
                          <a:ea typeface="Courier New" pitchFamily="34" charset="-122"/>
                          <a:cs typeface="Courier New" pitchFamily="34" charset="-120"/>
                        </a:rPr>
                        <a:t>List of 1,536 floats</a:t>
                      </a:r>
                      <a:endParaRPr lang="en-US" sz="1200" dirty="0">
                        <a:latin typeface="Courier New" charset="0"/>
                        <a:ea typeface="Courier New" charset="0"/>
                        <a:cs typeface="Courier New" charset="0"/>
                      </a:endParaRPr>
                    </a:p>
                  </a:txBody>
                  <a:tcPr marL="101600" marR="101600" marT="50800" marB="50800" anchor="ctr">
                    <a:lnL w="0" cap="flat" cmpd="sng" algn="ctr">
                      <a:noFill/>
                    </a:lnL>
                    <a:lnR w="0" cap="flat" cmpd="sng" algn="ctr">
                      <a:noFill/>
                    </a:lnR>
                    <a:lnT w="6350" cap="flat" cmpd="sng" algn="ctr">
                      <a:solidFill>
                        <a:srgbClr val="1E3A5F"/>
                      </a:solidFill>
                      <a:prstDash val="solid"/>
                      <a:round/>
                      <a:headEnd type="none" w="med" len="med"/>
                      <a:tailEnd type="none" w="med" len="med"/>
                    </a:lnT>
                    <a:lnB w="0" cap="flat" cmpd="sng" algn="ctr">
                      <a:noFill/>
                    </a:lnB>
                    <a:solidFill>
                      <a:srgbClr val="101820"/>
                    </a:solidFill>
                  </a:tcPr>
                </a:tc>
              </a:tr>
            </a:tbl>
          </a:graphicData>
        </a:graphic>
      </p:graphicFrame>
      <p:sp>
        <p:nvSpPr>
          <p:cNvPr id="7" name="Text 4"/>
          <p:cNvSpPr/>
          <p:nvPr/>
        </p:nvSpPr>
        <p:spPr>
          <a:xfrm>
            <a:off x="411480" y="4462272"/>
            <a:ext cx="4023360" cy="228600"/>
          </a:xfrm>
          <a:prstGeom prst="rect">
            <a:avLst/>
          </a:prstGeom>
          <a:noFill/>
          <a:ln/>
        </p:spPr>
        <p:txBody>
          <a:bodyPr wrap="square" rtlCol="0" anchor="ctr"/>
          <a:lstStyle/>
          <a:p>
            <a:pPr indent="0" marL="0">
              <a:buNone/>
            </a:pPr>
            <a:r>
              <a:rPr lang="en-US" sz="1000" b="1" dirty="0">
                <a:solidFill>
                  <a:srgbClr val="06B6D4"/>
                </a:solidFill>
                <a:latin typeface="Calibri" pitchFamily="34" charset="0"/>
                <a:ea typeface="Calibri" pitchFamily="34" charset="-122"/>
                <a:cs typeface="Calibri" pitchFamily="34" charset="-120"/>
              </a:rPr>
              <a:t>Enrichment call:</a:t>
            </a:r>
            <a:endParaRPr lang="en-US" sz="1000" dirty="0"/>
          </a:p>
        </p:txBody>
      </p:sp>
      <p:sp>
        <p:nvSpPr>
          <p:cNvPr id="8" name="Text 5"/>
          <p:cNvSpPr/>
          <p:nvPr/>
        </p:nvSpPr>
        <p:spPr>
          <a:xfrm>
            <a:off x="4663440" y="4462272"/>
            <a:ext cx="4023360" cy="22860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Embeddings call:</a:t>
            </a:r>
            <a:endParaRPr lang="en-US" sz="1000" dirty="0"/>
          </a:p>
        </p:txBody>
      </p:sp>
      <p:sp>
        <p:nvSpPr>
          <p:cNvPr id="9" name="Shape 6"/>
          <p:cNvSpPr/>
          <p:nvPr/>
        </p:nvSpPr>
        <p:spPr>
          <a:xfrm>
            <a:off x="411480" y="4709160"/>
            <a:ext cx="4023360" cy="347472"/>
          </a:xfrm>
          <a:prstGeom prst="roundRect">
            <a:avLst>
              <a:gd name="adj" fmla="val 21053"/>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10" name="Text 7"/>
          <p:cNvSpPr/>
          <p:nvPr/>
        </p:nvSpPr>
        <p:spPr>
          <a:xfrm>
            <a:off x="521208" y="4800600"/>
            <a:ext cx="3803904" cy="164592"/>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bedrock_client.converse(modelId=..., system=[...], messages=[...])</a:t>
            </a:r>
            <a:endParaRPr lang="en-US" sz="1050" dirty="0"/>
          </a:p>
        </p:txBody>
      </p:sp>
      <p:sp>
        <p:nvSpPr>
          <p:cNvPr id="11" name="Shape 8"/>
          <p:cNvSpPr/>
          <p:nvPr/>
        </p:nvSpPr>
        <p:spPr>
          <a:xfrm>
            <a:off x="4663440" y="4709160"/>
            <a:ext cx="4023360" cy="347472"/>
          </a:xfrm>
          <a:prstGeom prst="roundRect">
            <a:avLst>
              <a:gd name="adj" fmla="val 21053"/>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12" name="Text 9"/>
          <p:cNvSpPr/>
          <p:nvPr/>
        </p:nvSpPr>
        <p:spPr>
          <a:xfrm>
            <a:off x="4773168" y="4800600"/>
            <a:ext cx="3803904" cy="164592"/>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bedrock_client.invoke_model(modelId=..., body=json.dumps({...}))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4 — CHUNKING</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Text Chunking — Why It Exists &amp; When You Need It</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8321040" cy="1261872"/>
          </a:xfrm>
          <a:prstGeom prst="roundRect">
            <a:avLst>
              <a:gd name="adj" fmla="val 7246"/>
            </a:avLst>
          </a:prstGeom>
          <a:solidFill>
            <a:srgbClr val="1A1200"/>
          </a:solidFill>
          <a:ln w="12700">
            <a:solidFill>
              <a:srgbClr val="1A1200"/>
            </a:solidFill>
            <a:prstDash val="solid"/>
          </a:ln>
          <a:effectLst>
            <a:outerShdw sx="100000" sy="100000" kx="0" ky="0" algn="bl" rotWithShape="0" blurRad="101600" dist="38100" dir="27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548640" y="1298448"/>
            <a:ext cx="365760" cy="365760"/>
          </a:xfrm>
          <a:prstGeom prst="rect">
            <a:avLst/>
          </a:prstGeom>
        </p:spPr>
      </p:pic>
      <p:sp>
        <p:nvSpPr>
          <p:cNvPr id="8" name="Text 5"/>
          <p:cNvSpPr/>
          <p:nvPr/>
        </p:nvSpPr>
        <p:spPr>
          <a:xfrm>
            <a:off x="1005840" y="1188720"/>
            <a:ext cx="3657600" cy="27432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The Averaging Problem</a:t>
            </a:r>
            <a:endParaRPr lang="en-US" sz="1400" dirty="0"/>
          </a:p>
        </p:txBody>
      </p:sp>
      <p:sp>
        <p:nvSpPr>
          <p:cNvPr id="9" name="Text 6"/>
          <p:cNvSpPr/>
          <p:nvPr/>
        </p:nvSpPr>
        <p:spPr>
          <a:xfrm>
            <a:off x="1005840" y="1481328"/>
            <a:ext cx="7223760" cy="68580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A 5,000-word document covering 10 topics produces ONE averaged vector. That average represents everything and matches nothing well.</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Chunking creates one focused vector per topic/section — dramatically improving search relevance.</a:t>
            </a:r>
            <a:endParaRPr lang="en-US" sz="1150" dirty="0"/>
          </a:p>
        </p:txBody>
      </p:sp>
      <p:sp>
        <p:nvSpPr>
          <p:cNvPr id="10" name="Shape 7"/>
          <p:cNvSpPr/>
          <p:nvPr/>
        </p:nvSpPr>
        <p:spPr>
          <a:xfrm>
            <a:off x="411480" y="2542032"/>
            <a:ext cx="2651760" cy="2468880"/>
          </a:xfrm>
          <a:prstGeom prst="roundRect">
            <a:avLst>
              <a:gd name="adj" fmla="val 3704"/>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1" name="Shape 8"/>
          <p:cNvSpPr/>
          <p:nvPr/>
        </p:nvSpPr>
        <p:spPr>
          <a:xfrm>
            <a:off x="521208" y="2633472"/>
            <a:ext cx="2423160" cy="347472"/>
          </a:xfrm>
          <a:prstGeom prst="roundRect">
            <a:avLst>
              <a:gd name="adj" fmla="val 21053"/>
            </a:avLst>
          </a:prstGeom>
          <a:solidFill>
            <a:srgbClr val="0891B2"/>
          </a:solidFill>
          <a:ln w="12700">
            <a:solidFill>
              <a:srgbClr val="0891B2"/>
            </a:solidFill>
            <a:prstDash val="solid"/>
          </a:ln>
        </p:spPr>
      </p:sp>
      <p:sp>
        <p:nvSpPr>
          <p:cNvPr id="12" name="Text 9"/>
          <p:cNvSpPr/>
          <p:nvPr/>
        </p:nvSpPr>
        <p:spPr>
          <a:xfrm>
            <a:off x="521208" y="2633472"/>
            <a:ext cx="24231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Fixed-Size</a:t>
            </a:r>
            <a:endParaRPr lang="en-US" sz="1300" dirty="0"/>
          </a:p>
        </p:txBody>
      </p:sp>
      <p:sp>
        <p:nvSpPr>
          <p:cNvPr id="13" name="Text 10"/>
          <p:cNvSpPr/>
          <p:nvPr/>
        </p:nvSpPr>
        <p:spPr>
          <a:xfrm>
            <a:off x="548640" y="3063240"/>
            <a:ext cx="2377440" cy="228600"/>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Simple to implement</a:t>
            </a:r>
            <a:endParaRPr lang="en-US" sz="1050" dirty="0"/>
          </a:p>
        </p:txBody>
      </p:sp>
      <p:sp>
        <p:nvSpPr>
          <p:cNvPr id="14" name="Text 11"/>
          <p:cNvSpPr/>
          <p:nvPr/>
        </p:nvSpPr>
        <p:spPr>
          <a:xfrm>
            <a:off x="548640" y="3291840"/>
            <a:ext cx="2377440" cy="228600"/>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Predictable chunk count</a:t>
            </a:r>
            <a:endParaRPr lang="en-US" sz="1050" dirty="0"/>
          </a:p>
        </p:txBody>
      </p:sp>
      <p:sp>
        <p:nvSpPr>
          <p:cNvPr id="15" name="Text 12"/>
          <p:cNvSpPr/>
          <p:nvPr/>
        </p:nvSpPr>
        <p:spPr>
          <a:xfrm>
            <a:off x="548640" y="3547872"/>
            <a:ext cx="2377440" cy="228600"/>
          </a:xfrm>
          <a:prstGeom prst="rect">
            <a:avLst/>
          </a:prstGeom>
          <a:noFill/>
          <a:ln/>
        </p:spPr>
        <p:txBody>
          <a:bodyPr wrap="square" rtlCol="0" anchor="ctr"/>
          <a:lstStyle/>
          <a:p>
            <a:pPr indent="0" marL="0">
              <a:buNone/>
            </a:pPr>
            <a:r>
              <a:rPr lang="en-US" sz="1050" dirty="0">
                <a:solidFill>
                  <a:srgbClr val="FC9C9C"/>
                </a:solidFill>
                <a:latin typeface="Calibri" pitchFamily="34" charset="0"/>
                <a:ea typeface="Calibri" pitchFamily="34" charset="-122"/>
                <a:cs typeface="Calibri" pitchFamily="34" charset="-120"/>
              </a:rPr>
              <a:t>✗  Cuts mid-sentence</a:t>
            </a:r>
            <a:endParaRPr lang="en-US" sz="1050" dirty="0"/>
          </a:p>
        </p:txBody>
      </p:sp>
      <p:sp>
        <p:nvSpPr>
          <p:cNvPr id="16" name="Text 13"/>
          <p:cNvSpPr/>
          <p:nvPr/>
        </p:nvSpPr>
        <p:spPr>
          <a:xfrm>
            <a:off x="548640" y="3776472"/>
            <a:ext cx="2377440" cy="228600"/>
          </a:xfrm>
          <a:prstGeom prst="rect">
            <a:avLst/>
          </a:prstGeom>
          <a:noFill/>
          <a:ln/>
        </p:spPr>
        <p:txBody>
          <a:bodyPr wrap="square" rtlCol="0" anchor="ctr"/>
          <a:lstStyle/>
          <a:p>
            <a:pPr indent="0" marL="0">
              <a:buNone/>
            </a:pPr>
            <a:r>
              <a:rPr lang="en-US" sz="1050" dirty="0">
                <a:solidFill>
                  <a:srgbClr val="FC9C9C"/>
                </a:solidFill>
                <a:latin typeface="Calibri" pitchFamily="34" charset="0"/>
                <a:ea typeface="Calibri" pitchFamily="34" charset="-122"/>
                <a:cs typeface="Calibri" pitchFamily="34" charset="-120"/>
              </a:rPr>
              <a:t>✗  No structure awareness</a:t>
            </a:r>
            <a:endParaRPr lang="en-US" sz="1050" dirty="0"/>
          </a:p>
        </p:txBody>
      </p:sp>
      <p:sp>
        <p:nvSpPr>
          <p:cNvPr id="17" name="Text 14"/>
          <p:cNvSpPr/>
          <p:nvPr/>
        </p:nvSpPr>
        <p:spPr>
          <a:xfrm>
            <a:off x="548640" y="4069080"/>
            <a:ext cx="2377440" cy="182880"/>
          </a:xfrm>
          <a:prstGeom prst="rect">
            <a:avLst/>
          </a:prstGeom>
          <a:noFill/>
          <a:ln/>
        </p:spPr>
        <p:txBody>
          <a:bodyPr wrap="square" rtlCol="0" anchor="ctr"/>
          <a:lstStyle/>
          <a:p>
            <a:pPr indent="0" marL="0">
              <a:buNone/>
            </a:pPr>
            <a:r>
              <a:rPr lang="en-US" sz="900" b="1" dirty="0">
                <a:solidFill>
                  <a:srgbClr val="0891B2"/>
                </a:solidFill>
                <a:latin typeface="Calibri" pitchFamily="34" charset="0"/>
                <a:ea typeface="Calibri" pitchFamily="34" charset="-122"/>
                <a:cs typeface="Calibri" pitchFamily="34" charset="-120"/>
              </a:rPr>
              <a:t>USE WHEN:</a:t>
            </a:r>
            <a:endParaRPr lang="en-US" sz="900" dirty="0"/>
          </a:p>
        </p:txBody>
      </p:sp>
      <p:sp>
        <p:nvSpPr>
          <p:cNvPr id="18" name="Text 15"/>
          <p:cNvSpPr/>
          <p:nvPr/>
        </p:nvSpPr>
        <p:spPr>
          <a:xfrm>
            <a:off x="548640" y="4251960"/>
            <a:ext cx="2377440" cy="5029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Short uniform text, rapid prototyping</a:t>
            </a:r>
            <a:endParaRPr lang="en-US" sz="1000" dirty="0"/>
          </a:p>
        </p:txBody>
      </p:sp>
      <p:sp>
        <p:nvSpPr>
          <p:cNvPr id="19" name="Shape 16"/>
          <p:cNvSpPr/>
          <p:nvPr/>
        </p:nvSpPr>
        <p:spPr>
          <a:xfrm>
            <a:off x="3246120" y="2542032"/>
            <a:ext cx="2651760" cy="2468880"/>
          </a:xfrm>
          <a:prstGeom prst="roundRect">
            <a:avLst>
              <a:gd name="adj" fmla="val 3704"/>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0" name="Shape 17"/>
          <p:cNvSpPr/>
          <p:nvPr/>
        </p:nvSpPr>
        <p:spPr>
          <a:xfrm>
            <a:off x="3355848" y="2633472"/>
            <a:ext cx="2423160" cy="347472"/>
          </a:xfrm>
          <a:prstGeom prst="roundRect">
            <a:avLst>
              <a:gd name="adj" fmla="val 21053"/>
            </a:avLst>
          </a:prstGeom>
          <a:solidFill>
            <a:srgbClr val="2563EB"/>
          </a:solidFill>
          <a:ln w="12700">
            <a:solidFill>
              <a:srgbClr val="2563EB"/>
            </a:solidFill>
            <a:prstDash val="solid"/>
          </a:ln>
        </p:spPr>
      </p:sp>
      <p:sp>
        <p:nvSpPr>
          <p:cNvPr id="21" name="Text 18"/>
          <p:cNvSpPr/>
          <p:nvPr/>
        </p:nvSpPr>
        <p:spPr>
          <a:xfrm>
            <a:off x="3355848" y="2633472"/>
            <a:ext cx="24231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Recursive</a:t>
            </a:r>
            <a:endParaRPr lang="en-US" sz="1300" dirty="0"/>
          </a:p>
        </p:txBody>
      </p:sp>
      <p:sp>
        <p:nvSpPr>
          <p:cNvPr id="22" name="Text 19"/>
          <p:cNvSpPr/>
          <p:nvPr/>
        </p:nvSpPr>
        <p:spPr>
          <a:xfrm>
            <a:off x="3383280" y="3063240"/>
            <a:ext cx="2377440" cy="228600"/>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Respects paragraphs &amp; sentences</a:t>
            </a:r>
            <a:endParaRPr lang="en-US" sz="1050" dirty="0"/>
          </a:p>
        </p:txBody>
      </p:sp>
      <p:sp>
        <p:nvSpPr>
          <p:cNvPr id="23" name="Text 20"/>
          <p:cNvSpPr/>
          <p:nvPr/>
        </p:nvSpPr>
        <p:spPr>
          <a:xfrm>
            <a:off x="3383280" y="3291840"/>
            <a:ext cx="2377440" cy="228600"/>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Balanced quality/speed</a:t>
            </a:r>
            <a:endParaRPr lang="en-US" sz="1050" dirty="0"/>
          </a:p>
        </p:txBody>
      </p:sp>
      <p:sp>
        <p:nvSpPr>
          <p:cNvPr id="24" name="Text 21"/>
          <p:cNvSpPr/>
          <p:nvPr/>
        </p:nvSpPr>
        <p:spPr>
          <a:xfrm>
            <a:off x="3383280" y="3547872"/>
            <a:ext cx="2377440" cy="228600"/>
          </a:xfrm>
          <a:prstGeom prst="rect">
            <a:avLst/>
          </a:prstGeom>
          <a:noFill/>
          <a:ln/>
        </p:spPr>
        <p:txBody>
          <a:bodyPr wrap="square" rtlCol="0" anchor="ctr"/>
          <a:lstStyle/>
          <a:p>
            <a:pPr indent="0" marL="0">
              <a:buNone/>
            </a:pPr>
            <a:r>
              <a:rPr lang="en-US" sz="1050" dirty="0">
                <a:solidFill>
                  <a:srgbClr val="FC9C9C"/>
                </a:solidFill>
                <a:latin typeface="Calibri" pitchFamily="34" charset="0"/>
                <a:ea typeface="Calibri" pitchFamily="34" charset="-122"/>
                <a:cs typeface="Calibri" pitchFamily="34" charset="-120"/>
              </a:rPr>
              <a:t>✗  Overlap parameter needs tuning</a:t>
            </a:r>
            <a:endParaRPr lang="en-US" sz="1050" dirty="0"/>
          </a:p>
        </p:txBody>
      </p:sp>
      <p:sp>
        <p:nvSpPr>
          <p:cNvPr id="25" name="Text 22"/>
          <p:cNvSpPr/>
          <p:nvPr/>
        </p:nvSpPr>
        <p:spPr>
          <a:xfrm>
            <a:off x="3383280" y="3776472"/>
            <a:ext cx="2377440" cy="228600"/>
          </a:xfrm>
          <a:prstGeom prst="rect">
            <a:avLst/>
          </a:prstGeom>
          <a:noFill/>
          <a:ln/>
        </p:spPr>
        <p:txBody>
          <a:bodyPr wrap="square" rtlCol="0" anchor="ctr"/>
          <a:lstStyle/>
          <a:p>
            <a:pPr indent="0" marL="0">
              <a:buNone/>
            </a:pPr>
            <a:r>
              <a:rPr lang="en-US" sz="1050" dirty="0">
                <a:solidFill>
                  <a:srgbClr val="FC9C9C"/>
                </a:solidFill>
                <a:latin typeface="Calibri" pitchFamily="34" charset="0"/>
                <a:ea typeface="Calibri" pitchFamily="34" charset="-122"/>
                <a:cs typeface="Calibri" pitchFamily="34" charset="-120"/>
              </a:rPr>
              <a:t>✗  Still not semantic</a:t>
            </a:r>
            <a:endParaRPr lang="en-US" sz="1050" dirty="0"/>
          </a:p>
        </p:txBody>
      </p:sp>
      <p:sp>
        <p:nvSpPr>
          <p:cNvPr id="26" name="Text 23"/>
          <p:cNvSpPr/>
          <p:nvPr/>
        </p:nvSpPr>
        <p:spPr>
          <a:xfrm>
            <a:off x="3383280" y="4069080"/>
            <a:ext cx="2377440" cy="182880"/>
          </a:xfrm>
          <a:prstGeom prst="rect">
            <a:avLst/>
          </a:prstGeom>
          <a:noFill/>
          <a:ln/>
        </p:spPr>
        <p:txBody>
          <a:bodyPr wrap="square" rtlCol="0" anchor="ctr"/>
          <a:lstStyle/>
          <a:p>
            <a:pPr indent="0" marL="0">
              <a:buNone/>
            </a:pPr>
            <a:r>
              <a:rPr lang="en-US" sz="900" b="1" dirty="0">
                <a:solidFill>
                  <a:srgbClr val="2563EB"/>
                </a:solidFill>
                <a:latin typeface="Calibri" pitchFamily="34" charset="0"/>
                <a:ea typeface="Calibri" pitchFamily="34" charset="-122"/>
                <a:cs typeface="Calibri" pitchFamily="34" charset="-120"/>
              </a:rPr>
              <a:t>USE WHEN:</a:t>
            </a:r>
            <a:endParaRPr lang="en-US" sz="900" dirty="0"/>
          </a:p>
        </p:txBody>
      </p:sp>
      <p:sp>
        <p:nvSpPr>
          <p:cNvPr id="27" name="Text 24"/>
          <p:cNvSpPr/>
          <p:nvPr/>
        </p:nvSpPr>
        <p:spPr>
          <a:xfrm>
            <a:off x="3383280" y="4251960"/>
            <a:ext cx="2377440" cy="5029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Structured docs (reports, FAQs)</a:t>
            </a:r>
            <a:endParaRPr lang="en-US" sz="1000" dirty="0"/>
          </a:p>
        </p:txBody>
      </p:sp>
      <p:sp>
        <p:nvSpPr>
          <p:cNvPr id="28" name="Shape 25"/>
          <p:cNvSpPr/>
          <p:nvPr/>
        </p:nvSpPr>
        <p:spPr>
          <a:xfrm>
            <a:off x="6080760" y="2542032"/>
            <a:ext cx="2651760" cy="2468880"/>
          </a:xfrm>
          <a:prstGeom prst="roundRect">
            <a:avLst>
              <a:gd name="adj" fmla="val 3704"/>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9" name="Shape 26"/>
          <p:cNvSpPr/>
          <p:nvPr/>
        </p:nvSpPr>
        <p:spPr>
          <a:xfrm>
            <a:off x="6190488" y="2633472"/>
            <a:ext cx="2423160" cy="347472"/>
          </a:xfrm>
          <a:prstGeom prst="roundRect">
            <a:avLst>
              <a:gd name="adj" fmla="val 21053"/>
            </a:avLst>
          </a:prstGeom>
          <a:solidFill>
            <a:srgbClr val="10B981"/>
          </a:solidFill>
          <a:ln w="12700">
            <a:solidFill>
              <a:srgbClr val="10B981"/>
            </a:solidFill>
            <a:prstDash val="solid"/>
          </a:ln>
        </p:spPr>
      </p:sp>
      <p:sp>
        <p:nvSpPr>
          <p:cNvPr id="30" name="Text 27"/>
          <p:cNvSpPr/>
          <p:nvPr/>
        </p:nvSpPr>
        <p:spPr>
          <a:xfrm>
            <a:off x="6190488" y="2633472"/>
            <a:ext cx="242316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Semantic</a:t>
            </a:r>
            <a:endParaRPr lang="en-US" sz="1300" dirty="0"/>
          </a:p>
        </p:txBody>
      </p:sp>
      <p:sp>
        <p:nvSpPr>
          <p:cNvPr id="31" name="Text 28"/>
          <p:cNvSpPr/>
          <p:nvPr/>
        </p:nvSpPr>
        <p:spPr>
          <a:xfrm>
            <a:off x="6217920" y="3063240"/>
            <a:ext cx="2377440" cy="228600"/>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Best quality</a:t>
            </a:r>
            <a:endParaRPr lang="en-US" sz="1050" dirty="0"/>
          </a:p>
        </p:txBody>
      </p:sp>
      <p:sp>
        <p:nvSpPr>
          <p:cNvPr id="32" name="Text 29"/>
          <p:cNvSpPr/>
          <p:nvPr/>
        </p:nvSpPr>
        <p:spPr>
          <a:xfrm>
            <a:off x="6217920" y="3291840"/>
            <a:ext cx="2377440" cy="228600"/>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Topic-aware boundaries</a:t>
            </a:r>
            <a:endParaRPr lang="en-US" sz="1050" dirty="0"/>
          </a:p>
        </p:txBody>
      </p:sp>
      <p:sp>
        <p:nvSpPr>
          <p:cNvPr id="33" name="Text 30"/>
          <p:cNvSpPr/>
          <p:nvPr/>
        </p:nvSpPr>
        <p:spPr>
          <a:xfrm>
            <a:off x="6217920" y="3547872"/>
            <a:ext cx="2377440" cy="228600"/>
          </a:xfrm>
          <a:prstGeom prst="rect">
            <a:avLst/>
          </a:prstGeom>
          <a:noFill/>
          <a:ln/>
        </p:spPr>
        <p:txBody>
          <a:bodyPr wrap="square" rtlCol="0" anchor="ctr"/>
          <a:lstStyle/>
          <a:p>
            <a:pPr indent="0" marL="0">
              <a:buNone/>
            </a:pPr>
            <a:r>
              <a:rPr lang="en-US" sz="1050" dirty="0">
                <a:solidFill>
                  <a:srgbClr val="FC9C9C"/>
                </a:solidFill>
                <a:latin typeface="Calibri" pitchFamily="34" charset="0"/>
                <a:ea typeface="Calibri" pitchFamily="34" charset="-122"/>
                <a:cs typeface="Calibri" pitchFamily="34" charset="-120"/>
              </a:rPr>
              <a:t>✗  1 API call per sentence</a:t>
            </a:r>
            <a:endParaRPr lang="en-US" sz="1050" dirty="0"/>
          </a:p>
        </p:txBody>
      </p:sp>
      <p:sp>
        <p:nvSpPr>
          <p:cNvPr id="34" name="Text 31"/>
          <p:cNvSpPr/>
          <p:nvPr/>
        </p:nvSpPr>
        <p:spPr>
          <a:xfrm>
            <a:off x="6217920" y="3776472"/>
            <a:ext cx="2377440" cy="228600"/>
          </a:xfrm>
          <a:prstGeom prst="rect">
            <a:avLst/>
          </a:prstGeom>
          <a:noFill/>
          <a:ln/>
        </p:spPr>
        <p:txBody>
          <a:bodyPr wrap="square" rtlCol="0" anchor="ctr"/>
          <a:lstStyle/>
          <a:p>
            <a:pPr indent="0" marL="0">
              <a:buNone/>
            </a:pPr>
            <a:r>
              <a:rPr lang="en-US" sz="1050" dirty="0">
                <a:solidFill>
                  <a:srgbClr val="FC9C9C"/>
                </a:solidFill>
                <a:latin typeface="Calibri" pitchFamily="34" charset="0"/>
                <a:ea typeface="Calibri" pitchFamily="34" charset="-122"/>
                <a:cs typeface="Calibri" pitchFamily="34" charset="-120"/>
              </a:rPr>
              <a:t>✗  Slow and expensive</a:t>
            </a:r>
            <a:endParaRPr lang="en-US" sz="1050" dirty="0"/>
          </a:p>
        </p:txBody>
      </p:sp>
      <p:sp>
        <p:nvSpPr>
          <p:cNvPr id="35" name="Text 32"/>
          <p:cNvSpPr/>
          <p:nvPr/>
        </p:nvSpPr>
        <p:spPr>
          <a:xfrm>
            <a:off x="6217920" y="4069080"/>
            <a:ext cx="2377440" cy="18288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USE WHEN:</a:t>
            </a:r>
            <a:endParaRPr lang="en-US" sz="900" dirty="0"/>
          </a:p>
        </p:txBody>
      </p:sp>
      <p:sp>
        <p:nvSpPr>
          <p:cNvPr id="36" name="Text 33"/>
          <p:cNvSpPr/>
          <p:nvPr/>
        </p:nvSpPr>
        <p:spPr>
          <a:xfrm>
            <a:off x="6217920" y="4251960"/>
            <a:ext cx="2377440" cy="5029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Long complex docs, high accuracy</a:t>
            </a:r>
            <a:endParaRPr lang="en-US" sz="1000" dirty="0"/>
          </a:p>
        </p:txBody>
      </p:sp>
      <p:sp>
        <p:nvSpPr>
          <p:cNvPr id="37" name="Text 34"/>
          <p:cNvSpPr/>
          <p:nvPr/>
        </p:nvSpPr>
        <p:spPr>
          <a:xfrm>
            <a:off x="411480" y="5074920"/>
            <a:ext cx="8321040" cy="45720"/>
          </a:xfrm>
          <a:prstGeom prst="rect">
            <a:avLst/>
          </a:prstGeom>
          <a:noFill/>
          <a:ln/>
        </p:spPr>
        <p:txBody>
          <a:bodyPr wrap="square" rtlCol="0" anchor="ctr"/>
          <a:lstStyle/>
          <a:p>
            <a:pPr algn="ctr" indent="0" marL="0">
              <a:buNone/>
            </a:pPr>
            <a:r>
              <a:rPr lang="en-US" sz="1100" i="1" dirty="0">
                <a:solidFill>
                  <a:srgbClr val="F59E0B"/>
                </a:solidFill>
                <a:latin typeface="Calibri" pitchFamily="34" charset="0"/>
                <a:ea typeface="Calibri" pitchFamily="34" charset="-122"/>
                <a:cs typeface="Calibri" pitchFamily="34" charset="-120"/>
              </a:rPr>
              <a:t>For your pipeline: Support tickets (&lt;200 tokens) → no chunking needed. Agent notes → recursive. Long policies → semantic.</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5 — HANDS-ON</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5 Hands-On Exercises</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7" name="Shape 5"/>
          <p:cNvSpPr/>
          <p:nvPr/>
        </p:nvSpPr>
        <p:spPr>
          <a:xfrm>
            <a:off x="530352" y="1243584"/>
            <a:ext cx="384048" cy="384048"/>
          </a:xfrm>
          <a:prstGeom prst="ellipse">
            <a:avLst/>
          </a:prstGeom>
          <a:solidFill>
            <a:srgbClr val="0891B2"/>
          </a:solidFill>
          <a:ln w="12700">
            <a:solidFill>
              <a:srgbClr val="0891B2"/>
            </a:solidFill>
            <a:prstDash val="solid"/>
          </a:ln>
        </p:spPr>
      </p:sp>
      <p:pic>
        <p:nvPicPr>
          <p:cNvPr id="8" name="Image 0" descr="preencoded.png">    </p:cNvPr>
          <p:cNvPicPr>
            <a:picLocks noChangeAspect="1"/>
          </p:cNvPicPr>
          <p:nvPr/>
        </p:nvPicPr>
        <p:blipFill>
          <a:blip r:embed="rId1"/>
          <a:stretch>
            <a:fillRect/>
          </a:stretch>
        </p:blipFill>
        <p:spPr>
          <a:xfrm>
            <a:off x="594360" y="1307592"/>
            <a:ext cx="256032" cy="256032"/>
          </a:xfrm>
          <a:prstGeom prst="rect">
            <a:avLst/>
          </a:prstGeom>
        </p:spPr>
      </p:pic>
      <p:sp>
        <p:nvSpPr>
          <p:cNvPr id="9" name="Text 6"/>
          <p:cNvSpPr/>
          <p:nvPr/>
        </p:nvSpPr>
        <p:spPr>
          <a:xfrm>
            <a:off x="1024128" y="1170432"/>
            <a:ext cx="5486400" cy="274320"/>
          </a:xfrm>
          <a:prstGeom prst="rect">
            <a:avLst/>
          </a:prstGeom>
          <a:noFill/>
          <a:ln/>
        </p:spPr>
        <p:txBody>
          <a:bodyPr wrap="square" rtlCol="0" anchor="ctr"/>
          <a:lstStyle/>
          <a:p>
            <a:pPr indent="0" marL="0">
              <a:buNone/>
            </a:pPr>
            <a:r>
              <a:rPr lang="en-US" sz="1300" b="1" dirty="0">
                <a:solidFill>
                  <a:srgbClr val="0891B2"/>
                </a:solidFill>
                <a:latin typeface="Calibri" pitchFamily="34" charset="0"/>
                <a:ea typeface="Calibri" pitchFamily="34" charset="-122"/>
                <a:cs typeface="Calibri" pitchFamily="34" charset="-120"/>
              </a:rPr>
              <a:t>Exercise 01: Build the System Prompt</a:t>
            </a:r>
            <a:endParaRPr lang="en-US" sz="1300" dirty="0"/>
          </a:p>
        </p:txBody>
      </p:sp>
      <p:sp>
        <p:nvSpPr>
          <p:cNvPr id="10" name="Shape 7"/>
          <p:cNvSpPr/>
          <p:nvPr/>
        </p:nvSpPr>
        <p:spPr>
          <a:xfrm>
            <a:off x="6858000" y="1298448"/>
            <a:ext cx="1645920" cy="256032"/>
          </a:xfrm>
          <a:prstGeom prst="roundRect">
            <a:avLst>
              <a:gd name="adj" fmla="val 21429"/>
            </a:avLst>
          </a:prstGeom>
          <a:solidFill>
            <a:srgbClr val="1E3A5F"/>
          </a:solidFill>
          <a:ln w="12700">
            <a:solidFill>
              <a:srgbClr val="0891B2"/>
            </a:solidFill>
            <a:prstDash val="solid"/>
          </a:ln>
        </p:spPr>
      </p:sp>
      <p:sp>
        <p:nvSpPr>
          <p:cNvPr id="11" name="Text 8"/>
          <p:cNvSpPr/>
          <p:nvPr/>
        </p:nvSpPr>
        <p:spPr>
          <a:xfrm>
            <a:off x="6858000" y="1298448"/>
            <a:ext cx="1645920" cy="256032"/>
          </a:xfrm>
          <a:prstGeom prst="rect">
            <a:avLst/>
          </a:prstGeom>
          <a:noFill/>
          <a:ln/>
        </p:spPr>
        <p:txBody>
          <a:bodyPr wrap="square" lIns="0" tIns="0" rIns="0" bIns="0" rtlCol="0" anchor="ctr"/>
          <a:lstStyle/>
          <a:p>
            <a:pPr algn="ctr" indent="0" marL="0">
              <a:buNone/>
            </a:pPr>
            <a:r>
              <a:rPr lang="en-US" sz="1000" b="1" dirty="0">
                <a:solidFill>
                  <a:srgbClr val="0891B2"/>
                </a:solidFill>
                <a:latin typeface="Calibri" pitchFamily="34" charset="0"/>
                <a:ea typeface="Calibri" pitchFamily="34" charset="-122"/>
                <a:cs typeface="Calibri" pitchFamily="34" charset="-120"/>
              </a:rPr>
              <a:t>⏱  20 min</a:t>
            </a:r>
            <a:endParaRPr lang="en-US" sz="1000" dirty="0"/>
          </a:p>
        </p:txBody>
      </p:sp>
      <p:sp>
        <p:nvSpPr>
          <p:cNvPr id="12" name="Text 9"/>
          <p:cNvSpPr/>
          <p:nvPr/>
        </p:nvSpPr>
        <p:spPr>
          <a:xfrm>
            <a:off x="1024128" y="1463040"/>
            <a:ext cx="5669280" cy="256032"/>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Write a system prompt from scratch — layer by layer — without looking at the Lambda code. Test each layer in Bedrock Playground.</a:t>
            </a:r>
            <a:endParaRPr lang="en-US" sz="1050" dirty="0"/>
          </a:p>
        </p:txBody>
      </p:sp>
      <p:sp>
        <p:nvSpPr>
          <p:cNvPr id="13" name="Shape 10"/>
          <p:cNvSpPr/>
          <p:nvPr/>
        </p:nvSpPr>
        <p:spPr>
          <a:xfrm>
            <a:off x="411480" y="1874520"/>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4" name="Shape 11"/>
          <p:cNvSpPr/>
          <p:nvPr/>
        </p:nvSpPr>
        <p:spPr>
          <a:xfrm>
            <a:off x="530352" y="2002536"/>
            <a:ext cx="384048" cy="384048"/>
          </a:xfrm>
          <a:prstGeom prst="ellipse">
            <a:avLst/>
          </a:prstGeom>
          <a:solidFill>
            <a:srgbClr val="2563EB"/>
          </a:solidFill>
          <a:ln w="12700">
            <a:solidFill>
              <a:srgbClr val="2563EB"/>
            </a:solidFill>
            <a:prstDash val="solid"/>
          </a:ln>
        </p:spPr>
      </p:sp>
      <p:pic>
        <p:nvPicPr>
          <p:cNvPr id="15" name="Image 1" descr="preencoded.png">    </p:cNvPr>
          <p:cNvPicPr>
            <a:picLocks noChangeAspect="1"/>
          </p:cNvPicPr>
          <p:nvPr/>
        </p:nvPicPr>
        <p:blipFill>
          <a:blip r:embed="rId2"/>
          <a:stretch>
            <a:fillRect/>
          </a:stretch>
        </p:blipFill>
        <p:spPr>
          <a:xfrm>
            <a:off x="594360" y="2066544"/>
            <a:ext cx="256032" cy="256032"/>
          </a:xfrm>
          <a:prstGeom prst="rect">
            <a:avLst/>
          </a:prstGeom>
        </p:spPr>
      </p:pic>
      <p:sp>
        <p:nvSpPr>
          <p:cNvPr id="16" name="Text 12"/>
          <p:cNvSpPr/>
          <p:nvPr/>
        </p:nvSpPr>
        <p:spPr>
          <a:xfrm>
            <a:off x="1024128" y="1929384"/>
            <a:ext cx="5486400" cy="274320"/>
          </a:xfrm>
          <a:prstGeom prst="rect">
            <a:avLst/>
          </a:prstGeom>
          <a:noFill/>
          <a:ln/>
        </p:spPr>
        <p:txBody>
          <a:bodyPr wrap="square"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Exercise 02: Temperature Experiment</a:t>
            </a:r>
            <a:endParaRPr lang="en-US" sz="1300" dirty="0"/>
          </a:p>
        </p:txBody>
      </p:sp>
      <p:sp>
        <p:nvSpPr>
          <p:cNvPr id="17" name="Shape 13"/>
          <p:cNvSpPr/>
          <p:nvPr/>
        </p:nvSpPr>
        <p:spPr>
          <a:xfrm>
            <a:off x="6858000" y="2057400"/>
            <a:ext cx="1645920" cy="256032"/>
          </a:xfrm>
          <a:prstGeom prst="roundRect">
            <a:avLst>
              <a:gd name="adj" fmla="val 21429"/>
            </a:avLst>
          </a:prstGeom>
          <a:solidFill>
            <a:srgbClr val="1E3A5F"/>
          </a:solidFill>
          <a:ln w="12700">
            <a:solidFill>
              <a:srgbClr val="2563EB"/>
            </a:solidFill>
            <a:prstDash val="solid"/>
          </a:ln>
        </p:spPr>
      </p:sp>
      <p:sp>
        <p:nvSpPr>
          <p:cNvPr id="18" name="Text 14"/>
          <p:cNvSpPr/>
          <p:nvPr/>
        </p:nvSpPr>
        <p:spPr>
          <a:xfrm>
            <a:off x="6858000" y="2057400"/>
            <a:ext cx="1645920" cy="256032"/>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  15 min</a:t>
            </a:r>
            <a:endParaRPr lang="en-US" sz="1000" dirty="0"/>
          </a:p>
        </p:txBody>
      </p:sp>
      <p:sp>
        <p:nvSpPr>
          <p:cNvPr id="19" name="Text 15"/>
          <p:cNvSpPr/>
          <p:nvPr/>
        </p:nvSpPr>
        <p:spPr>
          <a:xfrm>
            <a:off x="1024128" y="2221992"/>
            <a:ext cx="5669280" cy="256032"/>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Run the same ticket 10 times at temp 0.1 vs 1.0. Record issue_category each time. Observe consistency vs chaos.</a:t>
            </a:r>
            <a:endParaRPr lang="en-US" sz="1050" dirty="0"/>
          </a:p>
        </p:txBody>
      </p:sp>
      <p:sp>
        <p:nvSpPr>
          <p:cNvPr id="20" name="Shape 16"/>
          <p:cNvSpPr/>
          <p:nvPr/>
        </p:nvSpPr>
        <p:spPr>
          <a:xfrm>
            <a:off x="411480" y="2633472"/>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1" name="Shape 17"/>
          <p:cNvSpPr/>
          <p:nvPr/>
        </p:nvSpPr>
        <p:spPr>
          <a:xfrm>
            <a:off x="530352" y="2761488"/>
            <a:ext cx="384048" cy="384048"/>
          </a:xfrm>
          <a:prstGeom prst="ellipse">
            <a:avLst/>
          </a:prstGeom>
          <a:solidFill>
            <a:srgbClr val="10B981"/>
          </a:solidFill>
          <a:ln w="12700">
            <a:solidFill>
              <a:srgbClr val="10B981"/>
            </a:solidFill>
            <a:prstDash val="solid"/>
          </a:ln>
        </p:spPr>
      </p:sp>
      <p:pic>
        <p:nvPicPr>
          <p:cNvPr id="22" name="Image 2" descr="preencoded.png">    </p:cNvPr>
          <p:cNvPicPr>
            <a:picLocks noChangeAspect="1"/>
          </p:cNvPicPr>
          <p:nvPr/>
        </p:nvPicPr>
        <p:blipFill>
          <a:blip r:embed="rId3"/>
          <a:stretch>
            <a:fillRect/>
          </a:stretch>
        </p:blipFill>
        <p:spPr>
          <a:xfrm>
            <a:off x="594360" y="2825496"/>
            <a:ext cx="256032" cy="256032"/>
          </a:xfrm>
          <a:prstGeom prst="rect">
            <a:avLst/>
          </a:prstGeom>
        </p:spPr>
      </p:pic>
      <p:sp>
        <p:nvSpPr>
          <p:cNvPr id="23" name="Text 18"/>
          <p:cNvSpPr/>
          <p:nvPr/>
        </p:nvSpPr>
        <p:spPr>
          <a:xfrm>
            <a:off x="1024128" y="2688336"/>
            <a:ext cx="5486400" cy="274320"/>
          </a:xfrm>
          <a:prstGeom prst="rect">
            <a:avLst/>
          </a:prstGeom>
          <a:noFill/>
          <a:ln/>
        </p:spPr>
        <p:txBody>
          <a:bodyPr wrap="square"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Exercise 03: Generate &amp; Compare Embeddings</a:t>
            </a:r>
            <a:endParaRPr lang="en-US" sz="1300" dirty="0"/>
          </a:p>
        </p:txBody>
      </p:sp>
      <p:sp>
        <p:nvSpPr>
          <p:cNvPr id="24" name="Shape 19"/>
          <p:cNvSpPr/>
          <p:nvPr/>
        </p:nvSpPr>
        <p:spPr>
          <a:xfrm>
            <a:off x="6858000" y="2816352"/>
            <a:ext cx="1645920" cy="256032"/>
          </a:xfrm>
          <a:prstGeom prst="roundRect">
            <a:avLst>
              <a:gd name="adj" fmla="val 21429"/>
            </a:avLst>
          </a:prstGeom>
          <a:solidFill>
            <a:srgbClr val="1E3A5F"/>
          </a:solidFill>
          <a:ln w="12700">
            <a:solidFill>
              <a:srgbClr val="10B981"/>
            </a:solidFill>
            <a:prstDash val="solid"/>
          </a:ln>
        </p:spPr>
      </p:sp>
      <p:sp>
        <p:nvSpPr>
          <p:cNvPr id="25" name="Text 20"/>
          <p:cNvSpPr/>
          <p:nvPr/>
        </p:nvSpPr>
        <p:spPr>
          <a:xfrm>
            <a:off x="6858000" y="2816352"/>
            <a:ext cx="1645920" cy="256032"/>
          </a:xfrm>
          <a:prstGeom prst="rect">
            <a:avLst/>
          </a:prstGeom>
          <a:noFill/>
          <a:ln/>
        </p:spPr>
        <p:txBody>
          <a:bodyPr wrap="square" lIns="0" tIns="0" rIns="0" bIns="0"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  20 min</a:t>
            </a:r>
            <a:endParaRPr lang="en-US" sz="1000" dirty="0"/>
          </a:p>
        </p:txBody>
      </p:sp>
      <p:sp>
        <p:nvSpPr>
          <p:cNvPr id="26" name="Text 21"/>
          <p:cNvSpPr/>
          <p:nvPr/>
        </p:nvSpPr>
        <p:spPr>
          <a:xfrm>
            <a:off x="1024128" y="2980944"/>
            <a:ext cx="5669280" cy="256032"/>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Embed 6 tickets (raw messages vs enriched summaries). Compute cosine similarity. See why enrichment improves clustering.</a:t>
            </a:r>
            <a:endParaRPr lang="en-US" sz="1050" dirty="0"/>
          </a:p>
        </p:txBody>
      </p:sp>
      <p:sp>
        <p:nvSpPr>
          <p:cNvPr id="27" name="Shape 22"/>
          <p:cNvSpPr/>
          <p:nvPr/>
        </p:nvSpPr>
        <p:spPr>
          <a:xfrm>
            <a:off x="411480" y="3392424"/>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8" name="Shape 23"/>
          <p:cNvSpPr/>
          <p:nvPr/>
        </p:nvSpPr>
        <p:spPr>
          <a:xfrm>
            <a:off x="530352" y="3520440"/>
            <a:ext cx="384048" cy="384048"/>
          </a:xfrm>
          <a:prstGeom prst="ellipse">
            <a:avLst/>
          </a:prstGeom>
          <a:solidFill>
            <a:srgbClr val="F59E0B"/>
          </a:solidFill>
          <a:ln w="12700">
            <a:solidFill>
              <a:srgbClr val="F59E0B"/>
            </a:solidFill>
            <a:prstDash val="solid"/>
          </a:ln>
        </p:spPr>
      </p:sp>
      <p:pic>
        <p:nvPicPr>
          <p:cNvPr id="29" name="Image 3" descr="preencoded.png">    </p:cNvPr>
          <p:cNvPicPr>
            <a:picLocks noChangeAspect="1"/>
          </p:cNvPicPr>
          <p:nvPr/>
        </p:nvPicPr>
        <p:blipFill>
          <a:blip r:embed="rId4"/>
          <a:stretch>
            <a:fillRect/>
          </a:stretch>
        </p:blipFill>
        <p:spPr>
          <a:xfrm>
            <a:off x="594360" y="3584448"/>
            <a:ext cx="256032" cy="256032"/>
          </a:xfrm>
          <a:prstGeom prst="rect">
            <a:avLst/>
          </a:prstGeom>
        </p:spPr>
      </p:pic>
      <p:sp>
        <p:nvSpPr>
          <p:cNvPr id="30" name="Text 24"/>
          <p:cNvSpPr/>
          <p:nvPr/>
        </p:nvSpPr>
        <p:spPr>
          <a:xfrm>
            <a:off x="1024128" y="3447288"/>
            <a:ext cx="5486400" cy="274320"/>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Exercise 04: Build Similarity Search</a:t>
            </a:r>
            <a:endParaRPr lang="en-US" sz="1300" dirty="0"/>
          </a:p>
        </p:txBody>
      </p:sp>
      <p:sp>
        <p:nvSpPr>
          <p:cNvPr id="31" name="Shape 25"/>
          <p:cNvSpPr/>
          <p:nvPr/>
        </p:nvSpPr>
        <p:spPr>
          <a:xfrm>
            <a:off x="6858000" y="3575304"/>
            <a:ext cx="1645920" cy="256032"/>
          </a:xfrm>
          <a:prstGeom prst="roundRect">
            <a:avLst>
              <a:gd name="adj" fmla="val 21429"/>
            </a:avLst>
          </a:prstGeom>
          <a:solidFill>
            <a:srgbClr val="1E3A5F"/>
          </a:solidFill>
          <a:ln w="12700">
            <a:solidFill>
              <a:srgbClr val="F59E0B"/>
            </a:solidFill>
            <a:prstDash val="solid"/>
          </a:ln>
        </p:spPr>
      </p:sp>
      <p:sp>
        <p:nvSpPr>
          <p:cNvPr id="32" name="Text 26"/>
          <p:cNvSpPr/>
          <p:nvPr/>
        </p:nvSpPr>
        <p:spPr>
          <a:xfrm>
            <a:off x="6858000" y="3575304"/>
            <a:ext cx="1645920" cy="256032"/>
          </a:xfrm>
          <a:prstGeom prst="rect">
            <a:avLst/>
          </a:prstGeom>
          <a:noFill/>
          <a:ln/>
        </p:spPr>
        <p:txBody>
          <a:bodyPr wrap="square" lIns="0" tIns="0" rIns="0" bIns="0"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  25 min</a:t>
            </a:r>
            <a:endParaRPr lang="en-US" sz="1000" dirty="0"/>
          </a:p>
        </p:txBody>
      </p:sp>
      <p:sp>
        <p:nvSpPr>
          <p:cNvPr id="33" name="Text 27"/>
          <p:cNvSpPr/>
          <p:nvPr/>
        </p:nvSpPr>
        <p:spPr>
          <a:xfrm>
            <a:off x="1024128" y="3739896"/>
            <a:ext cx="5669280" cy="256032"/>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Implement end-to-end: embed a new ticket, compare to stored vectors, return top-3 similar past tickets.</a:t>
            </a:r>
            <a:endParaRPr lang="en-US" sz="1050" dirty="0"/>
          </a:p>
        </p:txBody>
      </p:sp>
      <p:sp>
        <p:nvSpPr>
          <p:cNvPr id="34" name="Shape 28"/>
          <p:cNvSpPr/>
          <p:nvPr/>
        </p:nvSpPr>
        <p:spPr>
          <a:xfrm>
            <a:off x="411480" y="4151376"/>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35" name="Shape 29"/>
          <p:cNvSpPr/>
          <p:nvPr/>
        </p:nvSpPr>
        <p:spPr>
          <a:xfrm>
            <a:off x="530352" y="4279392"/>
            <a:ext cx="384048" cy="384048"/>
          </a:xfrm>
          <a:prstGeom prst="ellipse">
            <a:avLst/>
          </a:prstGeom>
          <a:solidFill>
            <a:srgbClr val="A855F7"/>
          </a:solidFill>
          <a:ln w="12700">
            <a:solidFill>
              <a:srgbClr val="A855F7"/>
            </a:solidFill>
            <a:prstDash val="solid"/>
          </a:ln>
        </p:spPr>
      </p:sp>
      <p:pic>
        <p:nvPicPr>
          <p:cNvPr id="36" name="Image 4" descr="preencoded.png">    </p:cNvPr>
          <p:cNvPicPr>
            <a:picLocks noChangeAspect="1"/>
          </p:cNvPicPr>
          <p:nvPr/>
        </p:nvPicPr>
        <p:blipFill>
          <a:blip r:embed="rId5"/>
          <a:stretch>
            <a:fillRect/>
          </a:stretch>
        </p:blipFill>
        <p:spPr>
          <a:xfrm>
            <a:off x="594360" y="4343400"/>
            <a:ext cx="256032" cy="256032"/>
          </a:xfrm>
          <a:prstGeom prst="rect">
            <a:avLst/>
          </a:prstGeom>
        </p:spPr>
      </p:pic>
      <p:sp>
        <p:nvSpPr>
          <p:cNvPr id="37" name="Text 30"/>
          <p:cNvSpPr/>
          <p:nvPr/>
        </p:nvSpPr>
        <p:spPr>
          <a:xfrm>
            <a:off x="1024128" y="4206240"/>
            <a:ext cx="5486400" cy="274320"/>
          </a:xfrm>
          <a:prstGeom prst="rect">
            <a:avLst/>
          </a:prstGeom>
          <a:noFill/>
          <a:ln/>
        </p:spPr>
        <p:txBody>
          <a:bodyPr wrap="square" rtlCol="0" anchor="ctr"/>
          <a:lstStyle/>
          <a:p>
            <a:pPr indent="0" marL="0">
              <a:buNone/>
            </a:pPr>
            <a:r>
              <a:rPr lang="en-US" sz="1300" b="1" dirty="0">
                <a:solidFill>
                  <a:srgbClr val="A855F7"/>
                </a:solidFill>
                <a:latin typeface="Calibri" pitchFamily="34" charset="0"/>
                <a:ea typeface="Calibri" pitchFamily="34" charset="-122"/>
                <a:cs typeface="Calibri" pitchFamily="34" charset="-120"/>
              </a:rPr>
              <a:t>Exercise 05: Chunking Comparison</a:t>
            </a:r>
            <a:endParaRPr lang="en-US" sz="1300" dirty="0"/>
          </a:p>
        </p:txBody>
      </p:sp>
      <p:sp>
        <p:nvSpPr>
          <p:cNvPr id="38" name="Shape 31"/>
          <p:cNvSpPr/>
          <p:nvPr/>
        </p:nvSpPr>
        <p:spPr>
          <a:xfrm>
            <a:off x="6858000" y="4334256"/>
            <a:ext cx="1645920" cy="256032"/>
          </a:xfrm>
          <a:prstGeom prst="roundRect">
            <a:avLst>
              <a:gd name="adj" fmla="val 21429"/>
            </a:avLst>
          </a:prstGeom>
          <a:solidFill>
            <a:srgbClr val="1E3A5F"/>
          </a:solidFill>
          <a:ln w="12700">
            <a:solidFill>
              <a:srgbClr val="A855F7"/>
            </a:solidFill>
            <a:prstDash val="solid"/>
          </a:ln>
        </p:spPr>
      </p:sp>
      <p:sp>
        <p:nvSpPr>
          <p:cNvPr id="39" name="Text 32"/>
          <p:cNvSpPr/>
          <p:nvPr/>
        </p:nvSpPr>
        <p:spPr>
          <a:xfrm>
            <a:off x="6858000" y="4334256"/>
            <a:ext cx="1645920" cy="256032"/>
          </a:xfrm>
          <a:prstGeom prst="rect">
            <a:avLst/>
          </a:prstGeom>
          <a:noFill/>
          <a:ln/>
        </p:spPr>
        <p:txBody>
          <a:bodyPr wrap="square" lIns="0" tIns="0" rIns="0" bIns="0" rtlCol="0" anchor="ctr"/>
          <a:lstStyle/>
          <a:p>
            <a:pPr algn="ctr" indent="0" marL="0">
              <a:buNone/>
            </a:pPr>
            <a:r>
              <a:rPr lang="en-US" sz="1000" b="1" dirty="0">
                <a:solidFill>
                  <a:srgbClr val="A855F7"/>
                </a:solidFill>
                <a:latin typeface="Calibri" pitchFamily="34" charset="0"/>
                <a:ea typeface="Calibri" pitchFamily="34" charset="-122"/>
                <a:cs typeface="Calibri" pitchFamily="34" charset="-120"/>
              </a:rPr>
              <a:t>⏱  15 min</a:t>
            </a:r>
            <a:endParaRPr lang="en-US" sz="1000" dirty="0"/>
          </a:p>
        </p:txBody>
      </p:sp>
      <p:sp>
        <p:nvSpPr>
          <p:cNvPr id="40" name="Text 33"/>
          <p:cNvSpPr/>
          <p:nvPr/>
        </p:nvSpPr>
        <p:spPr>
          <a:xfrm>
            <a:off x="1024128" y="4498848"/>
            <a:ext cx="5669280" cy="256032"/>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Apply all 3 chunking strategies to a long agent note. Discuss which produces the most meaningful chunks.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EXERCISE 1</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Build the System Prompt from Scratch</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7" name="Shape 5"/>
          <p:cNvSpPr/>
          <p:nvPr/>
        </p:nvSpPr>
        <p:spPr>
          <a:xfrm>
            <a:off x="502920" y="1243584"/>
            <a:ext cx="1097280" cy="384048"/>
          </a:xfrm>
          <a:prstGeom prst="roundRect">
            <a:avLst>
              <a:gd name="adj" fmla="val 16667"/>
            </a:avLst>
          </a:prstGeom>
          <a:solidFill>
            <a:srgbClr val="EF4444"/>
          </a:solidFill>
          <a:ln w="12700">
            <a:solidFill>
              <a:srgbClr val="EF4444"/>
            </a:solidFill>
            <a:prstDash val="solid"/>
          </a:ln>
        </p:spPr>
      </p:sp>
      <p:sp>
        <p:nvSpPr>
          <p:cNvPr id="8" name="Text 6"/>
          <p:cNvSpPr/>
          <p:nvPr/>
        </p:nvSpPr>
        <p:spPr>
          <a:xfrm>
            <a:off x="502920" y="1243584"/>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1</a:t>
            </a:r>
            <a:endParaRPr lang="en-US" sz="1100" dirty="0"/>
          </a:p>
        </p:txBody>
      </p:sp>
      <p:sp>
        <p:nvSpPr>
          <p:cNvPr id="9" name="Text 7"/>
          <p:cNvSpPr/>
          <p:nvPr/>
        </p:nvSpPr>
        <p:spPr>
          <a:xfrm>
            <a:off x="1719072" y="1179576"/>
            <a:ext cx="320040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Start with the worst prompt</a:t>
            </a:r>
            <a:endParaRPr lang="en-US" sz="1100" dirty="0"/>
          </a:p>
        </p:txBody>
      </p:sp>
      <p:sp>
        <p:nvSpPr>
          <p:cNvPr id="10" name="Text 8"/>
          <p:cNvSpPr/>
          <p:nvPr/>
        </p:nvSpPr>
        <p:spPr>
          <a:xfrm>
            <a:off x="1719072" y="1444752"/>
            <a:ext cx="3200400" cy="256032"/>
          </a:xfrm>
          <a:prstGeom prst="rect">
            <a:avLst/>
          </a:prstGeom>
          <a:noFill/>
          <a:ln/>
        </p:spPr>
        <p:txBody>
          <a:bodyPr wrap="square" rtlCol="0" anchor="ctr"/>
          <a:lstStyle/>
          <a:p>
            <a:pPr indent="0" marL="0">
              <a:buNone/>
            </a:pPr>
            <a:r>
              <a:rPr lang="en-US" sz="1000" dirty="0">
                <a:solidFill>
                  <a:srgbClr val="7DD3FC"/>
                </a:solidFill>
                <a:latin typeface="Courier New" pitchFamily="34" charset="0"/>
                <a:ea typeface="Courier New" pitchFamily="34" charset="-122"/>
                <a:cs typeface="Courier New" pitchFamily="34" charset="-120"/>
              </a:rPr>
              <a:t>System: "Analyze this support ticket."</a:t>
            </a:r>
            <a:endParaRPr lang="en-US" sz="1000" dirty="0"/>
          </a:p>
        </p:txBody>
      </p:sp>
      <p:sp>
        <p:nvSpPr>
          <p:cNvPr id="11" name="Text 9"/>
          <p:cNvSpPr/>
          <p:nvPr/>
        </p:nvSpPr>
        <p:spPr>
          <a:xfrm>
            <a:off x="5074920" y="1280160"/>
            <a:ext cx="3474720" cy="384048"/>
          </a:xfrm>
          <a:prstGeom prst="rect">
            <a:avLst/>
          </a:prstGeom>
          <a:noFill/>
          <a:ln/>
        </p:spPr>
        <p:txBody>
          <a:bodyPr wrap="square" rtlCol="0" anchor="ctr"/>
          <a:lstStyle/>
          <a:p>
            <a:pPr indent="0" marL="0">
              <a:buNone/>
            </a:pPr>
            <a:r>
              <a:rPr lang="en-US" sz="1050" dirty="0">
                <a:solidFill>
                  <a:srgbClr val="EF4444"/>
                </a:solidFill>
                <a:latin typeface="Calibri" pitchFamily="34" charset="0"/>
                <a:ea typeface="Calibri" pitchFamily="34" charset="-122"/>
                <a:cs typeface="Calibri" pitchFamily="34" charset="-120"/>
              </a:rPr>
              <a:t>→ Model returns long prose. json.loads() fails immediately.</a:t>
            </a:r>
            <a:endParaRPr lang="en-US" sz="1050" dirty="0"/>
          </a:p>
        </p:txBody>
      </p:sp>
      <p:sp>
        <p:nvSpPr>
          <p:cNvPr id="12" name="Shape 10"/>
          <p:cNvSpPr/>
          <p:nvPr/>
        </p:nvSpPr>
        <p:spPr>
          <a:xfrm>
            <a:off x="411480" y="1865376"/>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3" name="Shape 11"/>
          <p:cNvSpPr/>
          <p:nvPr/>
        </p:nvSpPr>
        <p:spPr>
          <a:xfrm>
            <a:off x="502920" y="1993392"/>
            <a:ext cx="1097280" cy="384048"/>
          </a:xfrm>
          <a:prstGeom prst="roundRect">
            <a:avLst>
              <a:gd name="adj" fmla="val 16667"/>
            </a:avLst>
          </a:prstGeom>
          <a:solidFill>
            <a:srgbClr val="F59E0B"/>
          </a:solidFill>
          <a:ln w="12700">
            <a:solidFill>
              <a:srgbClr val="F59E0B"/>
            </a:solidFill>
            <a:prstDash val="solid"/>
          </a:ln>
        </p:spPr>
      </p:sp>
      <p:sp>
        <p:nvSpPr>
          <p:cNvPr id="14" name="Text 12"/>
          <p:cNvSpPr/>
          <p:nvPr/>
        </p:nvSpPr>
        <p:spPr>
          <a:xfrm>
            <a:off x="502920" y="1993392"/>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2</a:t>
            </a:r>
            <a:endParaRPr lang="en-US" sz="1100" dirty="0"/>
          </a:p>
        </p:txBody>
      </p:sp>
      <p:sp>
        <p:nvSpPr>
          <p:cNvPr id="15" name="Text 13"/>
          <p:cNvSpPr/>
          <p:nvPr/>
        </p:nvSpPr>
        <p:spPr>
          <a:xfrm>
            <a:off x="1719072" y="1929384"/>
            <a:ext cx="320040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Add JSON enforcement</a:t>
            </a:r>
            <a:endParaRPr lang="en-US" sz="1100" dirty="0"/>
          </a:p>
        </p:txBody>
      </p:sp>
      <p:sp>
        <p:nvSpPr>
          <p:cNvPr id="16" name="Text 14"/>
          <p:cNvSpPr/>
          <p:nvPr/>
        </p:nvSpPr>
        <p:spPr>
          <a:xfrm>
            <a:off x="1719072" y="2194560"/>
            <a:ext cx="3200400" cy="256032"/>
          </a:xfrm>
          <a:prstGeom prst="rect">
            <a:avLst/>
          </a:prstGeom>
          <a:noFill/>
          <a:ln/>
        </p:spPr>
        <p:txBody>
          <a:bodyPr wrap="square" rtlCol="0" anchor="ctr"/>
          <a:lstStyle/>
          <a:p>
            <a:pPr indent="0" marL="0">
              <a:buNone/>
            </a:pPr>
            <a:r>
              <a:rPr lang="en-US" sz="1000" dirty="0">
                <a:solidFill>
                  <a:srgbClr val="7DD3FC"/>
                </a:solidFill>
                <a:latin typeface="Courier New" pitchFamily="34" charset="0"/>
                <a:ea typeface="Courier New" pitchFamily="34" charset="-122"/>
                <a:cs typeface="Courier New" pitchFamily="34" charset="-120"/>
              </a:rPr>
              <a:t>System: "...Return JSON only."</a:t>
            </a:r>
            <a:endParaRPr lang="en-US" sz="1000" dirty="0"/>
          </a:p>
        </p:txBody>
      </p:sp>
      <p:sp>
        <p:nvSpPr>
          <p:cNvPr id="17" name="Text 15"/>
          <p:cNvSpPr/>
          <p:nvPr/>
        </p:nvSpPr>
        <p:spPr>
          <a:xfrm>
            <a:off x="5074920" y="2029968"/>
            <a:ext cx="3474720" cy="384048"/>
          </a:xfrm>
          <a:prstGeom prst="rect">
            <a:avLst/>
          </a:prstGeom>
          <a:noFill/>
          <a:ln/>
        </p:spPr>
        <p:txBody>
          <a:bodyPr wrap="square" rtlCol="0" anchor="ctr"/>
          <a:lstStyle/>
          <a:p>
            <a:pPr indent="0" marL="0">
              <a:buNone/>
            </a:pPr>
            <a:r>
              <a:rPr lang="en-US" sz="1050" dirty="0">
                <a:solidFill>
                  <a:srgbClr val="F59E0B"/>
                </a:solidFill>
                <a:latin typeface="Calibri" pitchFamily="34" charset="0"/>
                <a:ea typeface="Calibri" pitchFamily="34" charset="-122"/>
                <a:cs typeface="Calibri" pitchFamily="34" charset="-120"/>
              </a:rPr>
              <a:t>→ Better — but sometimes fenced. Run 5 times, count crashes.</a:t>
            </a:r>
            <a:endParaRPr lang="en-US" sz="1050" dirty="0"/>
          </a:p>
        </p:txBody>
      </p:sp>
      <p:sp>
        <p:nvSpPr>
          <p:cNvPr id="18" name="Shape 16"/>
          <p:cNvSpPr/>
          <p:nvPr/>
        </p:nvSpPr>
        <p:spPr>
          <a:xfrm>
            <a:off x="411480" y="2615184"/>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9" name="Shape 17"/>
          <p:cNvSpPr/>
          <p:nvPr/>
        </p:nvSpPr>
        <p:spPr>
          <a:xfrm>
            <a:off x="502920" y="2743200"/>
            <a:ext cx="1097280" cy="384048"/>
          </a:xfrm>
          <a:prstGeom prst="roundRect">
            <a:avLst>
              <a:gd name="adj" fmla="val 16667"/>
            </a:avLst>
          </a:prstGeom>
          <a:solidFill>
            <a:srgbClr val="06B6D4"/>
          </a:solidFill>
          <a:ln w="12700">
            <a:solidFill>
              <a:srgbClr val="06B6D4"/>
            </a:solidFill>
            <a:prstDash val="solid"/>
          </a:ln>
        </p:spPr>
      </p:sp>
      <p:sp>
        <p:nvSpPr>
          <p:cNvPr id="20" name="Text 18"/>
          <p:cNvSpPr/>
          <p:nvPr/>
        </p:nvSpPr>
        <p:spPr>
          <a:xfrm>
            <a:off x="502920" y="2743200"/>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3</a:t>
            </a:r>
            <a:endParaRPr lang="en-US" sz="1100" dirty="0"/>
          </a:p>
        </p:txBody>
      </p:sp>
      <p:sp>
        <p:nvSpPr>
          <p:cNvPr id="21" name="Text 19"/>
          <p:cNvSpPr/>
          <p:nvPr/>
        </p:nvSpPr>
        <p:spPr>
          <a:xfrm>
            <a:off x="1719072" y="2679192"/>
            <a:ext cx="320040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Add required keys</a:t>
            </a:r>
            <a:endParaRPr lang="en-US" sz="1100" dirty="0"/>
          </a:p>
        </p:txBody>
      </p:sp>
      <p:sp>
        <p:nvSpPr>
          <p:cNvPr id="22" name="Text 20"/>
          <p:cNvSpPr/>
          <p:nvPr/>
        </p:nvSpPr>
        <p:spPr>
          <a:xfrm>
            <a:off x="1719072" y="2944368"/>
            <a:ext cx="3200400" cy="256032"/>
          </a:xfrm>
          <a:prstGeom prst="rect">
            <a:avLst/>
          </a:prstGeom>
          <a:noFill/>
          <a:ln/>
        </p:spPr>
        <p:txBody>
          <a:bodyPr wrap="square" rtlCol="0" anchor="ctr"/>
          <a:lstStyle/>
          <a:p>
            <a:pPr indent="0" marL="0">
              <a:buNone/>
            </a:pPr>
            <a:r>
              <a:rPr lang="en-US" sz="1000" dirty="0">
                <a:solidFill>
                  <a:srgbClr val="7DD3FC"/>
                </a:solidFill>
                <a:latin typeface="Courier New" pitchFamily="34" charset="0"/>
                <a:ea typeface="Courier New" pitchFamily="34" charset="-122"/>
                <a:cs typeface="Courier New" pitchFamily="34" charset="-120"/>
              </a:rPr>
              <a:t>System: "...Required keys: issue_category, sentiment, urgency..."</a:t>
            </a:r>
            <a:endParaRPr lang="en-US" sz="1000" dirty="0"/>
          </a:p>
        </p:txBody>
      </p:sp>
      <p:sp>
        <p:nvSpPr>
          <p:cNvPr id="23" name="Text 21"/>
          <p:cNvSpPr/>
          <p:nvPr/>
        </p:nvSpPr>
        <p:spPr>
          <a:xfrm>
            <a:off x="5074920" y="2779776"/>
            <a:ext cx="3474720" cy="384048"/>
          </a:xfrm>
          <a:prstGeom prst="rect">
            <a:avLst/>
          </a:prstGeom>
          <a:noFill/>
          <a:ln/>
        </p:spPr>
        <p:txBody>
          <a:bodyPr wrap="square" rtlCol="0" anchor="ctr"/>
          <a:lstStyle/>
          <a:p>
            <a:pPr indent="0" marL="0">
              <a:buNone/>
            </a:pPr>
            <a:r>
              <a:rPr lang="en-US" sz="1050" dirty="0">
                <a:solidFill>
                  <a:srgbClr val="06B6D4"/>
                </a:solidFill>
                <a:latin typeface="Calibri" pitchFamily="34" charset="0"/>
                <a:ea typeface="Calibri" pitchFamily="34" charset="-122"/>
                <a:cs typeface="Calibri" pitchFamily="34" charset="-120"/>
              </a:rPr>
              <a:t>→ Keys present but values vary wildly. 'late delivery' vs 'DELAY' vs 'LATE_PACKAGE'</a:t>
            </a:r>
            <a:endParaRPr lang="en-US" sz="1050" dirty="0"/>
          </a:p>
        </p:txBody>
      </p:sp>
      <p:sp>
        <p:nvSpPr>
          <p:cNvPr id="24" name="Shape 22"/>
          <p:cNvSpPr/>
          <p:nvPr/>
        </p:nvSpPr>
        <p:spPr>
          <a:xfrm>
            <a:off x="411480" y="3364992"/>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5" name="Shape 23"/>
          <p:cNvSpPr/>
          <p:nvPr/>
        </p:nvSpPr>
        <p:spPr>
          <a:xfrm>
            <a:off x="502920" y="3493008"/>
            <a:ext cx="1097280" cy="384048"/>
          </a:xfrm>
          <a:prstGeom prst="roundRect">
            <a:avLst>
              <a:gd name="adj" fmla="val 16667"/>
            </a:avLst>
          </a:prstGeom>
          <a:solidFill>
            <a:srgbClr val="10B981"/>
          </a:solidFill>
          <a:ln w="12700">
            <a:solidFill>
              <a:srgbClr val="10B981"/>
            </a:solidFill>
            <a:prstDash val="solid"/>
          </a:ln>
        </p:spPr>
      </p:sp>
      <p:sp>
        <p:nvSpPr>
          <p:cNvPr id="26" name="Text 24"/>
          <p:cNvSpPr/>
          <p:nvPr/>
        </p:nvSpPr>
        <p:spPr>
          <a:xfrm>
            <a:off x="502920" y="3493008"/>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4</a:t>
            </a:r>
            <a:endParaRPr lang="en-US" sz="1100" dirty="0"/>
          </a:p>
        </p:txBody>
      </p:sp>
      <p:sp>
        <p:nvSpPr>
          <p:cNvPr id="27" name="Text 25"/>
          <p:cNvSpPr/>
          <p:nvPr/>
        </p:nvSpPr>
        <p:spPr>
          <a:xfrm>
            <a:off x="1719072" y="3429000"/>
            <a:ext cx="320040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Add allowed values</a:t>
            </a:r>
            <a:endParaRPr lang="en-US" sz="1100" dirty="0"/>
          </a:p>
        </p:txBody>
      </p:sp>
      <p:sp>
        <p:nvSpPr>
          <p:cNvPr id="28" name="Text 26"/>
          <p:cNvSpPr/>
          <p:nvPr/>
        </p:nvSpPr>
        <p:spPr>
          <a:xfrm>
            <a:off x="1719072" y="3694176"/>
            <a:ext cx="3200400" cy="256032"/>
          </a:xfrm>
          <a:prstGeom prst="rect">
            <a:avLst/>
          </a:prstGeom>
          <a:noFill/>
          <a:ln/>
        </p:spPr>
        <p:txBody>
          <a:bodyPr wrap="square" rtlCol="0" anchor="ctr"/>
          <a:lstStyle/>
          <a:p>
            <a:pPr indent="0" marL="0">
              <a:buNone/>
            </a:pPr>
            <a:r>
              <a:rPr lang="en-US" sz="1000" dirty="0">
                <a:solidFill>
                  <a:srgbClr val="7DD3FC"/>
                </a:solidFill>
                <a:latin typeface="Courier New" pitchFamily="34" charset="0"/>
                <a:ea typeface="Courier New" pitchFamily="34" charset="-122"/>
                <a:cs typeface="Courier New" pitchFamily="34" charset="-120"/>
              </a:rPr>
              <a:t>System: "...Allowed: DELIVERY_DELAY | DAMAGED_ITEM | ..."</a:t>
            </a:r>
            <a:endParaRPr lang="en-US" sz="1000" dirty="0"/>
          </a:p>
        </p:txBody>
      </p:sp>
      <p:sp>
        <p:nvSpPr>
          <p:cNvPr id="29" name="Text 27"/>
          <p:cNvSpPr/>
          <p:nvPr/>
        </p:nvSpPr>
        <p:spPr>
          <a:xfrm>
            <a:off x="5074920" y="3529584"/>
            <a:ext cx="3474720" cy="384048"/>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Run 10 times. issue_category is now 10/10 consistent.</a:t>
            </a:r>
            <a:endParaRPr lang="en-US" sz="1050" dirty="0"/>
          </a:p>
        </p:txBody>
      </p:sp>
      <p:sp>
        <p:nvSpPr>
          <p:cNvPr id="30" name="Shape 28"/>
          <p:cNvSpPr/>
          <p:nvPr/>
        </p:nvSpPr>
        <p:spPr>
          <a:xfrm>
            <a:off x="411480" y="4114800"/>
            <a:ext cx="8321040" cy="658368"/>
          </a:xfrm>
          <a:prstGeom prst="roundRect">
            <a:avLst>
              <a:gd name="adj" fmla="val 12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31" name="Shape 29"/>
          <p:cNvSpPr/>
          <p:nvPr/>
        </p:nvSpPr>
        <p:spPr>
          <a:xfrm>
            <a:off x="502920" y="4242816"/>
            <a:ext cx="1097280" cy="384048"/>
          </a:xfrm>
          <a:prstGeom prst="roundRect">
            <a:avLst>
              <a:gd name="adj" fmla="val 16667"/>
            </a:avLst>
          </a:prstGeom>
          <a:solidFill>
            <a:srgbClr val="A855F7"/>
          </a:solidFill>
          <a:ln w="12700">
            <a:solidFill>
              <a:srgbClr val="A855F7"/>
            </a:solidFill>
            <a:prstDash val="solid"/>
          </a:ln>
        </p:spPr>
      </p:sp>
      <p:sp>
        <p:nvSpPr>
          <p:cNvPr id="32" name="Text 30"/>
          <p:cNvSpPr/>
          <p:nvPr/>
        </p:nvSpPr>
        <p:spPr>
          <a:xfrm>
            <a:off x="502920" y="4242816"/>
            <a:ext cx="10972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5</a:t>
            </a:r>
            <a:endParaRPr lang="en-US" sz="1100" dirty="0"/>
          </a:p>
        </p:txBody>
      </p:sp>
      <p:sp>
        <p:nvSpPr>
          <p:cNvPr id="33" name="Text 31"/>
          <p:cNvSpPr/>
          <p:nvPr/>
        </p:nvSpPr>
        <p:spPr>
          <a:xfrm>
            <a:off x="1719072" y="4178808"/>
            <a:ext cx="3200400" cy="25603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Add PII rules &amp; test</a:t>
            </a:r>
            <a:endParaRPr lang="en-US" sz="1100" dirty="0"/>
          </a:p>
        </p:txBody>
      </p:sp>
      <p:sp>
        <p:nvSpPr>
          <p:cNvPr id="34" name="Text 32"/>
          <p:cNvSpPr/>
          <p:nvPr/>
        </p:nvSpPr>
        <p:spPr>
          <a:xfrm>
            <a:off x="1719072" y="4443984"/>
            <a:ext cx="3200400" cy="256032"/>
          </a:xfrm>
          <a:prstGeom prst="rect">
            <a:avLst/>
          </a:prstGeom>
          <a:noFill/>
          <a:ln/>
        </p:spPr>
        <p:txBody>
          <a:bodyPr wrap="square" rtlCol="0" anchor="ctr"/>
          <a:lstStyle/>
          <a:p>
            <a:pPr indent="0" marL="0">
              <a:buNone/>
            </a:pPr>
            <a:r>
              <a:rPr lang="en-US" sz="1000" dirty="0">
                <a:solidFill>
                  <a:srgbClr val="7DD3FC"/>
                </a:solidFill>
                <a:latin typeface="Courier New" pitchFamily="34" charset="0"/>
                <a:ea typeface="Courier New" pitchFamily="34" charset="-122"/>
                <a:cs typeface="Courier New" pitchFamily="34" charset="-120"/>
              </a:rPr>
              <a:t>Ticket has phone: "9876543210" and email: "john@gmail.com"</a:t>
            </a:r>
            <a:endParaRPr lang="en-US" sz="1000" dirty="0"/>
          </a:p>
        </p:txBody>
      </p:sp>
      <p:sp>
        <p:nvSpPr>
          <p:cNvPr id="35" name="Text 33"/>
          <p:cNvSpPr/>
          <p:nvPr/>
        </p:nvSpPr>
        <p:spPr>
          <a:xfrm>
            <a:off x="5074920" y="4279392"/>
            <a:ext cx="3474720" cy="384048"/>
          </a:xfrm>
          <a:prstGeom prst="rect">
            <a:avLst/>
          </a:prstGeom>
          <a:noFill/>
          <a:ln/>
        </p:spPr>
        <p:txBody>
          <a:bodyPr wrap="square" rtlCol="0" anchor="ctr"/>
          <a:lstStyle/>
          <a:p>
            <a:pPr indent="0" marL="0">
              <a:buNone/>
            </a:pPr>
            <a:r>
              <a:rPr lang="en-US" sz="1050" dirty="0">
                <a:solidFill>
                  <a:srgbClr val="A855F7"/>
                </a:solidFill>
                <a:latin typeface="Calibri" pitchFamily="34" charset="0"/>
                <a:ea typeface="Calibri" pitchFamily="34" charset="-122"/>
                <a:cs typeface="Calibri" pitchFamily="34" charset="-120"/>
              </a:rPr>
              <a:t>→ Without rules: PII leaks. Add rules + regex. Zero leakage.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EXERCISE 4</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Build a Similarity Search Engine</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8321040" cy="594360"/>
          </a:xfrm>
          <a:prstGeom prst="roundRect">
            <a:avLst>
              <a:gd name="adj" fmla="val 15385"/>
            </a:avLst>
          </a:prstGeom>
          <a:solidFill>
            <a:srgbClr val="0A1628"/>
          </a:solidFill>
          <a:ln w="12700">
            <a:solidFill>
              <a:srgbClr val="0A1628"/>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594360" y="1188720"/>
            <a:ext cx="8046720" cy="411480"/>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Build end-to-end: embed a new ticket → compare against stored vectors → return top-3 matches</a:t>
            </a:r>
            <a:endParaRPr lang="en-US" sz="1300" dirty="0"/>
          </a:p>
        </p:txBody>
      </p:sp>
      <p:sp>
        <p:nvSpPr>
          <p:cNvPr id="8" name="Shape 6"/>
          <p:cNvSpPr/>
          <p:nvPr/>
        </p:nvSpPr>
        <p:spPr>
          <a:xfrm>
            <a:off x="411480" y="1847088"/>
            <a:ext cx="1572768" cy="749808"/>
          </a:xfrm>
          <a:prstGeom prst="roundRect">
            <a:avLst>
              <a:gd name="adj" fmla="val 10976"/>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411480" y="1847088"/>
            <a:ext cx="1572768" cy="749808"/>
          </a:xfrm>
          <a:prstGeom prst="rect">
            <a:avLst/>
          </a:prstGeom>
          <a:noFill/>
          <a:ln/>
        </p:spPr>
        <p:txBody>
          <a:bodyPr wrap="square" rtlCol="0" anchor="ctr"/>
          <a:lstStyle/>
          <a:p>
            <a:pPr algn="ctr" indent="0" marL="0">
              <a:buNone/>
            </a:pPr>
            <a:r>
              <a:rPr lang="en-US" sz="1050" b="1" dirty="0">
                <a:solidFill>
                  <a:srgbClr val="94A3B8"/>
                </a:solidFill>
                <a:latin typeface="Calibri" pitchFamily="34" charset="0"/>
                <a:ea typeface="Calibri" pitchFamily="34" charset="-122"/>
                <a:cs typeface="Calibri" pitchFamily="34" charset="-120"/>
              </a:rPr>
              <a:t>New Ticket Text</a:t>
            </a:r>
            <a:endParaRPr lang="en-US" sz="1050" dirty="0"/>
          </a:p>
        </p:txBody>
      </p:sp>
      <p:pic>
        <p:nvPicPr>
          <p:cNvPr id="10" name="Image 0" descr="preencoded.png">    </p:cNvPr>
          <p:cNvPicPr>
            <a:picLocks noChangeAspect="1"/>
          </p:cNvPicPr>
          <p:nvPr/>
        </p:nvPicPr>
        <p:blipFill>
          <a:blip r:embed="rId1"/>
          <a:stretch>
            <a:fillRect/>
          </a:stretch>
        </p:blipFill>
        <p:spPr>
          <a:xfrm>
            <a:off x="2029968" y="2139696"/>
            <a:ext cx="274320" cy="182880"/>
          </a:xfrm>
          <a:prstGeom prst="rect">
            <a:avLst/>
          </a:prstGeom>
        </p:spPr>
      </p:pic>
      <p:sp>
        <p:nvSpPr>
          <p:cNvPr id="11" name="Shape 8"/>
          <p:cNvSpPr/>
          <p:nvPr/>
        </p:nvSpPr>
        <p:spPr>
          <a:xfrm>
            <a:off x="2148840" y="1847088"/>
            <a:ext cx="1572768" cy="749808"/>
          </a:xfrm>
          <a:prstGeom prst="roundRect">
            <a:avLst>
              <a:gd name="adj" fmla="val 10976"/>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2" name="Text 9"/>
          <p:cNvSpPr/>
          <p:nvPr/>
        </p:nvSpPr>
        <p:spPr>
          <a:xfrm>
            <a:off x="2148840" y="1847088"/>
            <a:ext cx="1572768" cy="749808"/>
          </a:xfrm>
          <a:prstGeom prst="rect">
            <a:avLst/>
          </a:prstGeom>
          <a:noFill/>
          <a:ln/>
        </p:spPr>
        <p:txBody>
          <a:bodyPr wrap="square" rtlCol="0" anchor="ctr"/>
          <a:lstStyle/>
          <a:p>
            <a:pPr algn="ctr" indent="0" marL="0">
              <a:buNone/>
            </a:pPr>
            <a:r>
              <a:rPr lang="en-US" sz="1050" b="1" dirty="0">
                <a:solidFill>
                  <a:srgbClr val="0891B2"/>
                </a:solidFill>
                <a:latin typeface="Calibri" pitchFamily="34" charset="0"/>
                <a:ea typeface="Calibri" pitchFamily="34" charset="-122"/>
                <a:cs typeface="Calibri" pitchFamily="34" charset="-120"/>
              </a:rPr>
              <a:t>generate_embedding()</a:t>
            </a:r>
            <a:endParaRPr lang="en-US" sz="1050" dirty="0"/>
          </a:p>
        </p:txBody>
      </p:sp>
      <p:pic>
        <p:nvPicPr>
          <p:cNvPr id="13" name="Image 1" descr="preencoded.png">    </p:cNvPr>
          <p:cNvPicPr>
            <a:picLocks noChangeAspect="1"/>
          </p:cNvPicPr>
          <p:nvPr/>
        </p:nvPicPr>
        <p:blipFill>
          <a:blip r:embed="rId2"/>
          <a:stretch>
            <a:fillRect/>
          </a:stretch>
        </p:blipFill>
        <p:spPr>
          <a:xfrm>
            <a:off x="3767328" y="2139696"/>
            <a:ext cx="274320" cy="182880"/>
          </a:xfrm>
          <a:prstGeom prst="rect">
            <a:avLst/>
          </a:prstGeom>
        </p:spPr>
      </p:pic>
      <p:sp>
        <p:nvSpPr>
          <p:cNvPr id="14" name="Shape 10"/>
          <p:cNvSpPr/>
          <p:nvPr/>
        </p:nvSpPr>
        <p:spPr>
          <a:xfrm>
            <a:off x="3886200" y="1847088"/>
            <a:ext cx="1572768" cy="749808"/>
          </a:xfrm>
          <a:prstGeom prst="roundRect">
            <a:avLst>
              <a:gd name="adj" fmla="val 10976"/>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5" name="Text 11"/>
          <p:cNvSpPr/>
          <p:nvPr/>
        </p:nvSpPr>
        <p:spPr>
          <a:xfrm>
            <a:off x="3886200" y="1847088"/>
            <a:ext cx="1572768" cy="749808"/>
          </a:xfrm>
          <a:prstGeom prst="rect">
            <a:avLst/>
          </a:prstGeom>
          <a:noFill/>
          <a:ln/>
        </p:spPr>
        <p:txBody>
          <a:bodyPr wrap="square" rtlCol="0" anchor="ctr"/>
          <a:lstStyle/>
          <a:p>
            <a:pPr algn="ctr" indent="0" marL="0">
              <a:buNone/>
            </a:pPr>
            <a:r>
              <a:rPr lang="en-US" sz="1050" b="1" dirty="0">
                <a:solidFill>
                  <a:srgbClr val="06B6D4"/>
                </a:solidFill>
                <a:latin typeface="Calibri" pitchFamily="34" charset="0"/>
                <a:ea typeface="Calibri" pitchFamily="34" charset="-122"/>
                <a:cs typeface="Calibri" pitchFamily="34" charset="-120"/>
              </a:rPr>
              <a:t>New Vector</a:t>
            </a:r>
            <a:endParaRPr lang="en-US" sz="1050" dirty="0"/>
          </a:p>
        </p:txBody>
      </p:sp>
      <p:pic>
        <p:nvPicPr>
          <p:cNvPr id="16" name="Image 2" descr="preencoded.png">    </p:cNvPr>
          <p:cNvPicPr>
            <a:picLocks noChangeAspect="1"/>
          </p:cNvPicPr>
          <p:nvPr/>
        </p:nvPicPr>
        <p:blipFill>
          <a:blip r:embed="rId3"/>
          <a:stretch>
            <a:fillRect/>
          </a:stretch>
        </p:blipFill>
        <p:spPr>
          <a:xfrm>
            <a:off x="5504688" y="2139696"/>
            <a:ext cx="274320" cy="182880"/>
          </a:xfrm>
          <a:prstGeom prst="rect">
            <a:avLst/>
          </a:prstGeom>
        </p:spPr>
      </p:pic>
      <p:sp>
        <p:nvSpPr>
          <p:cNvPr id="17" name="Shape 12"/>
          <p:cNvSpPr/>
          <p:nvPr/>
        </p:nvSpPr>
        <p:spPr>
          <a:xfrm>
            <a:off x="5623560" y="1847088"/>
            <a:ext cx="1572768" cy="749808"/>
          </a:xfrm>
          <a:prstGeom prst="roundRect">
            <a:avLst>
              <a:gd name="adj" fmla="val 10976"/>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8" name="Text 13"/>
          <p:cNvSpPr/>
          <p:nvPr/>
        </p:nvSpPr>
        <p:spPr>
          <a:xfrm>
            <a:off x="5623560" y="1847088"/>
            <a:ext cx="1572768" cy="749808"/>
          </a:xfrm>
          <a:prstGeom prst="rect">
            <a:avLst/>
          </a:prstGeom>
          <a:noFill/>
          <a:ln/>
        </p:spPr>
        <p:txBody>
          <a:bodyPr wrap="square"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cosine_sim() vs</a:t>
            </a:r>
            <a:endParaRPr lang="en-US" sz="1050" dirty="0"/>
          </a:p>
          <a:p>
            <a:pPr algn="ctr" indent="0" marL="0">
              <a:buNone/>
            </a:pPr>
            <a:r>
              <a:rPr lang="en-US" sz="1050" b="1" dirty="0">
                <a:solidFill>
                  <a:srgbClr val="2563EB"/>
                </a:solidFill>
                <a:latin typeface="Calibri" pitchFamily="34" charset="0"/>
                <a:ea typeface="Calibri" pitchFamily="34" charset="-122"/>
                <a:cs typeface="Calibri" pitchFamily="34" charset="-120"/>
              </a:rPr>
              <a:t>all stored vectors</a:t>
            </a:r>
            <a:endParaRPr lang="en-US" sz="1050" dirty="0"/>
          </a:p>
        </p:txBody>
      </p:sp>
      <p:pic>
        <p:nvPicPr>
          <p:cNvPr id="19" name="Image 3" descr="preencoded.png">    </p:cNvPr>
          <p:cNvPicPr>
            <a:picLocks noChangeAspect="1"/>
          </p:cNvPicPr>
          <p:nvPr/>
        </p:nvPicPr>
        <p:blipFill>
          <a:blip r:embed="rId4"/>
          <a:stretch>
            <a:fillRect/>
          </a:stretch>
        </p:blipFill>
        <p:spPr>
          <a:xfrm>
            <a:off x="7242048" y="2139696"/>
            <a:ext cx="274320" cy="182880"/>
          </a:xfrm>
          <a:prstGeom prst="rect">
            <a:avLst/>
          </a:prstGeom>
        </p:spPr>
      </p:pic>
      <p:sp>
        <p:nvSpPr>
          <p:cNvPr id="20" name="Shape 14"/>
          <p:cNvSpPr/>
          <p:nvPr/>
        </p:nvSpPr>
        <p:spPr>
          <a:xfrm>
            <a:off x="7360920" y="1847088"/>
            <a:ext cx="1572768" cy="749808"/>
          </a:xfrm>
          <a:prstGeom prst="roundRect">
            <a:avLst>
              <a:gd name="adj" fmla="val 10976"/>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21" name="Text 15"/>
          <p:cNvSpPr/>
          <p:nvPr/>
        </p:nvSpPr>
        <p:spPr>
          <a:xfrm>
            <a:off x="7360920" y="1847088"/>
            <a:ext cx="1572768" cy="749808"/>
          </a:xfrm>
          <a:prstGeom prst="rect">
            <a:avLst/>
          </a:prstGeom>
          <a:noFill/>
          <a:ln/>
        </p:spPr>
        <p:txBody>
          <a:bodyPr wrap="square" rtlCol="0" anchor="ctr"/>
          <a:lstStyle/>
          <a:p>
            <a:pPr algn="ctr" indent="0" marL="0">
              <a:buNone/>
            </a:pPr>
            <a:r>
              <a:rPr lang="en-US" sz="1050" b="1" dirty="0">
                <a:solidFill>
                  <a:srgbClr val="10B981"/>
                </a:solidFill>
                <a:latin typeface="Calibri" pitchFamily="34" charset="0"/>
                <a:ea typeface="Calibri" pitchFamily="34" charset="-122"/>
                <a:cs typeface="Calibri" pitchFamily="34" charset="-120"/>
              </a:rPr>
              <a:t>Top-3 Results</a:t>
            </a:r>
            <a:endParaRPr lang="en-US" sz="1050" dirty="0"/>
          </a:p>
        </p:txBody>
      </p:sp>
      <p:sp>
        <p:nvSpPr>
          <p:cNvPr id="22" name="Shape 16"/>
          <p:cNvSpPr/>
          <p:nvPr/>
        </p:nvSpPr>
        <p:spPr>
          <a:xfrm>
            <a:off x="411480" y="2743200"/>
            <a:ext cx="8321040" cy="2148840"/>
          </a:xfrm>
          <a:prstGeom prst="roundRect">
            <a:avLst>
              <a:gd name="adj" fmla="val 3404"/>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23" name="Text 17"/>
          <p:cNvSpPr/>
          <p:nvPr/>
        </p:nvSpPr>
        <p:spPr>
          <a:xfrm>
            <a:off x="521208" y="2834640"/>
            <a:ext cx="8101584" cy="196596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 1. Embed stored tickets once</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stored = [{"id":"TKT-001","text":"DELIVERY_DELAY|HIGH|not received 2 weeks"}, ...]</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for t in stored:  t["vector"] = embed(t["text"])</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2. Embed new incoming ticket</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new_vec = embed("DELIVERY_DELAY|HIGH|shipment overdue 3 weeks")</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3. Compute similarity to all stored tickets</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results = [{"id":t["id"], "sim": cosine_sim(new_vec, t["vector"])} for t in stored]</a:t>
            </a:r>
            <a:endParaRPr lang="en-US" sz="1050" dirty="0"/>
          </a:p>
          <a:p>
            <a:pPr indent="0" marL="0">
              <a:buNone/>
            </a:pP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4. Sort and return top 3</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top3 = sorted(results, key=lambda x: x["sim"], reverse=True)[:3]</a:t>
            </a:r>
            <a:endParaRPr lang="en-US" sz="1050" dirty="0"/>
          </a:p>
        </p:txBody>
      </p:sp>
      <p:sp>
        <p:nvSpPr>
          <p:cNvPr id="24" name="Text 18"/>
          <p:cNvSpPr/>
          <p:nvPr/>
        </p:nvSpPr>
        <p:spPr>
          <a:xfrm>
            <a:off x="411480" y="4965192"/>
            <a:ext cx="8321040" cy="228600"/>
          </a:xfrm>
          <a:prstGeom prst="rect">
            <a:avLst/>
          </a:prstGeom>
          <a:noFill/>
          <a:ln/>
        </p:spPr>
        <p:txBody>
          <a:bodyPr wrap="square" rtlCol="0" anchor="ctr"/>
          <a:lstStyle/>
          <a:p>
            <a:pPr algn="ctr" indent="0" marL="0">
              <a:buNone/>
            </a:pPr>
            <a:r>
              <a:rPr lang="en-US" sz="1100" i="1" dirty="0">
                <a:solidFill>
                  <a:srgbClr val="F59E0B"/>
                </a:solidFill>
                <a:latin typeface="Calibri" pitchFamily="34" charset="0"/>
                <a:ea typeface="Calibri" pitchFamily="34" charset="-122"/>
                <a:cs typeface="Calibri" pitchFamily="34" charset="-120"/>
              </a:rPr>
              <a:t>Expected: TKT-001 (sim ~0.99) → TKT-003 (sim ~0.92) → other issue types much lower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11480" y="164592"/>
            <a:ext cx="2011680" cy="292608"/>
          </a:xfrm>
          <a:prstGeom prst="roundRect">
            <a:avLst>
              <a:gd name="adj" fmla="val 18750"/>
            </a:avLst>
          </a:prstGeom>
          <a:solidFill>
            <a:srgbClr val="0891B2"/>
          </a:solidFill>
          <a:ln w="12700">
            <a:solidFill>
              <a:srgbClr val="0891B2"/>
            </a:solidFill>
            <a:prstDash val="solid"/>
          </a:ln>
        </p:spPr>
      </p:sp>
      <p:sp>
        <p:nvSpPr>
          <p:cNvPr id="3" name="Text 1"/>
          <p:cNvSpPr/>
          <p:nvPr/>
        </p:nvSpPr>
        <p:spPr>
          <a:xfrm>
            <a:off x="411480" y="164592"/>
            <a:ext cx="20116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6 — MISTAKES</a:t>
            </a:r>
            <a:endParaRPr lang="en-US" sz="1100" dirty="0"/>
          </a:p>
        </p:txBody>
      </p:sp>
      <p:sp>
        <p:nvSpPr>
          <p:cNvPr id="4" name="Text 2"/>
          <p:cNvSpPr/>
          <p:nvPr/>
        </p:nvSpPr>
        <p:spPr>
          <a:xfrm>
            <a:off x="411480" y="530352"/>
            <a:ext cx="832104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8 Common Mistakes &amp; How to Catch Them</a:t>
            </a:r>
            <a:endParaRPr lang="en-US" sz="3000" dirty="0"/>
          </a:p>
        </p:txBody>
      </p:sp>
      <p:sp>
        <p:nvSpPr>
          <p:cNvPr id="5" name="Shape 3"/>
          <p:cNvSpPr/>
          <p:nvPr/>
        </p:nvSpPr>
        <p:spPr>
          <a:xfrm>
            <a:off x="411480" y="1005840"/>
            <a:ext cx="8321040" cy="0"/>
          </a:xfrm>
          <a:prstGeom prst="line">
            <a:avLst/>
          </a:prstGeom>
          <a:noFill/>
          <a:ln w="15240">
            <a:solidFill>
              <a:srgbClr val="0891B2"/>
            </a:solidFill>
            <a:prstDash val="solid"/>
          </a:ln>
        </p:spPr>
      </p:sp>
      <p:sp>
        <p:nvSpPr>
          <p:cNvPr id="6" name="Shape 4"/>
          <p:cNvSpPr/>
          <p:nvPr/>
        </p:nvSpPr>
        <p:spPr>
          <a:xfrm>
            <a:off x="411480" y="1115568"/>
            <a:ext cx="4023360" cy="804672"/>
          </a:xfrm>
          <a:prstGeom prst="roundRect">
            <a:avLst>
              <a:gd name="adj" fmla="val 1022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521208" y="1225296"/>
            <a:ext cx="292608" cy="292608"/>
          </a:xfrm>
          <a:prstGeom prst="rect">
            <a:avLst/>
          </a:prstGeom>
        </p:spPr>
      </p:pic>
      <p:sp>
        <p:nvSpPr>
          <p:cNvPr id="8" name="Text 5"/>
          <p:cNvSpPr/>
          <p:nvPr/>
        </p:nvSpPr>
        <p:spPr>
          <a:xfrm>
            <a:off x="905256" y="1188720"/>
            <a:ext cx="3429000" cy="274320"/>
          </a:xfrm>
          <a:prstGeom prst="rect">
            <a:avLst/>
          </a:prstGeom>
          <a:noFill/>
          <a:ln/>
        </p:spPr>
        <p:txBody>
          <a:bodyPr wrap="square" rtlCol="0" anchor="ctr"/>
          <a:lstStyle/>
          <a:p>
            <a:pPr indent="0" marL="0">
              <a:buNone/>
            </a:pPr>
            <a:r>
              <a:rPr lang="en-US" sz="1100" b="1" dirty="0">
                <a:solidFill>
                  <a:srgbClr val="FC9C9C"/>
                </a:solidFill>
                <a:latin typeface="Calibri" pitchFamily="34" charset="0"/>
                <a:ea typeface="Calibri" pitchFamily="34" charset="-122"/>
                <a:cs typeface="Calibri" pitchFamily="34" charset="-120"/>
              </a:rPr>
              <a:t>High temperature for classification</a:t>
            </a:r>
            <a:endParaRPr lang="en-US" sz="1100" dirty="0"/>
          </a:p>
        </p:txBody>
      </p:sp>
      <p:pic>
        <p:nvPicPr>
          <p:cNvPr id="9" name="Image 1" descr="preencoded.png">    </p:cNvPr>
          <p:cNvPicPr>
            <a:picLocks noChangeAspect="1"/>
          </p:cNvPicPr>
          <p:nvPr/>
        </p:nvPicPr>
        <p:blipFill>
          <a:blip r:embed="rId2"/>
          <a:stretch>
            <a:fillRect/>
          </a:stretch>
        </p:blipFill>
        <p:spPr>
          <a:xfrm>
            <a:off x="521208" y="1572768"/>
            <a:ext cx="256032" cy="256032"/>
          </a:xfrm>
          <a:prstGeom prst="rect">
            <a:avLst/>
          </a:prstGeom>
        </p:spPr>
      </p:pic>
      <p:sp>
        <p:nvSpPr>
          <p:cNvPr id="10" name="Text 6"/>
          <p:cNvSpPr/>
          <p:nvPr/>
        </p:nvSpPr>
        <p:spPr>
          <a:xfrm>
            <a:off x="868680" y="1572768"/>
            <a:ext cx="3474720" cy="256032"/>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Use 0.1 — same ticket, consistent output</a:t>
            </a:r>
            <a:endParaRPr lang="en-US" sz="1050" dirty="0"/>
          </a:p>
        </p:txBody>
      </p:sp>
      <p:sp>
        <p:nvSpPr>
          <p:cNvPr id="11" name="Shape 7"/>
          <p:cNvSpPr/>
          <p:nvPr/>
        </p:nvSpPr>
        <p:spPr>
          <a:xfrm>
            <a:off x="4663440" y="1115568"/>
            <a:ext cx="4023360" cy="804672"/>
          </a:xfrm>
          <a:prstGeom prst="roundRect">
            <a:avLst>
              <a:gd name="adj" fmla="val 1022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pic>
        <p:nvPicPr>
          <p:cNvPr id="12" name="Image 2" descr="preencoded.png">    </p:cNvPr>
          <p:cNvPicPr>
            <a:picLocks noChangeAspect="1"/>
          </p:cNvPicPr>
          <p:nvPr/>
        </p:nvPicPr>
        <p:blipFill>
          <a:blip r:embed="rId3"/>
          <a:stretch>
            <a:fillRect/>
          </a:stretch>
        </p:blipFill>
        <p:spPr>
          <a:xfrm>
            <a:off x="4773168" y="1225296"/>
            <a:ext cx="292608" cy="292608"/>
          </a:xfrm>
          <a:prstGeom prst="rect">
            <a:avLst/>
          </a:prstGeom>
        </p:spPr>
      </p:pic>
      <p:sp>
        <p:nvSpPr>
          <p:cNvPr id="13" name="Text 8"/>
          <p:cNvSpPr/>
          <p:nvPr/>
        </p:nvSpPr>
        <p:spPr>
          <a:xfrm>
            <a:off x="5157216" y="1188720"/>
            <a:ext cx="3429000" cy="274320"/>
          </a:xfrm>
          <a:prstGeom prst="rect">
            <a:avLst/>
          </a:prstGeom>
          <a:noFill/>
          <a:ln/>
        </p:spPr>
        <p:txBody>
          <a:bodyPr wrap="square" rtlCol="0" anchor="ctr"/>
          <a:lstStyle/>
          <a:p>
            <a:pPr indent="0" marL="0">
              <a:buNone/>
            </a:pPr>
            <a:r>
              <a:rPr lang="en-US" sz="1100" b="1" dirty="0">
                <a:solidFill>
                  <a:srgbClr val="FC9C9C"/>
                </a:solidFill>
                <a:latin typeface="Calibri" pitchFamily="34" charset="0"/>
                <a:ea typeface="Calibri" pitchFamily="34" charset="-122"/>
                <a:cs typeface="Calibri" pitchFamily="34" charset="-120"/>
              </a:rPr>
              <a:t>No allowed values in system prompt</a:t>
            </a:r>
            <a:endParaRPr lang="en-US" sz="1100" dirty="0"/>
          </a:p>
        </p:txBody>
      </p:sp>
      <p:pic>
        <p:nvPicPr>
          <p:cNvPr id="14" name="Image 3" descr="preencoded.png">    </p:cNvPr>
          <p:cNvPicPr>
            <a:picLocks noChangeAspect="1"/>
          </p:cNvPicPr>
          <p:nvPr/>
        </p:nvPicPr>
        <p:blipFill>
          <a:blip r:embed="rId4"/>
          <a:stretch>
            <a:fillRect/>
          </a:stretch>
        </p:blipFill>
        <p:spPr>
          <a:xfrm>
            <a:off x="4773168" y="1572768"/>
            <a:ext cx="256032" cy="256032"/>
          </a:xfrm>
          <a:prstGeom prst="rect">
            <a:avLst/>
          </a:prstGeom>
        </p:spPr>
      </p:pic>
      <p:sp>
        <p:nvSpPr>
          <p:cNvPr id="15" name="Text 9"/>
          <p:cNvSpPr/>
          <p:nvPr/>
        </p:nvSpPr>
        <p:spPr>
          <a:xfrm>
            <a:off x="5120640" y="1572768"/>
            <a:ext cx="3474720" cy="256032"/>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Enumerate every category explicitly</a:t>
            </a:r>
            <a:endParaRPr lang="en-US" sz="1050" dirty="0"/>
          </a:p>
        </p:txBody>
      </p:sp>
      <p:sp>
        <p:nvSpPr>
          <p:cNvPr id="16" name="Shape 10"/>
          <p:cNvSpPr/>
          <p:nvPr/>
        </p:nvSpPr>
        <p:spPr>
          <a:xfrm>
            <a:off x="411480" y="2048256"/>
            <a:ext cx="4023360" cy="804672"/>
          </a:xfrm>
          <a:prstGeom prst="roundRect">
            <a:avLst>
              <a:gd name="adj" fmla="val 1022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pic>
        <p:nvPicPr>
          <p:cNvPr id="17" name="Image 4" descr="preencoded.png">    </p:cNvPr>
          <p:cNvPicPr>
            <a:picLocks noChangeAspect="1"/>
          </p:cNvPicPr>
          <p:nvPr/>
        </p:nvPicPr>
        <p:blipFill>
          <a:blip r:embed="rId5"/>
          <a:stretch>
            <a:fillRect/>
          </a:stretch>
        </p:blipFill>
        <p:spPr>
          <a:xfrm>
            <a:off x="521208" y="2157984"/>
            <a:ext cx="292608" cy="292608"/>
          </a:xfrm>
          <a:prstGeom prst="rect">
            <a:avLst/>
          </a:prstGeom>
        </p:spPr>
      </p:pic>
      <p:sp>
        <p:nvSpPr>
          <p:cNvPr id="18" name="Text 11"/>
          <p:cNvSpPr/>
          <p:nvPr/>
        </p:nvSpPr>
        <p:spPr>
          <a:xfrm>
            <a:off x="905256" y="2121408"/>
            <a:ext cx="3429000" cy="274320"/>
          </a:xfrm>
          <a:prstGeom prst="rect">
            <a:avLst/>
          </a:prstGeom>
          <a:noFill/>
          <a:ln/>
        </p:spPr>
        <p:txBody>
          <a:bodyPr wrap="square" rtlCol="0" anchor="ctr"/>
          <a:lstStyle/>
          <a:p>
            <a:pPr indent="0" marL="0">
              <a:buNone/>
            </a:pPr>
            <a:r>
              <a:rPr lang="en-US" sz="1100" b="1" dirty="0">
                <a:solidFill>
                  <a:srgbClr val="FC9C9C"/>
                </a:solidFill>
                <a:latin typeface="Calibri" pitchFamily="34" charset="0"/>
                <a:ea typeface="Calibri" pitchFamily="34" charset="-122"/>
                <a:cs typeface="Calibri" pitchFamily="34" charset="-120"/>
              </a:rPr>
              <a:t>Skipping markdown fence stripping</a:t>
            </a:r>
            <a:endParaRPr lang="en-US" sz="1100" dirty="0"/>
          </a:p>
        </p:txBody>
      </p:sp>
      <p:pic>
        <p:nvPicPr>
          <p:cNvPr id="19" name="Image 5" descr="preencoded.png">    </p:cNvPr>
          <p:cNvPicPr>
            <a:picLocks noChangeAspect="1"/>
          </p:cNvPicPr>
          <p:nvPr/>
        </p:nvPicPr>
        <p:blipFill>
          <a:blip r:embed="rId6"/>
          <a:stretch>
            <a:fillRect/>
          </a:stretch>
        </p:blipFill>
        <p:spPr>
          <a:xfrm>
            <a:off x="521208" y="2505456"/>
            <a:ext cx="256032" cy="256032"/>
          </a:xfrm>
          <a:prstGeom prst="rect">
            <a:avLst/>
          </a:prstGeom>
        </p:spPr>
      </p:pic>
      <p:sp>
        <p:nvSpPr>
          <p:cNvPr id="20" name="Text 12"/>
          <p:cNvSpPr/>
          <p:nvPr/>
        </p:nvSpPr>
        <p:spPr>
          <a:xfrm>
            <a:off x="868680" y="2505456"/>
            <a:ext cx="3474720" cy="256032"/>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Always strip before json.loads()</a:t>
            </a:r>
            <a:endParaRPr lang="en-US" sz="1050" dirty="0"/>
          </a:p>
        </p:txBody>
      </p:sp>
      <p:sp>
        <p:nvSpPr>
          <p:cNvPr id="21" name="Shape 13"/>
          <p:cNvSpPr/>
          <p:nvPr/>
        </p:nvSpPr>
        <p:spPr>
          <a:xfrm>
            <a:off x="4663440" y="2048256"/>
            <a:ext cx="4023360" cy="804672"/>
          </a:xfrm>
          <a:prstGeom prst="roundRect">
            <a:avLst>
              <a:gd name="adj" fmla="val 1022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pic>
        <p:nvPicPr>
          <p:cNvPr id="22" name="Image 6" descr="preencoded.png">    </p:cNvPr>
          <p:cNvPicPr>
            <a:picLocks noChangeAspect="1"/>
          </p:cNvPicPr>
          <p:nvPr/>
        </p:nvPicPr>
        <p:blipFill>
          <a:blip r:embed="rId7"/>
          <a:stretch>
            <a:fillRect/>
          </a:stretch>
        </p:blipFill>
        <p:spPr>
          <a:xfrm>
            <a:off x="4773168" y="2157984"/>
            <a:ext cx="292608" cy="292608"/>
          </a:xfrm>
          <a:prstGeom prst="rect">
            <a:avLst/>
          </a:prstGeom>
        </p:spPr>
      </p:pic>
      <p:sp>
        <p:nvSpPr>
          <p:cNvPr id="23" name="Text 14"/>
          <p:cNvSpPr/>
          <p:nvPr/>
        </p:nvSpPr>
        <p:spPr>
          <a:xfrm>
            <a:off x="5157216" y="2121408"/>
            <a:ext cx="3429000" cy="274320"/>
          </a:xfrm>
          <a:prstGeom prst="rect">
            <a:avLst/>
          </a:prstGeom>
          <a:noFill/>
          <a:ln/>
        </p:spPr>
        <p:txBody>
          <a:bodyPr wrap="square" rtlCol="0" anchor="ctr"/>
          <a:lstStyle/>
          <a:p>
            <a:pPr indent="0" marL="0">
              <a:buNone/>
            </a:pPr>
            <a:r>
              <a:rPr lang="en-US" sz="1100" b="1" dirty="0">
                <a:solidFill>
                  <a:srgbClr val="FC9C9C"/>
                </a:solidFill>
                <a:latin typeface="Calibri" pitchFamily="34" charset="0"/>
                <a:ea typeface="Calibri" pitchFamily="34" charset="-122"/>
                <a:cs typeface="Calibri" pitchFamily="34" charset="-120"/>
              </a:rPr>
              <a:t>No local PII redaction fallback</a:t>
            </a:r>
            <a:endParaRPr lang="en-US" sz="1100" dirty="0"/>
          </a:p>
        </p:txBody>
      </p:sp>
      <p:pic>
        <p:nvPicPr>
          <p:cNvPr id="24" name="Image 7" descr="preencoded.png">    </p:cNvPr>
          <p:cNvPicPr>
            <a:picLocks noChangeAspect="1"/>
          </p:cNvPicPr>
          <p:nvPr/>
        </p:nvPicPr>
        <p:blipFill>
          <a:blip r:embed="rId8"/>
          <a:stretch>
            <a:fillRect/>
          </a:stretch>
        </p:blipFill>
        <p:spPr>
          <a:xfrm>
            <a:off x="4773168" y="2505456"/>
            <a:ext cx="256032" cy="256032"/>
          </a:xfrm>
          <a:prstGeom prst="rect">
            <a:avLst/>
          </a:prstGeom>
        </p:spPr>
      </p:pic>
      <p:sp>
        <p:nvSpPr>
          <p:cNvPr id="25" name="Text 15"/>
          <p:cNvSpPr/>
          <p:nvPr/>
        </p:nvSpPr>
        <p:spPr>
          <a:xfrm>
            <a:off x="5120640" y="2505456"/>
            <a:ext cx="3474720" cy="256032"/>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Regex safety net after model output</a:t>
            </a:r>
            <a:endParaRPr lang="en-US" sz="1050" dirty="0"/>
          </a:p>
        </p:txBody>
      </p:sp>
      <p:sp>
        <p:nvSpPr>
          <p:cNvPr id="26" name="Shape 16"/>
          <p:cNvSpPr/>
          <p:nvPr/>
        </p:nvSpPr>
        <p:spPr>
          <a:xfrm>
            <a:off x="411480" y="2980944"/>
            <a:ext cx="4023360" cy="804672"/>
          </a:xfrm>
          <a:prstGeom prst="roundRect">
            <a:avLst>
              <a:gd name="adj" fmla="val 1022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pic>
        <p:nvPicPr>
          <p:cNvPr id="27" name="Image 8" descr="preencoded.png">    </p:cNvPr>
          <p:cNvPicPr>
            <a:picLocks noChangeAspect="1"/>
          </p:cNvPicPr>
          <p:nvPr/>
        </p:nvPicPr>
        <p:blipFill>
          <a:blip r:embed="rId9"/>
          <a:stretch>
            <a:fillRect/>
          </a:stretch>
        </p:blipFill>
        <p:spPr>
          <a:xfrm>
            <a:off x="521208" y="3090672"/>
            <a:ext cx="292608" cy="292608"/>
          </a:xfrm>
          <a:prstGeom prst="rect">
            <a:avLst/>
          </a:prstGeom>
        </p:spPr>
      </p:pic>
      <p:sp>
        <p:nvSpPr>
          <p:cNvPr id="28" name="Text 17"/>
          <p:cNvSpPr/>
          <p:nvPr/>
        </p:nvSpPr>
        <p:spPr>
          <a:xfrm>
            <a:off x="905256" y="3054096"/>
            <a:ext cx="3429000" cy="274320"/>
          </a:xfrm>
          <a:prstGeom prst="rect">
            <a:avLst/>
          </a:prstGeom>
          <a:noFill/>
          <a:ln/>
        </p:spPr>
        <p:txBody>
          <a:bodyPr wrap="square" rtlCol="0" anchor="ctr"/>
          <a:lstStyle/>
          <a:p>
            <a:pPr indent="0" marL="0">
              <a:buNone/>
            </a:pPr>
            <a:r>
              <a:rPr lang="en-US" sz="1100" b="1" dirty="0">
                <a:solidFill>
                  <a:srgbClr val="FC9C9C"/>
                </a:solidFill>
                <a:latin typeface="Calibri" pitchFamily="34" charset="0"/>
                <a:ea typeface="Calibri" pitchFamily="34" charset="-122"/>
                <a:cs typeface="Calibri" pitchFamily="34" charset="-120"/>
              </a:rPr>
              <a:t>Using converse() for embeddings</a:t>
            </a:r>
            <a:endParaRPr lang="en-US" sz="1100" dirty="0"/>
          </a:p>
        </p:txBody>
      </p:sp>
      <p:pic>
        <p:nvPicPr>
          <p:cNvPr id="29" name="Image 9" descr="preencoded.png">    </p:cNvPr>
          <p:cNvPicPr>
            <a:picLocks noChangeAspect="1"/>
          </p:cNvPicPr>
          <p:nvPr/>
        </p:nvPicPr>
        <p:blipFill>
          <a:blip r:embed="rId10"/>
          <a:stretch>
            <a:fillRect/>
          </a:stretch>
        </p:blipFill>
        <p:spPr>
          <a:xfrm>
            <a:off x="521208" y="3438144"/>
            <a:ext cx="256032" cy="256032"/>
          </a:xfrm>
          <a:prstGeom prst="rect">
            <a:avLst/>
          </a:prstGeom>
        </p:spPr>
      </p:pic>
      <p:sp>
        <p:nvSpPr>
          <p:cNvPr id="30" name="Text 18"/>
          <p:cNvSpPr/>
          <p:nvPr/>
        </p:nvSpPr>
        <p:spPr>
          <a:xfrm>
            <a:off x="868680" y="3438144"/>
            <a:ext cx="3474720" cy="256032"/>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Use invoke_model() for Titan Embed</a:t>
            </a:r>
            <a:endParaRPr lang="en-US" sz="1050" dirty="0"/>
          </a:p>
        </p:txBody>
      </p:sp>
      <p:sp>
        <p:nvSpPr>
          <p:cNvPr id="31" name="Shape 19"/>
          <p:cNvSpPr/>
          <p:nvPr/>
        </p:nvSpPr>
        <p:spPr>
          <a:xfrm>
            <a:off x="4663440" y="2980944"/>
            <a:ext cx="4023360" cy="804672"/>
          </a:xfrm>
          <a:prstGeom prst="roundRect">
            <a:avLst>
              <a:gd name="adj" fmla="val 1022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pic>
        <p:nvPicPr>
          <p:cNvPr id="32" name="Image 10" descr="preencoded.png">    </p:cNvPr>
          <p:cNvPicPr>
            <a:picLocks noChangeAspect="1"/>
          </p:cNvPicPr>
          <p:nvPr/>
        </p:nvPicPr>
        <p:blipFill>
          <a:blip r:embed="rId11"/>
          <a:stretch>
            <a:fillRect/>
          </a:stretch>
        </p:blipFill>
        <p:spPr>
          <a:xfrm>
            <a:off x="4773168" y="3090672"/>
            <a:ext cx="292608" cy="292608"/>
          </a:xfrm>
          <a:prstGeom prst="rect">
            <a:avLst/>
          </a:prstGeom>
        </p:spPr>
      </p:pic>
      <p:sp>
        <p:nvSpPr>
          <p:cNvPr id="33" name="Text 20"/>
          <p:cNvSpPr/>
          <p:nvPr/>
        </p:nvSpPr>
        <p:spPr>
          <a:xfrm>
            <a:off x="5157216" y="3054096"/>
            <a:ext cx="3429000" cy="274320"/>
          </a:xfrm>
          <a:prstGeom prst="rect">
            <a:avLst/>
          </a:prstGeom>
          <a:noFill/>
          <a:ln/>
        </p:spPr>
        <p:txBody>
          <a:bodyPr wrap="square" rtlCol="0" anchor="ctr"/>
          <a:lstStyle/>
          <a:p>
            <a:pPr indent="0" marL="0">
              <a:buNone/>
            </a:pPr>
            <a:r>
              <a:rPr lang="en-US" sz="1100" b="1" dirty="0">
                <a:solidFill>
                  <a:srgbClr val="FC9C9C"/>
                </a:solidFill>
                <a:latin typeface="Calibri" pitchFamily="34" charset="0"/>
                <a:ea typeface="Calibri" pitchFamily="34" charset="-122"/>
                <a:cs typeface="Calibri" pitchFamily="34" charset="-120"/>
              </a:rPr>
              <a:t>Embedding raw message, not summary</a:t>
            </a:r>
            <a:endParaRPr lang="en-US" sz="1100" dirty="0"/>
          </a:p>
        </p:txBody>
      </p:sp>
      <p:pic>
        <p:nvPicPr>
          <p:cNvPr id="34" name="Image 11" descr="preencoded.png">    </p:cNvPr>
          <p:cNvPicPr>
            <a:picLocks noChangeAspect="1"/>
          </p:cNvPicPr>
          <p:nvPr/>
        </p:nvPicPr>
        <p:blipFill>
          <a:blip r:embed="rId12"/>
          <a:stretch>
            <a:fillRect/>
          </a:stretch>
        </p:blipFill>
        <p:spPr>
          <a:xfrm>
            <a:off x="4773168" y="3438144"/>
            <a:ext cx="256032" cy="256032"/>
          </a:xfrm>
          <a:prstGeom prst="rect">
            <a:avLst/>
          </a:prstGeom>
        </p:spPr>
      </p:pic>
      <p:sp>
        <p:nvSpPr>
          <p:cNvPr id="35" name="Text 21"/>
          <p:cNvSpPr/>
          <p:nvPr/>
        </p:nvSpPr>
        <p:spPr>
          <a:xfrm>
            <a:off x="5120640" y="3438144"/>
            <a:ext cx="3474720" cy="256032"/>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Embed enriched summary always</a:t>
            </a:r>
            <a:endParaRPr lang="en-US" sz="1050" dirty="0"/>
          </a:p>
        </p:txBody>
      </p:sp>
      <p:sp>
        <p:nvSpPr>
          <p:cNvPr id="36" name="Shape 22"/>
          <p:cNvSpPr/>
          <p:nvPr/>
        </p:nvSpPr>
        <p:spPr>
          <a:xfrm>
            <a:off x="411480" y="3913632"/>
            <a:ext cx="4023360" cy="804672"/>
          </a:xfrm>
          <a:prstGeom prst="roundRect">
            <a:avLst>
              <a:gd name="adj" fmla="val 1022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pic>
        <p:nvPicPr>
          <p:cNvPr id="37" name="Image 12" descr="preencoded.png">    </p:cNvPr>
          <p:cNvPicPr>
            <a:picLocks noChangeAspect="1"/>
          </p:cNvPicPr>
          <p:nvPr/>
        </p:nvPicPr>
        <p:blipFill>
          <a:blip r:embed="rId13"/>
          <a:stretch>
            <a:fillRect/>
          </a:stretch>
        </p:blipFill>
        <p:spPr>
          <a:xfrm>
            <a:off x="521208" y="4023360"/>
            <a:ext cx="292608" cy="292608"/>
          </a:xfrm>
          <a:prstGeom prst="rect">
            <a:avLst/>
          </a:prstGeom>
        </p:spPr>
      </p:pic>
      <p:sp>
        <p:nvSpPr>
          <p:cNvPr id="38" name="Text 23"/>
          <p:cNvSpPr/>
          <p:nvPr/>
        </p:nvSpPr>
        <p:spPr>
          <a:xfrm>
            <a:off x="905256" y="3986784"/>
            <a:ext cx="3429000" cy="274320"/>
          </a:xfrm>
          <a:prstGeom prst="rect">
            <a:avLst/>
          </a:prstGeom>
          <a:noFill/>
          <a:ln/>
        </p:spPr>
        <p:txBody>
          <a:bodyPr wrap="square" rtlCol="0" anchor="ctr"/>
          <a:lstStyle/>
          <a:p>
            <a:pPr indent="0" marL="0">
              <a:buNone/>
            </a:pPr>
            <a:r>
              <a:rPr lang="en-US" sz="1100" b="1" dirty="0">
                <a:solidFill>
                  <a:srgbClr val="FC9C9C"/>
                </a:solidFill>
                <a:latin typeface="Calibri" pitchFamily="34" charset="0"/>
                <a:ea typeface="Calibri" pitchFamily="34" charset="-122"/>
                <a:cs typeface="Calibri" pitchFamily="34" charset="-120"/>
              </a:rPr>
              <a:t>No chunk overlap in fixed chunking</a:t>
            </a:r>
            <a:endParaRPr lang="en-US" sz="1100" dirty="0"/>
          </a:p>
        </p:txBody>
      </p:sp>
      <p:pic>
        <p:nvPicPr>
          <p:cNvPr id="39" name="Image 13" descr="preencoded.png">    </p:cNvPr>
          <p:cNvPicPr>
            <a:picLocks noChangeAspect="1"/>
          </p:cNvPicPr>
          <p:nvPr/>
        </p:nvPicPr>
        <p:blipFill>
          <a:blip r:embed="rId14"/>
          <a:stretch>
            <a:fillRect/>
          </a:stretch>
        </p:blipFill>
        <p:spPr>
          <a:xfrm>
            <a:off x="521208" y="4370832"/>
            <a:ext cx="256032" cy="256032"/>
          </a:xfrm>
          <a:prstGeom prst="rect">
            <a:avLst/>
          </a:prstGeom>
        </p:spPr>
      </p:pic>
      <p:sp>
        <p:nvSpPr>
          <p:cNvPr id="40" name="Text 24"/>
          <p:cNvSpPr/>
          <p:nvPr/>
        </p:nvSpPr>
        <p:spPr>
          <a:xfrm>
            <a:off x="868680" y="4370832"/>
            <a:ext cx="3474720" cy="256032"/>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Add 10-20% overlap between chunks</a:t>
            </a:r>
            <a:endParaRPr lang="en-US" sz="1050" dirty="0"/>
          </a:p>
        </p:txBody>
      </p:sp>
      <p:sp>
        <p:nvSpPr>
          <p:cNvPr id="41" name="Shape 25"/>
          <p:cNvSpPr/>
          <p:nvPr/>
        </p:nvSpPr>
        <p:spPr>
          <a:xfrm>
            <a:off x="4663440" y="3913632"/>
            <a:ext cx="4023360" cy="804672"/>
          </a:xfrm>
          <a:prstGeom prst="roundRect">
            <a:avLst>
              <a:gd name="adj" fmla="val 1022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pic>
        <p:nvPicPr>
          <p:cNvPr id="42" name="Image 14" descr="preencoded.png">    </p:cNvPr>
          <p:cNvPicPr>
            <a:picLocks noChangeAspect="1"/>
          </p:cNvPicPr>
          <p:nvPr/>
        </p:nvPicPr>
        <p:blipFill>
          <a:blip r:embed="rId15"/>
          <a:stretch>
            <a:fillRect/>
          </a:stretch>
        </p:blipFill>
        <p:spPr>
          <a:xfrm>
            <a:off x="4773168" y="4023360"/>
            <a:ext cx="292608" cy="292608"/>
          </a:xfrm>
          <a:prstGeom prst="rect">
            <a:avLst/>
          </a:prstGeom>
        </p:spPr>
      </p:pic>
      <p:sp>
        <p:nvSpPr>
          <p:cNvPr id="43" name="Text 26"/>
          <p:cNvSpPr/>
          <p:nvPr/>
        </p:nvSpPr>
        <p:spPr>
          <a:xfrm>
            <a:off x="5157216" y="3986784"/>
            <a:ext cx="3429000" cy="274320"/>
          </a:xfrm>
          <a:prstGeom prst="rect">
            <a:avLst/>
          </a:prstGeom>
          <a:noFill/>
          <a:ln/>
        </p:spPr>
        <p:txBody>
          <a:bodyPr wrap="square" rtlCol="0" anchor="ctr"/>
          <a:lstStyle/>
          <a:p>
            <a:pPr indent="0" marL="0">
              <a:buNone/>
            </a:pPr>
            <a:r>
              <a:rPr lang="en-US" sz="1100" b="1" dirty="0">
                <a:solidFill>
                  <a:srgbClr val="FC9C9C"/>
                </a:solidFill>
                <a:latin typeface="Calibri" pitchFamily="34" charset="0"/>
                <a:ea typeface="Calibri" pitchFamily="34" charset="-122"/>
                <a:cs typeface="Calibri" pitchFamily="34" charset="-120"/>
              </a:rPr>
              <a:t>Semantic chunking on short tickets</a:t>
            </a:r>
            <a:endParaRPr lang="en-US" sz="1100" dirty="0"/>
          </a:p>
        </p:txBody>
      </p:sp>
      <p:pic>
        <p:nvPicPr>
          <p:cNvPr id="44" name="Image 15" descr="preencoded.png">    </p:cNvPr>
          <p:cNvPicPr>
            <a:picLocks noChangeAspect="1"/>
          </p:cNvPicPr>
          <p:nvPr/>
        </p:nvPicPr>
        <p:blipFill>
          <a:blip r:embed="rId16"/>
          <a:stretch>
            <a:fillRect/>
          </a:stretch>
        </p:blipFill>
        <p:spPr>
          <a:xfrm>
            <a:off x="4773168" y="4370832"/>
            <a:ext cx="256032" cy="256032"/>
          </a:xfrm>
          <a:prstGeom prst="rect">
            <a:avLst/>
          </a:prstGeom>
        </p:spPr>
      </p:pic>
      <p:sp>
        <p:nvSpPr>
          <p:cNvPr id="45" name="Text 27"/>
          <p:cNvSpPr/>
          <p:nvPr/>
        </p:nvSpPr>
        <p:spPr>
          <a:xfrm>
            <a:off x="5120640" y="4370832"/>
            <a:ext cx="3474720" cy="256032"/>
          </a:xfrm>
          <a:prstGeom prst="rect">
            <a:avLst/>
          </a:prstGeom>
          <a:noFill/>
          <a:ln/>
        </p:spPr>
        <p:txBody>
          <a:bodyPr wrap="square" rtlCol="0" anchor="ctr"/>
          <a:lstStyle/>
          <a:p>
            <a:pPr indent="0" marL="0">
              <a:buNone/>
            </a:pPr>
            <a:r>
              <a:rPr lang="en-US" sz="1050" dirty="0">
                <a:solidFill>
                  <a:srgbClr val="10B981"/>
                </a:solidFill>
                <a:latin typeface="Calibri" pitchFamily="34" charset="0"/>
                <a:ea typeface="Calibri" pitchFamily="34" charset="-122"/>
                <a:cs typeface="Calibri" pitchFamily="34" charset="-120"/>
              </a:rPr>
              <a:t>Only use for long docs (&gt;1000 tokens)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11480" y="201168"/>
            <a:ext cx="8321040" cy="5943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Quick Reference — Everything on One Slide</a:t>
            </a:r>
            <a:endParaRPr lang="en-US" sz="2600" dirty="0"/>
          </a:p>
        </p:txBody>
      </p:sp>
      <p:sp>
        <p:nvSpPr>
          <p:cNvPr id="3" name="Shape 1"/>
          <p:cNvSpPr/>
          <p:nvPr/>
        </p:nvSpPr>
        <p:spPr>
          <a:xfrm>
            <a:off x="411480" y="804672"/>
            <a:ext cx="8321040" cy="0"/>
          </a:xfrm>
          <a:prstGeom prst="line">
            <a:avLst/>
          </a:prstGeom>
          <a:noFill/>
          <a:ln w="15240">
            <a:solidFill>
              <a:srgbClr val="0891B2"/>
            </a:solidFill>
            <a:prstDash val="solid"/>
          </a:ln>
        </p:spPr>
      </p:sp>
      <p:sp>
        <p:nvSpPr>
          <p:cNvPr id="4" name="Shape 2"/>
          <p:cNvSpPr/>
          <p:nvPr/>
        </p:nvSpPr>
        <p:spPr>
          <a:xfrm>
            <a:off x="411480" y="896112"/>
            <a:ext cx="4160520" cy="1828800"/>
          </a:xfrm>
          <a:prstGeom prst="roundRect">
            <a:avLst>
              <a:gd name="adj" fmla="val 4500"/>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5" name="Text 3"/>
          <p:cNvSpPr/>
          <p:nvPr/>
        </p:nvSpPr>
        <p:spPr>
          <a:xfrm>
            <a:off x="548640" y="960120"/>
            <a:ext cx="3840480" cy="256032"/>
          </a:xfrm>
          <a:prstGeom prst="rect">
            <a:avLst/>
          </a:prstGeom>
          <a:noFill/>
          <a:ln/>
        </p:spPr>
        <p:txBody>
          <a:bodyPr wrap="square"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ENRICHMENT (Converse API)</a:t>
            </a:r>
            <a:endParaRPr lang="en-US" sz="1100" dirty="0"/>
          </a:p>
        </p:txBody>
      </p:sp>
      <p:sp>
        <p:nvSpPr>
          <p:cNvPr id="6" name="Shape 4"/>
          <p:cNvSpPr/>
          <p:nvPr/>
        </p:nvSpPr>
        <p:spPr>
          <a:xfrm>
            <a:off x="502920" y="1234440"/>
            <a:ext cx="3977640" cy="1325880"/>
          </a:xfrm>
          <a:prstGeom prst="roundRect">
            <a:avLst>
              <a:gd name="adj" fmla="val 5517"/>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7" name="Text 5"/>
          <p:cNvSpPr/>
          <p:nvPr/>
        </p:nvSpPr>
        <p:spPr>
          <a:xfrm>
            <a:off x="612648" y="1325880"/>
            <a:ext cx="3758184" cy="114300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bedrock_client.converse(</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modelId=MODEL_ID,</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system=[{"text": SYSTEM_PROMPT}],</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messages=[{"role":"user",</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"content":[{"text":prompt}]}],</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inferenceConfig={"temperature":0.1,</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"maxTokens":500}</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a:t>
            </a:r>
            <a:endParaRPr lang="en-US" sz="1050" dirty="0"/>
          </a:p>
        </p:txBody>
      </p:sp>
      <p:sp>
        <p:nvSpPr>
          <p:cNvPr id="8" name="Shape 6"/>
          <p:cNvSpPr/>
          <p:nvPr/>
        </p:nvSpPr>
        <p:spPr>
          <a:xfrm>
            <a:off x="411480" y="2834640"/>
            <a:ext cx="4160520" cy="1737360"/>
          </a:xfrm>
          <a:prstGeom prst="roundRect">
            <a:avLst>
              <a:gd name="adj" fmla="val 4737"/>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548640" y="2898648"/>
            <a:ext cx="3840480" cy="256032"/>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EMBEDDINGS (InvokeModel API)</a:t>
            </a:r>
            <a:endParaRPr lang="en-US" sz="1100" dirty="0"/>
          </a:p>
        </p:txBody>
      </p:sp>
      <p:sp>
        <p:nvSpPr>
          <p:cNvPr id="10" name="Shape 8"/>
          <p:cNvSpPr/>
          <p:nvPr/>
        </p:nvSpPr>
        <p:spPr>
          <a:xfrm>
            <a:off x="502920" y="3182112"/>
            <a:ext cx="3977640" cy="1234440"/>
          </a:xfrm>
          <a:prstGeom prst="roundRect">
            <a:avLst>
              <a:gd name="adj" fmla="val 5926"/>
            </a:avLst>
          </a:prstGeom>
          <a:solidFill>
            <a:srgbClr val="0F172A"/>
          </a:solidFill>
          <a:ln w="12700">
            <a:solidFill>
              <a:srgbClr val="0F172A"/>
            </a:solidFill>
            <a:prstDash val="solid"/>
          </a:ln>
          <a:effectLst>
            <a:outerShdw sx="100000" sy="100000" kx="0" ky="0" algn="bl" rotWithShape="0" blurRad="101600" dist="38100" dir="2700000">
              <a:srgbClr val="000000">
                <a:alpha val="18000"/>
              </a:srgbClr>
            </a:outerShdw>
          </a:effectLst>
        </p:spPr>
      </p:sp>
      <p:sp>
        <p:nvSpPr>
          <p:cNvPr id="11" name="Text 9"/>
          <p:cNvSpPr/>
          <p:nvPr/>
        </p:nvSpPr>
        <p:spPr>
          <a:xfrm>
            <a:off x="612648" y="3273552"/>
            <a:ext cx="3758184" cy="1051560"/>
          </a:xfrm>
          <a:prstGeom prst="rect">
            <a:avLst/>
          </a:prstGeom>
          <a:noFill/>
          <a:ln/>
        </p:spPr>
        <p:txBody>
          <a:bodyPr wrap="square" rtlCol="0" anchor="t"/>
          <a:lstStyle/>
          <a:p>
            <a:pPr indent="0" marL="0">
              <a:buNone/>
            </a:pPr>
            <a:r>
              <a:rPr lang="en-US" sz="1050" dirty="0">
                <a:solidFill>
                  <a:srgbClr val="7DD3FC"/>
                </a:solidFill>
                <a:latin typeface="Courier New" pitchFamily="34" charset="0"/>
                <a:ea typeface="Courier New" pitchFamily="34" charset="-122"/>
                <a:cs typeface="Courier New" pitchFamily="34" charset="-120"/>
              </a:rPr>
              <a:t>bedrock_client.invoke_model(</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modelId=</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"amazon.titan-embed-text-v2:0",</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body=json.dumps({</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"inputText": text,</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"dimensions": 1536,</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    "normalize": True})</a:t>
            </a:r>
            <a:endParaRPr lang="en-US" sz="1050" dirty="0"/>
          </a:p>
          <a:p>
            <a:pPr indent="0" marL="0">
              <a:buNone/>
            </a:pPr>
            <a:r>
              <a:rPr lang="en-US" sz="1050" dirty="0">
                <a:solidFill>
                  <a:srgbClr val="7DD3FC"/>
                </a:solidFill>
                <a:latin typeface="Courier New" pitchFamily="34" charset="0"/>
                <a:ea typeface="Courier New" pitchFamily="34" charset="-122"/>
                <a:cs typeface="Courier New" pitchFamily="34" charset="-120"/>
              </a:rPr>
              <a:t>)</a:t>
            </a:r>
            <a:endParaRPr lang="en-US" sz="1050" dirty="0"/>
          </a:p>
        </p:txBody>
      </p:sp>
      <p:sp>
        <p:nvSpPr>
          <p:cNvPr id="12" name="Shape 10"/>
          <p:cNvSpPr/>
          <p:nvPr/>
        </p:nvSpPr>
        <p:spPr>
          <a:xfrm>
            <a:off x="4754880" y="896112"/>
            <a:ext cx="4023360" cy="3675888"/>
          </a:xfrm>
          <a:prstGeom prst="roundRect">
            <a:avLst>
              <a:gd name="adj" fmla="val 2239"/>
            </a:avLst>
          </a:prstGeom>
          <a:solidFill>
            <a:srgbClr val="1E293B"/>
          </a:solidFill>
          <a:ln w="12700">
            <a:solidFill>
              <a:srgbClr val="1E293B"/>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4892040" y="960120"/>
            <a:ext cx="374904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DECISION FRAMEWORK</a:t>
            </a:r>
            <a:endParaRPr lang="en-US" sz="1100" dirty="0"/>
          </a:p>
        </p:txBody>
      </p:sp>
      <p:sp>
        <p:nvSpPr>
          <p:cNvPr id="14" name="Text 12"/>
          <p:cNvSpPr/>
          <p:nvPr/>
        </p:nvSpPr>
        <p:spPr>
          <a:xfrm>
            <a:off x="4892040" y="1298448"/>
            <a:ext cx="3749040" cy="18288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 Text classification?</a:t>
            </a:r>
            <a:endParaRPr lang="en-US" sz="1000" dirty="0"/>
          </a:p>
        </p:txBody>
      </p:sp>
      <p:sp>
        <p:nvSpPr>
          <p:cNvPr id="15" name="Text 13"/>
          <p:cNvSpPr/>
          <p:nvPr/>
        </p:nvSpPr>
        <p:spPr>
          <a:xfrm>
            <a:off x="4892040" y="1481328"/>
            <a:ext cx="3749040" cy="18288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 converse() — temp 0.1</a:t>
            </a:r>
            <a:endParaRPr lang="en-US" sz="1000" dirty="0"/>
          </a:p>
        </p:txBody>
      </p:sp>
      <p:sp>
        <p:nvSpPr>
          <p:cNvPr id="16" name="Text 14"/>
          <p:cNvSpPr/>
          <p:nvPr/>
        </p:nvSpPr>
        <p:spPr>
          <a:xfrm>
            <a:off x="4892040" y="1691640"/>
            <a:ext cx="3749040" cy="18288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 Convert text to vector?</a:t>
            </a:r>
            <a:endParaRPr lang="en-US" sz="1000" dirty="0"/>
          </a:p>
        </p:txBody>
      </p:sp>
      <p:sp>
        <p:nvSpPr>
          <p:cNvPr id="17" name="Text 15"/>
          <p:cNvSpPr/>
          <p:nvPr/>
        </p:nvSpPr>
        <p:spPr>
          <a:xfrm>
            <a:off x="4892040" y="1874520"/>
            <a:ext cx="3749040" cy="18288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 invoke_model() — Titan Embed</a:t>
            </a:r>
            <a:endParaRPr lang="en-US" sz="1000" dirty="0"/>
          </a:p>
        </p:txBody>
      </p:sp>
      <p:sp>
        <p:nvSpPr>
          <p:cNvPr id="18" name="Text 16"/>
          <p:cNvSpPr/>
          <p:nvPr/>
        </p:nvSpPr>
        <p:spPr>
          <a:xfrm>
            <a:off x="4892040" y="2084832"/>
            <a:ext cx="3749040" cy="18288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 What to embed?</a:t>
            </a:r>
            <a:endParaRPr lang="en-US" sz="1000" dirty="0"/>
          </a:p>
        </p:txBody>
      </p:sp>
      <p:sp>
        <p:nvSpPr>
          <p:cNvPr id="19" name="Text 17"/>
          <p:cNvSpPr/>
          <p:nvPr/>
        </p:nvSpPr>
        <p:spPr>
          <a:xfrm>
            <a:off x="4892040" y="2267712"/>
            <a:ext cx="3749040" cy="18288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 Enriched summary, not raw</a:t>
            </a:r>
            <a:endParaRPr lang="en-US" sz="1000" dirty="0"/>
          </a:p>
        </p:txBody>
      </p:sp>
      <p:sp>
        <p:nvSpPr>
          <p:cNvPr id="20" name="Text 18"/>
          <p:cNvSpPr/>
          <p:nvPr/>
        </p:nvSpPr>
        <p:spPr>
          <a:xfrm>
            <a:off x="4892040" y="2478024"/>
            <a:ext cx="3749040" cy="18288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 Chunking — short ticket?</a:t>
            </a:r>
            <a:endParaRPr lang="en-US" sz="1000" dirty="0"/>
          </a:p>
        </p:txBody>
      </p:sp>
      <p:sp>
        <p:nvSpPr>
          <p:cNvPr id="21" name="Text 19"/>
          <p:cNvSpPr/>
          <p:nvPr/>
        </p:nvSpPr>
        <p:spPr>
          <a:xfrm>
            <a:off x="4892040" y="2660904"/>
            <a:ext cx="3749040" cy="18288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 No chunking needed</a:t>
            </a:r>
            <a:endParaRPr lang="en-US" sz="1000" dirty="0"/>
          </a:p>
        </p:txBody>
      </p:sp>
      <p:sp>
        <p:nvSpPr>
          <p:cNvPr id="22" name="Text 20"/>
          <p:cNvSpPr/>
          <p:nvPr/>
        </p:nvSpPr>
        <p:spPr>
          <a:xfrm>
            <a:off x="4892040" y="2871216"/>
            <a:ext cx="3749040" cy="18288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 Chunking — long document?</a:t>
            </a:r>
            <a:endParaRPr lang="en-US" sz="1000" dirty="0"/>
          </a:p>
        </p:txBody>
      </p:sp>
      <p:sp>
        <p:nvSpPr>
          <p:cNvPr id="23" name="Text 21"/>
          <p:cNvSpPr/>
          <p:nvPr/>
        </p:nvSpPr>
        <p:spPr>
          <a:xfrm>
            <a:off x="4892040" y="3054096"/>
            <a:ext cx="3749040" cy="18288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 Recursive or semantic</a:t>
            </a:r>
            <a:endParaRPr lang="en-US" sz="1000" dirty="0"/>
          </a:p>
        </p:txBody>
      </p:sp>
      <p:sp>
        <p:nvSpPr>
          <p:cNvPr id="24" name="Text 22"/>
          <p:cNvSpPr/>
          <p:nvPr/>
        </p:nvSpPr>
        <p:spPr>
          <a:xfrm>
            <a:off x="4892040" y="3264408"/>
            <a:ext cx="3749040" cy="18288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 Similarity metric?</a:t>
            </a:r>
            <a:endParaRPr lang="en-US" sz="1000" dirty="0"/>
          </a:p>
        </p:txBody>
      </p:sp>
      <p:sp>
        <p:nvSpPr>
          <p:cNvPr id="25" name="Text 23"/>
          <p:cNvSpPr/>
          <p:nvPr/>
        </p:nvSpPr>
        <p:spPr>
          <a:xfrm>
            <a:off x="4892040" y="3447288"/>
            <a:ext cx="3749040" cy="18288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 Cosine similarity (−1 to 1)</a:t>
            </a:r>
            <a:endParaRPr lang="en-US" sz="1000" dirty="0"/>
          </a:p>
        </p:txBody>
      </p:sp>
      <p:sp>
        <p:nvSpPr>
          <p:cNvPr id="26" name="Text 24"/>
          <p:cNvSpPr/>
          <p:nvPr/>
        </p:nvSpPr>
        <p:spPr>
          <a:xfrm>
            <a:off x="4892040" y="3657600"/>
            <a:ext cx="3749040" cy="18288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 JSON parse fails?</a:t>
            </a:r>
            <a:endParaRPr lang="en-US" sz="1000" dirty="0"/>
          </a:p>
        </p:txBody>
      </p:sp>
      <p:sp>
        <p:nvSpPr>
          <p:cNvPr id="27" name="Text 25"/>
          <p:cNvSpPr/>
          <p:nvPr/>
        </p:nvSpPr>
        <p:spPr>
          <a:xfrm>
            <a:off x="4892040" y="3840480"/>
            <a:ext cx="3749040" cy="18288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 Strip markdown fences first</a:t>
            </a:r>
            <a:endParaRPr lang="en-US" sz="1000" dirty="0"/>
          </a:p>
        </p:txBody>
      </p:sp>
      <p:sp>
        <p:nvSpPr>
          <p:cNvPr id="28" name="Text 26"/>
          <p:cNvSpPr/>
          <p:nvPr/>
        </p:nvSpPr>
        <p:spPr>
          <a:xfrm>
            <a:off x="4892040" y="4050792"/>
            <a:ext cx="3749040" cy="18288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 Inconsistent categories?</a:t>
            </a:r>
            <a:endParaRPr lang="en-US" sz="1000" dirty="0"/>
          </a:p>
        </p:txBody>
      </p:sp>
      <p:sp>
        <p:nvSpPr>
          <p:cNvPr id="29" name="Text 27"/>
          <p:cNvSpPr/>
          <p:nvPr/>
        </p:nvSpPr>
        <p:spPr>
          <a:xfrm>
            <a:off x="4892040" y="4233672"/>
            <a:ext cx="3749040" cy="18288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 Lower temperature + allowed values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0891B2">
              <a:alpha val="12000"/>
            </a:srgbClr>
          </a:solidFill>
          <a:ln w="12700">
            <a:solidFill>
              <a:srgbClr val="0891B2">
                <a:alpha val="12000"/>
              </a:srgbClr>
            </a:solidFill>
            <a:prstDash val="solid"/>
          </a:ln>
        </p:spPr>
      </p:sp>
      <p:sp>
        <p:nvSpPr>
          <p:cNvPr id="3" name="Shape 1"/>
          <p:cNvSpPr/>
          <p:nvPr/>
        </p:nvSpPr>
        <p:spPr>
          <a:xfrm>
            <a:off x="6583680" y="2286000"/>
            <a:ext cx="2743200" cy="2743200"/>
          </a:xfrm>
          <a:prstGeom prst="ellipse">
            <a:avLst/>
          </a:prstGeom>
          <a:solidFill>
            <a:srgbClr val="2563EB">
              <a:alpha val="10000"/>
            </a:srgbClr>
          </a:solidFill>
          <a:ln w="12700">
            <a:solidFill>
              <a:srgbClr val="2563EB">
                <a:alpha val="10000"/>
              </a:srgbClr>
            </a:solidFill>
            <a:prstDash val="solid"/>
          </a:ln>
        </p:spPr>
      </p:sp>
      <p:sp>
        <p:nvSpPr>
          <p:cNvPr id="4" name="Text 2"/>
          <p:cNvSpPr/>
          <p:nvPr/>
        </p:nvSpPr>
        <p:spPr>
          <a:xfrm>
            <a:off x="548640" y="731520"/>
            <a:ext cx="6400800" cy="457200"/>
          </a:xfrm>
          <a:prstGeom prst="rect">
            <a:avLst/>
          </a:prstGeom>
          <a:noFill/>
          <a:ln/>
        </p:spPr>
        <p:txBody>
          <a:bodyPr wrap="square" rtlCol="0" anchor="ctr"/>
          <a:lstStyle/>
          <a:p>
            <a:pPr indent="0" marL="0">
              <a:buNone/>
            </a:pPr>
            <a:r>
              <a:rPr lang="en-US" sz="2000" b="1" dirty="0">
                <a:solidFill>
                  <a:srgbClr val="94A3B8"/>
                </a:solidFill>
                <a:latin typeface="Calibri" pitchFamily="34" charset="0"/>
                <a:ea typeface="Calibri" pitchFamily="34" charset="-122"/>
                <a:cs typeface="Calibri" pitchFamily="34" charset="-120"/>
              </a:rPr>
              <a:t>You Now Know:</a:t>
            </a:r>
            <a:endParaRPr lang="en-US" sz="2000" dirty="0"/>
          </a:p>
        </p:txBody>
      </p:sp>
      <p:pic>
        <p:nvPicPr>
          <p:cNvPr id="5" name="Image 0" descr="preencoded.png">    </p:cNvPr>
          <p:cNvPicPr>
            <a:picLocks noChangeAspect="1"/>
          </p:cNvPicPr>
          <p:nvPr/>
        </p:nvPicPr>
        <p:blipFill>
          <a:blip r:embed="rId1"/>
          <a:stretch>
            <a:fillRect/>
          </a:stretch>
        </p:blipFill>
        <p:spPr>
          <a:xfrm>
            <a:off x="548640" y="1298448"/>
            <a:ext cx="256032" cy="256032"/>
          </a:xfrm>
          <a:prstGeom prst="rect">
            <a:avLst/>
          </a:prstGeom>
        </p:spPr>
      </p:pic>
      <p:sp>
        <p:nvSpPr>
          <p:cNvPr id="6" name="Text 3"/>
          <p:cNvSpPr/>
          <p:nvPr/>
        </p:nvSpPr>
        <p:spPr>
          <a:xfrm>
            <a:off x="896112" y="1280160"/>
            <a:ext cx="6858000" cy="29260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Why free text cannot be queried directly — and what enrichment solves</a:t>
            </a:r>
            <a:endParaRPr lang="en-US" sz="1350" dirty="0"/>
          </a:p>
        </p:txBody>
      </p:sp>
      <p:pic>
        <p:nvPicPr>
          <p:cNvPr id="7" name="Image 1" descr="preencoded.png">    </p:cNvPr>
          <p:cNvPicPr>
            <a:picLocks noChangeAspect="1"/>
          </p:cNvPicPr>
          <p:nvPr/>
        </p:nvPicPr>
        <p:blipFill>
          <a:blip r:embed="rId2"/>
          <a:stretch>
            <a:fillRect/>
          </a:stretch>
        </p:blipFill>
        <p:spPr>
          <a:xfrm>
            <a:off x="548640" y="1773936"/>
            <a:ext cx="256032" cy="256032"/>
          </a:xfrm>
          <a:prstGeom prst="rect">
            <a:avLst/>
          </a:prstGeom>
        </p:spPr>
      </p:pic>
      <p:sp>
        <p:nvSpPr>
          <p:cNvPr id="8" name="Text 4"/>
          <p:cNvSpPr/>
          <p:nvPr/>
        </p:nvSpPr>
        <p:spPr>
          <a:xfrm>
            <a:off x="896112" y="1755648"/>
            <a:ext cx="6858000" cy="29260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How to build a Bedrock system prompt layer by layer, and why each layer exists</a:t>
            </a:r>
            <a:endParaRPr lang="en-US" sz="1350" dirty="0"/>
          </a:p>
        </p:txBody>
      </p:sp>
      <p:pic>
        <p:nvPicPr>
          <p:cNvPr id="9" name="Image 2" descr="preencoded.png">    </p:cNvPr>
          <p:cNvPicPr>
            <a:picLocks noChangeAspect="1"/>
          </p:cNvPicPr>
          <p:nvPr/>
        </p:nvPicPr>
        <p:blipFill>
          <a:blip r:embed="rId3"/>
          <a:stretch>
            <a:fillRect/>
          </a:stretch>
        </p:blipFill>
        <p:spPr>
          <a:xfrm>
            <a:off x="548640" y="2249424"/>
            <a:ext cx="256032" cy="256032"/>
          </a:xfrm>
          <a:prstGeom prst="rect">
            <a:avLst/>
          </a:prstGeom>
        </p:spPr>
      </p:pic>
      <p:sp>
        <p:nvSpPr>
          <p:cNvPr id="10" name="Text 5"/>
          <p:cNvSpPr/>
          <p:nvPr/>
        </p:nvSpPr>
        <p:spPr>
          <a:xfrm>
            <a:off x="896112" y="2231136"/>
            <a:ext cx="6858000" cy="29260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difference between converse() and invoke_model() — and when to use each</a:t>
            </a:r>
            <a:endParaRPr lang="en-US" sz="1350" dirty="0"/>
          </a:p>
        </p:txBody>
      </p:sp>
      <p:pic>
        <p:nvPicPr>
          <p:cNvPr id="11" name="Image 3" descr="preencoded.png">    </p:cNvPr>
          <p:cNvPicPr>
            <a:picLocks noChangeAspect="1"/>
          </p:cNvPicPr>
          <p:nvPr/>
        </p:nvPicPr>
        <p:blipFill>
          <a:blip r:embed="rId4"/>
          <a:stretch>
            <a:fillRect/>
          </a:stretch>
        </p:blipFill>
        <p:spPr>
          <a:xfrm>
            <a:off x="548640" y="2724912"/>
            <a:ext cx="256032" cy="256032"/>
          </a:xfrm>
          <a:prstGeom prst="rect">
            <a:avLst/>
          </a:prstGeom>
        </p:spPr>
      </p:pic>
      <p:sp>
        <p:nvSpPr>
          <p:cNvPr id="12" name="Text 6"/>
          <p:cNvSpPr/>
          <p:nvPr/>
        </p:nvSpPr>
        <p:spPr>
          <a:xfrm>
            <a:off x="896112" y="2706624"/>
            <a:ext cx="6858000" cy="29260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Why embeddings produce better results when built on enriched summaries</a:t>
            </a:r>
            <a:endParaRPr lang="en-US" sz="1350" dirty="0"/>
          </a:p>
        </p:txBody>
      </p:sp>
      <p:pic>
        <p:nvPicPr>
          <p:cNvPr id="13" name="Image 4" descr="preencoded.png">    </p:cNvPr>
          <p:cNvPicPr>
            <a:picLocks noChangeAspect="1"/>
          </p:cNvPicPr>
          <p:nvPr/>
        </p:nvPicPr>
        <p:blipFill>
          <a:blip r:embed="rId5"/>
          <a:stretch>
            <a:fillRect/>
          </a:stretch>
        </p:blipFill>
        <p:spPr>
          <a:xfrm>
            <a:off x="548640" y="3200400"/>
            <a:ext cx="256032" cy="256032"/>
          </a:xfrm>
          <a:prstGeom prst="rect">
            <a:avLst/>
          </a:prstGeom>
        </p:spPr>
      </p:pic>
      <p:sp>
        <p:nvSpPr>
          <p:cNvPr id="14" name="Text 7"/>
          <p:cNvSpPr/>
          <p:nvPr/>
        </p:nvSpPr>
        <p:spPr>
          <a:xfrm>
            <a:off x="896112" y="3182112"/>
            <a:ext cx="6858000" cy="29260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How cosine similarity powers similarity search</a:t>
            </a:r>
            <a:endParaRPr lang="en-US" sz="1350" dirty="0"/>
          </a:p>
        </p:txBody>
      </p:sp>
      <p:pic>
        <p:nvPicPr>
          <p:cNvPr id="15" name="Image 5" descr="preencoded.png">    </p:cNvPr>
          <p:cNvPicPr>
            <a:picLocks noChangeAspect="1"/>
          </p:cNvPicPr>
          <p:nvPr/>
        </p:nvPicPr>
        <p:blipFill>
          <a:blip r:embed="rId6"/>
          <a:stretch>
            <a:fillRect/>
          </a:stretch>
        </p:blipFill>
        <p:spPr>
          <a:xfrm>
            <a:off x="548640" y="3675888"/>
            <a:ext cx="256032" cy="256032"/>
          </a:xfrm>
          <a:prstGeom prst="rect">
            <a:avLst/>
          </a:prstGeom>
        </p:spPr>
      </p:pic>
      <p:sp>
        <p:nvSpPr>
          <p:cNvPr id="16" name="Text 8"/>
          <p:cNvSpPr/>
          <p:nvPr/>
        </p:nvSpPr>
        <p:spPr>
          <a:xfrm>
            <a:off x="896112" y="3657600"/>
            <a:ext cx="6858000" cy="292608"/>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When to use fixed, recursive, or semantic chunking</a:t>
            </a:r>
            <a:endParaRPr lang="en-US" sz="1350" dirty="0"/>
          </a:p>
        </p:txBody>
      </p:sp>
      <p:sp>
        <p:nvSpPr>
          <p:cNvPr id="17" name="Text 9"/>
          <p:cNvSpPr/>
          <p:nvPr/>
        </p:nvSpPr>
        <p:spPr>
          <a:xfrm>
            <a:off x="548640" y="4434840"/>
            <a:ext cx="8321040" cy="384048"/>
          </a:xfrm>
          <a:prstGeom prst="rect">
            <a:avLst/>
          </a:prstGeom>
          <a:noFill/>
          <a:ln/>
        </p:spPr>
        <p:txBody>
          <a:bodyPr wrap="square" rtlCol="0" anchor="ctr"/>
          <a:lstStyle/>
          <a:p>
            <a:pPr algn="ctr" indent="0" marL="0">
              <a:buNone/>
            </a:pPr>
            <a:r>
              <a:rPr lang="en-US" sz="1500" b="1" dirty="0">
                <a:solidFill>
                  <a:srgbClr val="06B6D4"/>
                </a:solidFill>
                <a:latin typeface="Calibri" pitchFamily="34" charset="0"/>
                <a:ea typeface="Calibri" pitchFamily="34" charset="-122"/>
                <a:cs typeface="Calibri" pitchFamily="34" charset="-120"/>
              </a:rPr>
              <a:t>Next: Build the ticket_enrichment and ticket_embeddings Lambda functions</a:t>
            </a:r>
            <a:endParaRPr lang="en-US" sz="1500" dirty="0"/>
          </a:p>
        </p:txBody>
      </p:sp>
      <p:sp>
        <p:nvSpPr>
          <p:cNvPr id="18" name="Text 10"/>
          <p:cNvSpPr/>
          <p:nvPr/>
        </p:nvSpPr>
        <p:spPr>
          <a:xfrm>
            <a:off x="548640" y="4864608"/>
            <a:ext cx="8321040" cy="22860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AWS Data Pipeline Teaching Series  ·  Bedrock Enrichment &amp; Embeddings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Bedrock Enrichment &amp; Embeddings — Teaching Guide</dc:title>
  <dc:subject>PptxGenJS Presentation</dc:subject>
  <dc:creator>PptxGenJS</dc:creator>
  <cp:lastModifiedBy>PptxGenJS</cp:lastModifiedBy>
  <cp:revision>1</cp:revision>
  <dcterms:created xsi:type="dcterms:W3CDTF">2026-06-17T02:05:53Z</dcterms:created>
  <dcterms:modified xsi:type="dcterms:W3CDTF">2026-06-17T02:05:53Z</dcterms:modified>
</cp:coreProperties>
</file>