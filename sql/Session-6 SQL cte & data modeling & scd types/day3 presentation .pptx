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27432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0" y="109728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0" y="192024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0" y="274320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0" y="356616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55080" y="27432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55080" y="109728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55080" y="192024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55080" y="274320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55080" y="356616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66560" y="27432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66560" y="109728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0" y="192024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66560" y="274320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66560" y="356616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78040" y="27432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78040" y="109728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78040" y="192024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78040" y="274320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78040" y="356616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89520" y="27432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89520" y="109728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589520" y="192024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89520" y="274320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0" y="356616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01000" y="27432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01000" y="109728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01000" y="192024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01000" y="274320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001000" y="356616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412480" y="27432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412480" y="109728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12480" y="192024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412480" y="274320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412480" y="356616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823960" y="27432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823960" y="109728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823960" y="192024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823960" y="274320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823960" y="356616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640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Data Engineering for the AI Era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365760" y="11430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for Data Engineers</a:t>
            </a:r>
            <a:endParaRPr lang="en-US" sz="3800" dirty="0"/>
          </a:p>
        </p:txBody>
      </p:sp>
      <p:sp>
        <p:nvSpPr>
          <p:cNvPr id="47" name="Text 45"/>
          <p:cNvSpPr/>
          <p:nvPr/>
        </p:nvSpPr>
        <p:spPr>
          <a:xfrm>
            <a:off x="365760" y="1920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3600" dirty="0"/>
          </a:p>
        </p:txBody>
      </p:sp>
      <p:sp>
        <p:nvSpPr>
          <p:cNvPr id="48" name="Shape 46"/>
          <p:cNvSpPr/>
          <p:nvPr/>
        </p:nvSpPr>
        <p:spPr>
          <a:xfrm>
            <a:off x="365760" y="2651760"/>
            <a:ext cx="4114800" cy="36576"/>
          </a:xfrm>
          <a:prstGeom prst="rect">
            <a:avLst/>
          </a:prstGeom>
          <a:solidFill>
            <a:srgbClr val="FF6600">
              <a:alpha val="60000"/>
            </a:srgbClr>
          </a:solidFill>
          <a:ln w="12700">
            <a:solidFill>
              <a:srgbClr val="FF6600">
                <a:alpha val="6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Modelling  ·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&amp; Snowflake Schema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36576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 Type 1 &amp; 2  ·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Athena vs Redshift SQL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36576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 Pvt Ltd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Session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1097280"/>
          </a:xfrm>
          <a:prstGeom prst="rect">
            <a:avLst/>
          </a:prstGeom>
          <a:solidFill>
            <a:srgbClr val="243550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73152" cy="109728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972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325880" y="1115568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Modelling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25880" y="155448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&amp; Dimension tables · Star Schema · Snowflake Schema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286000"/>
            <a:ext cx="8412480" cy="1097280"/>
          </a:xfrm>
          <a:prstGeom prst="rect">
            <a:avLst/>
          </a:prstGeom>
          <a:solidFill>
            <a:srgbClr val="243550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286000"/>
            <a:ext cx="73152" cy="10972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3774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325880" y="2395728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 Type 1 &amp; Type 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25880" y="283464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slowly changing data · Overwrite vs versioning · SQL implementation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566160"/>
            <a:ext cx="8412480" cy="1097280"/>
          </a:xfrm>
          <a:prstGeom prst="rect">
            <a:avLst/>
          </a:prstGeom>
          <a:solidFill>
            <a:srgbClr val="243550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566160"/>
            <a:ext cx="73152" cy="1097280"/>
          </a:xfrm>
          <a:prstGeom prst="rect">
            <a:avLst/>
          </a:prstGeom>
          <a:solidFill>
            <a:srgbClr val="CE93D8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6576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325880" y="3675888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on Athena vs Redshift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25880" y="411480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differences · Date &amp; string functions · When to use which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03120"/>
            <a:ext cx="9144000" cy="109728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MODELLING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Tables · Dimension Tables · Star Schema · Snowflake Schema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Modelling — Fact Tables vs Dimension Tables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023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68680"/>
            <a:ext cx="54864" cy="374904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868680"/>
            <a:ext cx="4023360" cy="47548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6868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FACT TABLE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9184" y="1417320"/>
            <a:ext cx="3913632" cy="438912"/>
          </a:xfrm>
          <a:prstGeom prst="rect">
            <a:avLst/>
          </a:prstGeom>
          <a:solidFill>
            <a:srgbClr val="FFF5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41732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417320" y="141732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events — what happened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" y="1892808"/>
            <a:ext cx="391363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892808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417320" y="1892808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orders, payments, clicks, logins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9184" y="2368296"/>
            <a:ext cx="3913632" cy="438912"/>
          </a:xfrm>
          <a:prstGeom prst="rect">
            <a:avLst/>
          </a:prstGeom>
          <a:solidFill>
            <a:srgbClr val="FFF5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368296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=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17320" y="2368296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event (one order, one click)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9184" y="2843784"/>
            <a:ext cx="391363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843784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cols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417320" y="2843784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references + numeric measures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9184" y="3319272"/>
            <a:ext cx="3913632" cy="438912"/>
          </a:xfrm>
          <a:prstGeom prst="rect">
            <a:avLst/>
          </a:prstGeom>
          <a:solidFill>
            <a:srgbClr val="FFF5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319272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417320" y="3319272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— millions of rows quickly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9184" y="3794760"/>
            <a:ext cx="391363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79476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eg.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417320" y="379476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fact_orders, fact_deliveries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46320" y="868680"/>
            <a:ext cx="4023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46320" y="868680"/>
            <a:ext cx="54864" cy="374904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46320" y="868680"/>
            <a:ext cx="4023360" cy="475488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86868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DIMENSION TABLE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901184" y="1417320"/>
            <a:ext cx="3913632" cy="438912"/>
          </a:xfrm>
          <a:prstGeom prst="rect">
            <a:avLst/>
          </a:prstGeom>
          <a:solidFill>
            <a:srgbClr val="E0F7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83480" y="1417320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035040" y="141732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context — who, what, where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901184" y="1892808"/>
            <a:ext cx="391363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83480" y="1892808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035040" y="1892808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customers, restaurants, dates, cities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901184" y="2368296"/>
            <a:ext cx="3913632" cy="438912"/>
          </a:xfrm>
          <a:prstGeom prst="rect">
            <a:avLst/>
          </a:prstGeom>
          <a:solidFill>
            <a:srgbClr val="E0F7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83480" y="2368296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=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035040" y="2368296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entity (one customer, one restaurant)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901184" y="2843784"/>
            <a:ext cx="391363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83480" y="2843784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cols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035040" y="2843784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+ descriptive attributes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901184" y="3319272"/>
            <a:ext cx="3913632" cy="438912"/>
          </a:xfrm>
          <a:prstGeom prst="rect">
            <a:avLst/>
          </a:prstGeom>
          <a:solidFill>
            <a:srgbClr val="E0F7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83480" y="3319272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035040" y="3319272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Slowly — relatively stable set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901184" y="3794760"/>
            <a:ext cx="391363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83480" y="3794760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eg.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035040" y="379476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dim_customer, dim_restaurant, dim_date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 Pvt Ltd  ·  AWS Data Engineering for the AI Era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— Swiggy Data Warehouse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1234440"/>
            <a:ext cx="2743200" cy="347472"/>
          </a:xfrm>
          <a:prstGeom prst="rect">
            <a:avLst/>
          </a:prstGeom>
          <a:solidFill>
            <a:srgbClr val="CC3300"/>
          </a:solidFill>
          <a:ln w="12700">
            <a:solidFill>
              <a:srgbClr val="CC33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0" y="12344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⭐  fact_orders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1581912"/>
            <a:ext cx="2743200" cy="274320"/>
          </a:xfrm>
          <a:prstGeom prst="rect">
            <a:avLst/>
          </a:prstGeom>
          <a:solidFill>
            <a:srgbClr val="FFE8E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15819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6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 order_id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0" y="1856232"/>
            <a:ext cx="2743200" cy="274320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8562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6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 customer_id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0" y="2130552"/>
            <a:ext cx="2743200" cy="274320"/>
          </a:xfrm>
          <a:prstGeom prst="rect">
            <a:avLst/>
          </a:prstGeom>
          <a:solidFill>
            <a:srgbClr val="FFE8E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21305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6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 restaurant_id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0" y="2404872"/>
            <a:ext cx="2743200" cy="274320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24048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6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 date_id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0" y="2679192"/>
            <a:ext cx="2743200" cy="274320"/>
          </a:xfrm>
          <a:prstGeom prst="rect">
            <a:avLst/>
          </a:prstGeom>
          <a:solidFill>
            <a:srgbClr val="FFE8E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26791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total_amount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0" y="2953512"/>
            <a:ext cx="2743200" cy="274320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29535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delivery_time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0" y="3227832"/>
            <a:ext cx="2743200" cy="274320"/>
          </a:xfrm>
          <a:prstGeom prst="rect">
            <a:avLst/>
          </a:prstGeom>
          <a:solidFill>
            <a:srgbClr val="FFE8E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32278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37160" y="777240"/>
            <a:ext cx="256032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7160" y="7772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dim_customer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37160" y="1124712"/>
            <a:ext cx="2560320" cy="274320"/>
          </a:xfrm>
          <a:prstGeom prst="rect">
            <a:avLst/>
          </a:prstGeom>
          <a:solidFill>
            <a:srgbClr val="E3F2FD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11247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6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 customer_id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37160" y="1399032"/>
            <a:ext cx="2560320" cy="274320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" y="13990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37160" y="1673352"/>
            <a:ext cx="2560320" cy="274320"/>
          </a:xfrm>
          <a:prstGeom prst="rect">
            <a:avLst/>
          </a:prstGeom>
          <a:solidFill>
            <a:srgbClr val="E3F2FD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8600" y="16733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37160" y="1947672"/>
            <a:ext cx="2560320" cy="274320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" y="19476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joined_date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446520" y="777240"/>
            <a:ext cx="2560320" cy="34747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46520" y="7772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dim_restaurant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446520" y="1124712"/>
            <a:ext cx="2560320" cy="274320"/>
          </a:xfrm>
          <a:prstGeom prst="rect">
            <a:avLst/>
          </a:prstGeom>
          <a:solidFill>
            <a:srgbClr val="E8F5E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37960" y="11247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6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 restaurant_id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446520" y="1399032"/>
            <a:ext cx="2560320" cy="274320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37960" y="13990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446520" y="1673352"/>
            <a:ext cx="2560320" cy="274320"/>
          </a:xfrm>
          <a:prstGeom prst="rect">
            <a:avLst/>
          </a:prstGeom>
          <a:solidFill>
            <a:srgbClr val="E8F5E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37960" y="16733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cuisine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446520" y="1947672"/>
            <a:ext cx="2560320" cy="274320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37960" y="19476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rating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200400" y="3621024"/>
            <a:ext cx="2743200" cy="347472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0" y="362102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dim_date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200400" y="3968496"/>
            <a:ext cx="2743200" cy="274320"/>
          </a:xfrm>
          <a:prstGeom prst="rect">
            <a:avLst/>
          </a:prstGeom>
          <a:solidFill>
            <a:srgbClr val="F3E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91840" y="396849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6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 date_id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200400" y="4242816"/>
            <a:ext cx="2743200" cy="274320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91840" y="42428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 / quarter / year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3200400" y="4517136"/>
            <a:ext cx="2743200" cy="274320"/>
          </a:xfrm>
          <a:prstGeom prst="rect">
            <a:avLst/>
          </a:prstGeom>
          <a:solidFill>
            <a:srgbClr val="F3E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91840" y="451713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is_weekend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2697480" y="1417320"/>
            <a:ext cx="502920" cy="256032"/>
          </a:xfrm>
          <a:prstGeom prst="line">
            <a:avLst/>
          </a:prstGeom>
          <a:noFill/>
          <a:ln w="25400">
            <a:solidFill>
              <a:srgbClr val="FF6600"/>
            </a:solidFill>
            <a:prstDash val="dash"/>
          </a:ln>
        </p:spPr>
      </p:sp>
      <p:sp>
        <p:nvSpPr>
          <p:cNvPr id="50" name="Shape 48"/>
          <p:cNvSpPr/>
          <p:nvPr/>
        </p:nvSpPr>
        <p:spPr>
          <a:xfrm>
            <a:off x="5943600" y="1417320"/>
            <a:ext cx="502920" cy="256032"/>
          </a:xfrm>
          <a:prstGeom prst="line">
            <a:avLst/>
          </a:prstGeom>
          <a:noFill/>
          <a:ln w="25400">
            <a:solidFill>
              <a:srgbClr val="FF6600"/>
            </a:solidFill>
            <a:prstDash val="dash"/>
          </a:ln>
        </p:spPr>
      </p:sp>
      <p:sp>
        <p:nvSpPr>
          <p:cNvPr id="51" name="Shape 49"/>
          <p:cNvSpPr/>
          <p:nvPr/>
        </p:nvSpPr>
        <p:spPr>
          <a:xfrm>
            <a:off x="4572000" y="3182112"/>
            <a:ext cx="0" cy="438912"/>
          </a:xfrm>
          <a:prstGeom prst="line">
            <a:avLst/>
          </a:prstGeom>
          <a:noFill/>
          <a:ln w="25400">
            <a:solidFill>
              <a:srgbClr val="FF6600"/>
            </a:solidFill>
            <a:prstDash val="dash"/>
          </a:ln>
        </p:spPr>
      </p:sp>
      <p:sp>
        <p:nvSpPr>
          <p:cNvPr id="52" name="Shape 50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 Pvt Ltd  ·  AWS Data Engineering for the AI Era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— Clean Analytics Query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Arjun's manager: "Give me monthly revenue by cuisine type"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261872"/>
            <a:ext cx="5120640" cy="3520440"/>
          </a:xfrm>
          <a:prstGeom prst="rect">
            <a:avLst/>
          </a:prstGeom>
          <a:solidFill>
            <a:srgbClr val="101C28"/>
          </a:solidFill>
          <a:ln w="12700">
            <a:solidFill>
              <a:srgbClr val="3344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353312"/>
            <a:ext cx="4901184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6BB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Clean star schema query — 3 JOINs, no nesting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D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D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d.month,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D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r.cuisine,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D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COUNT(f.order_id)   AS total_orders,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D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SUM(f.total_amount) AS total_revenue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D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fact_orders 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D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dim_customer   c ON f.customer_id   = c.customer_id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D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dim_restaurant r ON f.restaurant_id = r.restaurant_id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D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dim_date       d ON f.date_id       = d.date_id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D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f.status = 'Delivered'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D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d.month, r.cuisine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D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d.month, total_revenue DESC;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23560" y="1261872"/>
            <a:ext cx="32461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23560" y="1261872"/>
            <a:ext cx="54864" cy="105156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0" y="135331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Fact first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760720" y="171907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start your FROM with the fact table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23560" y="2432304"/>
            <a:ext cx="32461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23560" y="2432304"/>
            <a:ext cx="54864" cy="105156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0" y="252374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Flat JOINs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760720" y="2889504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JOIN per dimension — no chain joins needed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23560" y="3602736"/>
            <a:ext cx="32461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623560" y="3602736"/>
            <a:ext cx="54864" cy="105156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0" y="369417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Dimensions filter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760720" y="4059936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WHERE on fact, GROUP on dimensions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 Pvt Ltd  ·  AWS Data Engineering for the AI Era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Schema — Normalised Dimensions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takes the star and breaks dimension attributes into sub-tables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" y="1188720"/>
            <a:ext cx="4114800" cy="36576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1188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 — flat dimension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27632"/>
            <a:ext cx="3200400" cy="347472"/>
          </a:xfrm>
          <a:prstGeom prst="rect">
            <a:avLst/>
          </a:prstGeom>
          <a:solidFill>
            <a:srgbClr val="CC3300"/>
          </a:solidFill>
          <a:ln w="12700">
            <a:solidFill>
              <a:srgbClr val="CC33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276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dim_restaurant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975104"/>
            <a:ext cx="3200400" cy="274320"/>
          </a:xfrm>
          <a:prstGeom prst="rect">
            <a:avLst/>
          </a:prstGeom>
          <a:solidFill>
            <a:srgbClr val="FFF5E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97510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6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 restaurant_id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249424"/>
            <a:ext cx="3200400" cy="274320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24942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523744"/>
            <a:ext cx="3200400" cy="274320"/>
          </a:xfrm>
          <a:prstGeom prst="rect">
            <a:avLst/>
          </a:prstGeom>
          <a:solidFill>
            <a:srgbClr val="FFF5E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52374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cuisine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798064"/>
            <a:ext cx="3200400" cy="274320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79806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city  ← stored here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072384"/>
            <a:ext cx="3200400" cy="274320"/>
          </a:xfrm>
          <a:prstGeom prst="rect">
            <a:avLst/>
          </a:prstGeom>
          <a:solidFill>
            <a:srgbClr val="FFF5E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07238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346704"/>
            <a:ext cx="3200400" cy="274320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34670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rating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82880" y="37033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JOIN to get all restaurant + city info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389120" y="23774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24" name="Shape 22"/>
          <p:cNvSpPr/>
          <p:nvPr/>
        </p:nvSpPr>
        <p:spPr>
          <a:xfrm>
            <a:off x="4846320" y="1188720"/>
            <a:ext cx="4114800" cy="36576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1188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— city split out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46320" y="1627632"/>
            <a:ext cx="274320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162763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dim_restaurant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46320" y="1975104"/>
            <a:ext cx="2743200" cy="274320"/>
          </a:xfrm>
          <a:prstGeom prst="rect">
            <a:avLst/>
          </a:prstGeom>
          <a:solidFill>
            <a:srgbClr val="E3F2FD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197510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6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 restaurant_id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46320" y="2249424"/>
            <a:ext cx="2743200" cy="274320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224942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846320" y="2523744"/>
            <a:ext cx="2743200" cy="274320"/>
          </a:xfrm>
          <a:prstGeom prst="rect">
            <a:avLst/>
          </a:prstGeom>
          <a:solidFill>
            <a:srgbClr val="E3F2FD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37760" y="252374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cuisine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846320" y="2798064"/>
            <a:ext cx="2743200" cy="274320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37760" y="27980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6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 city_id  ← FK only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846320" y="3072384"/>
            <a:ext cx="2743200" cy="274320"/>
          </a:xfrm>
          <a:prstGeom prst="rect">
            <a:avLst/>
          </a:prstGeom>
          <a:solidFill>
            <a:srgbClr val="E3F2FD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37760" y="307238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rating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846320" y="3246120"/>
            <a:ext cx="2743200" cy="34747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32461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dim_city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846320" y="3593592"/>
            <a:ext cx="2743200" cy="274320"/>
          </a:xfrm>
          <a:prstGeom prst="rect">
            <a:avLst/>
          </a:prstGeom>
          <a:solidFill>
            <a:srgbClr val="E8F5E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37760" y="35935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6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 city_id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846320" y="3867912"/>
            <a:ext cx="2743200" cy="274320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37760" y="38679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city_name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846320" y="4142232"/>
            <a:ext cx="2743200" cy="274320"/>
          </a:xfrm>
          <a:prstGeom prst="rect">
            <a:avLst/>
          </a:prstGeom>
          <a:solidFill>
            <a:srgbClr val="E8F5E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37760" y="41422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846320" y="4416552"/>
            <a:ext cx="2743200" cy="274320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37760" y="44165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217920" y="2999232"/>
            <a:ext cx="0" cy="246888"/>
          </a:xfrm>
          <a:prstGeom prst="line">
            <a:avLst/>
          </a:prstGeom>
          <a:noFill/>
          <a:ln w="25400">
            <a:solidFill>
              <a:srgbClr val="00BCD4"/>
            </a:solidFill>
            <a:prstDash val="dash"/>
          </a:ln>
        </p:spPr>
      </p:sp>
      <p:sp>
        <p:nvSpPr>
          <p:cNvPr id="49" name="Text 47"/>
          <p:cNvSpPr/>
          <p:nvPr/>
        </p:nvSpPr>
        <p:spPr>
          <a:xfrm>
            <a:off x="4846320" y="46177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JOINs needed for same info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 Pvt Ltd  ·  AWS Data Engineering for the AI Era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vs Snowflake Schema — When to Use Which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2560320" cy="365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80360" y="777240"/>
            <a:ext cx="2926080" cy="36576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777240"/>
            <a:ext cx="2926080" cy="36576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772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80360" y="777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Star Schema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852160" y="777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❄  Snowflake Schema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1207008"/>
            <a:ext cx="2560320" cy="502920"/>
          </a:xfrm>
          <a:prstGeom prst="rect">
            <a:avLst/>
          </a:prstGeom>
          <a:solidFill>
            <a:srgbClr val="E8ED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80360" y="1207008"/>
            <a:ext cx="2926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52160" y="1207008"/>
            <a:ext cx="2926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0700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 structure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944368" y="1207008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— all attributes in one table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16168" y="1207008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Normalised — split into sub-tables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1746504"/>
            <a:ext cx="2560320" cy="502920"/>
          </a:xfrm>
          <a:prstGeom prst="rect">
            <a:avLst/>
          </a:prstGeom>
          <a:solidFill>
            <a:srgbClr val="E8ED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80360" y="1746504"/>
            <a:ext cx="2926080" cy="502920"/>
          </a:xfrm>
          <a:prstGeom prst="rect">
            <a:avLst/>
          </a:prstGeom>
          <a:solidFill>
            <a:srgbClr val="F5F8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52160" y="1746504"/>
            <a:ext cx="2926080" cy="502920"/>
          </a:xfrm>
          <a:prstGeom prst="rect">
            <a:avLst/>
          </a:prstGeom>
          <a:solidFill>
            <a:srgbClr val="F5F8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174650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complexity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944368" y="1746504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— 1 JOIN per dimension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16168" y="1746504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complex — extra JOINs through sub-tables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2286000"/>
            <a:ext cx="2560320" cy="502920"/>
          </a:xfrm>
          <a:prstGeom prst="rect">
            <a:avLst/>
          </a:prstGeom>
          <a:solidFill>
            <a:srgbClr val="E8ED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80360" y="2286000"/>
            <a:ext cx="2926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52160" y="2286000"/>
            <a:ext cx="2926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22860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performance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944368" y="228600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— fewer JOINs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16168" y="228600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slower — more JOINs at query time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2825496"/>
            <a:ext cx="2560320" cy="502920"/>
          </a:xfrm>
          <a:prstGeom prst="rect">
            <a:avLst/>
          </a:prstGeom>
          <a:solidFill>
            <a:srgbClr val="E8ED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880360" y="2825496"/>
            <a:ext cx="2926080" cy="502920"/>
          </a:xfrm>
          <a:prstGeom prst="rect">
            <a:avLst/>
          </a:prstGeom>
          <a:solidFill>
            <a:srgbClr val="F5F8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52160" y="2825496"/>
            <a:ext cx="2926080" cy="502920"/>
          </a:xfrm>
          <a:prstGeom prst="rect">
            <a:avLst/>
          </a:prstGeom>
          <a:solidFill>
            <a:srgbClr val="F5F8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282549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944368" y="2825496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— repeated values in dims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916168" y="2825496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— normalised removes duplication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74320" y="3364992"/>
            <a:ext cx="2560320" cy="502920"/>
          </a:xfrm>
          <a:prstGeom prst="rect">
            <a:avLst/>
          </a:prstGeom>
          <a:solidFill>
            <a:srgbClr val="E8ED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80360" y="3364992"/>
            <a:ext cx="2926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52160" y="3364992"/>
            <a:ext cx="2926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336499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engine fit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944368" y="3364992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Redshift, Athena, BigQuery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916168" y="3364992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OLTP DBs, operational reporting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74320" y="3904488"/>
            <a:ext cx="2560320" cy="502920"/>
          </a:xfrm>
          <a:prstGeom prst="rect">
            <a:avLst/>
          </a:prstGeom>
          <a:solidFill>
            <a:srgbClr val="E8ED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880360" y="3904488"/>
            <a:ext cx="2926080" cy="502920"/>
          </a:xfrm>
          <a:prstGeom prst="rect">
            <a:avLst/>
          </a:prstGeom>
          <a:solidFill>
            <a:srgbClr val="F5F8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852160" y="3904488"/>
            <a:ext cx="2926080" cy="502920"/>
          </a:xfrm>
          <a:prstGeom prst="rect">
            <a:avLst/>
          </a:prstGeom>
          <a:solidFill>
            <a:srgbClr val="F5F8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390448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preference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2944368" y="3904488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Default for data warehouses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916168" y="3904488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for multi-level hierarchies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74320" y="4480560"/>
            <a:ext cx="8595360" cy="365760"/>
          </a:xfrm>
          <a:prstGeom prst="rect">
            <a:avLst/>
          </a:prstGeom>
          <a:solidFill>
            <a:srgbClr val="1B3A2A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1480" y="448056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Default to Star Schema. Use Snowflake only when a dimension has a genuine multi-level hierarchy (city → state → country) queried at all levels.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 Pvt Ltd  ·  AWS Data Engineering for the AI Era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03120"/>
            <a:ext cx="9144000" cy="109728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SLOWLY CHANGING DIMENSIONS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 Type 1  ·  SCD Type 2  ·  SQL Implementation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Slowly Changing Dimensions — The Problem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8595360" cy="868680"/>
          </a:xfrm>
          <a:prstGeom prst="rect">
            <a:avLst/>
          </a:prstGeom>
          <a:solidFill>
            <a:srgbClr val="3A2A10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A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Arjun's Situation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Nair moves from Mumbai to Pune. Her next order arrives from Pune. Arjun's dim_customer table still says Mumbai. What does he do?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874520"/>
            <a:ext cx="27889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874520"/>
            <a:ext cx="54864" cy="265176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874520"/>
            <a:ext cx="2788920" cy="45720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8745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SCD Type 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84048" y="239572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Overwrite the old value. No history kept.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84048" y="29992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6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Simple, no extra rows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4048" y="33375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A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History lost forever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" y="3712464"/>
            <a:ext cx="13716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7124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today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0" y="1874520"/>
            <a:ext cx="27889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0" y="1874520"/>
            <a:ext cx="54864" cy="26517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1874520"/>
            <a:ext cx="2788920" cy="4572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8745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 SCD Type 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310128" y="239572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new row. Keep both old and new versions.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310128" y="29992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6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Full history preserved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10128" y="33375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A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More rows, surrogate key needed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749040" y="3712464"/>
            <a:ext cx="13716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49040" y="37124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today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26480" y="1874520"/>
            <a:ext cx="27889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26480" y="1874520"/>
            <a:ext cx="54864" cy="2651760"/>
          </a:xfrm>
          <a:prstGeom prst="rect">
            <a:avLst/>
          </a:prstGeom>
          <a:solidFill>
            <a:srgbClr val="CE93D8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26480" y="1874520"/>
            <a:ext cx="2788920" cy="457200"/>
          </a:xfrm>
          <a:prstGeom prst="rect">
            <a:avLst/>
          </a:prstGeom>
          <a:solidFill>
            <a:srgbClr val="CE93D8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0" y="18745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SCD Type 3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236208" y="239572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new column for the new value (previous_city).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236208" y="29992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6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Simple, keeps 1 prior value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36208" y="33375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A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Only 1 level of history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 Pvt Ltd  ·  AWS Data Engineering for the AI Era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 Type 1 — Overwrite (No History Kept)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80467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change: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5943600" cy="804672"/>
        </p:xfrm>
        <a:graphic>
          <a:graphicData uri="http://schemas.openxmlformats.org/drawingml/2006/table">
            <a:tbl>
              <a:tblPr/>
              <a:tblGrid>
                <a:gridCol w="1485900"/>
                <a:gridCol w="1485900"/>
                <a:gridCol w="1485900"/>
                <a:gridCol w="148590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customer_id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name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city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last_updated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Priya Nair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66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Mumbai  ← current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2022-03-10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474720" y="2029968"/>
            <a:ext cx="0" cy="347472"/>
          </a:xfrm>
          <a:prstGeom prst="line">
            <a:avLst/>
          </a:prstGeom>
          <a:noFill/>
          <a:ln w="31750">
            <a:solidFill>
              <a:srgbClr val="FF6600"/>
            </a:solidFill>
            <a:prstDash val="dash"/>
          </a:ln>
        </p:spPr>
      </p:sp>
      <p:sp>
        <p:nvSpPr>
          <p:cNvPr id="8" name="Text 5"/>
          <p:cNvSpPr/>
          <p:nvPr/>
        </p:nvSpPr>
        <p:spPr>
          <a:xfrm>
            <a:off x="2194560" y="207568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runs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74320" y="23774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SCD Type 1: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670048"/>
          <a:ext cx="5943600" cy="804672"/>
        </p:xfrm>
        <a:graphic>
          <a:graphicData uri="http://schemas.openxmlformats.org/drawingml/2006/table">
            <a:tbl>
              <a:tblPr/>
              <a:tblGrid>
                <a:gridCol w="1485900"/>
                <a:gridCol w="1485900"/>
                <a:gridCol w="1485900"/>
                <a:gridCol w="148590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customer_id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name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city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last_updated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Priya Nair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C85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Pune  ← overwritten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2024-01-15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274320" y="354787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 is gone forever — overwritten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274320" y="3904488"/>
            <a:ext cx="5943600" cy="804672"/>
          </a:xfrm>
          <a:prstGeom prst="rect">
            <a:avLst/>
          </a:prstGeom>
          <a:solidFill>
            <a:srgbClr val="101C28"/>
          </a:solidFill>
          <a:ln w="12700">
            <a:solidFill>
              <a:srgbClr val="334455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84048" y="3995928"/>
            <a:ext cx="57241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D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dim_customer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D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city = 'Pune', last_updated = CURRENT_DATE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D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customer_id = 2;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400800" y="804672"/>
            <a:ext cx="24688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00800" y="804672"/>
            <a:ext cx="54864" cy="128016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492240" y="868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USE when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492240" y="1207008"/>
            <a:ext cx="22860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typos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Correcting data errors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genuinely doesn't matter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400800" y="2212848"/>
            <a:ext cx="24688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400800" y="2212848"/>
            <a:ext cx="54864" cy="1463040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492240" y="2286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AVOID when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6492240" y="2633472"/>
            <a:ext cx="22860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accuracy matters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ask 'where was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 at order time?'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 Pvt Ltd  ·  AWS Data Engineering for the AI Era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 Type 2 — Add New Row (Full History)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overwriting — insert a new row, expire the old one. Both versions live in the table.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88720"/>
          <a:ext cx="8595360" cy="1005840"/>
        </p:xfrm>
        <a:graphic>
          <a:graphicData uri="http://schemas.openxmlformats.org/drawingml/2006/table">
            <a:tbl>
              <a:tblPr/>
              <a:tblGrid>
                <a:gridCol w="1227909"/>
                <a:gridCol w="1227909"/>
                <a:gridCol w="1227909"/>
                <a:gridCol w="1227909"/>
                <a:gridCol w="1227909"/>
                <a:gridCol w="1227909"/>
                <a:gridCol w="1227909"/>
              </a:tblGrid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surrogate_key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customer_id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name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city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effective_from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effective_to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is_current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1001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Priya Nair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Mumbai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2022-03-10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2024-01-14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525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  ← expired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B1B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1002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F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F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Priya Nair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F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Pune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F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2024-01-15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F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9999-12-31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F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C85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  ← current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2A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2377440"/>
            <a:ext cx="8595360" cy="594360"/>
          </a:xfrm>
          <a:prstGeom prst="rect">
            <a:avLst/>
          </a:prstGeom>
          <a:solidFill>
            <a:srgbClr val="F0F4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74320" y="2377440"/>
            <a:ext cx="54864" cy="59436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" y="23774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surrogate_key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017520" y="237744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synthetic PK — customer_id alone can't be PK anymore (same customer, 2 rows)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74320" y="3035808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74320" y="3035808"/>
            <a:ext cx="54864" cy="5943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11480" y="303580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effective_from / effective_to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017520" y="3035808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 when this version was valid. 9999-12-31 = open end date (still current)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74320" y="3694176"/>
            <a:ext cx="8595360" cy="594360"/>
          </a:xfrm>
          <a:prstGeom prst="rect">
            <a:avLst/>
          </a:prstGeom>
          <a:solidFill>
            <a:srgbClr val="F0F4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74320" y="3694176"/>
            <a:ext cx="54864" cy="594360"/>
          </a:xfrm>
          <a:prstGeom prst="rect">
            <a:avLst/>
          </a:prstGeom>
          <a:solidFill>
            <a:srgbClr val="CE93D8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11480" y="3694176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is_current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017520" y="3694176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for quick lookup — WHERE is_current = 'Y' gives the latest state of every customer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 Pvt Ltd  ·  AWS Data Engineering for the AI Era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 Type 2 — SQL Implementation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steps — must happen together (wrap in transaction or use Delta Lake MERGE):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502920" cy="50292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70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1170432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 the existing row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1737360"/>
            <a:ext cx="8595360" cy="1005840"/>
          </a:xfrm>
          <a:prstGeom prst="rect">
            <a:avLst/>
          </a:prstGeom>
          <a:solidFill>
            <a:srgbClr val="101C28"/>
          </a:solidFill>
          <a:ln w="12700">
            <a:solidFill>
              <a:srgbClr val="3344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828800"/>
            <a:ext cx="83759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D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dim_customer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D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  effective_to = CURRENT_DATE - INTERVAL '1 day',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D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is_current   = 'N'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D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customer_id = 2 AND is_current = 'Y';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880360"/>
            <a:ext cx="502920" cy="5029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68680" y="288036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the new current version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" y="3447288"/>
            <a:ext cx="8595360" cy="822960"/>
          </a:xfrm>
          <a:prstGeom prst="rect">
            <a:avLst/>
          </a:prstGeom>
          <a:solidFill>
            <a:srgbClr val="101C28"/>
          </a:solidFill>
          <a:ln w="12700">
            <a:solidFill>
              <a:srgbClr val="3344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3538728"/>
            <a:ext cx="8375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D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dim_customer (customer_id, name, city, effective_from, effective_to, is_current)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D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 (2, 'Priya Nair', 'Pune', CURRENT_DATE, '9999-12-31', 'Y');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4343400"/>
            <a:ext cx="8595360" cy="347472"/>
          </a:xfrm>
          <a:prstGeom prst="rect">
            <a:avLst/>
          </a:prstGeom>
          <a:solidFill>
            <a:srgbClr val="3A2A10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434340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A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If Step 2 fails after Step 1, Priya has no current row. In production use a transaction or Delta Lake MERGE — atomic, auditable, restartable.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 Pvt Ltd  ·  AWS Data Engineering for the AI Era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 Type 2 — Querying Historical Data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power of Type 2: join on the date range to get what was true at the time of the order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5029200" cy="2194560"/>
          </a:xfrm>
          <a:prstGeom prst="rect">
            <a:avLst/>
          </a:prstGeom>
          <a:solidFill>
            <a:srgbClr val="101C28"/>
          </a:solidFill>
          <a:ln w="12700">
            <a:solidFill>
              <a:srgbClr val="3344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261872"/>
            <a:ext cx="480974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6BB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Current city only (simple)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D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customer_id, name, city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D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dim_customer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D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is_current = 'Y';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D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D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City at time of order (historical accuracy)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D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o.order_id, o.order_date,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D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c.name, c.city AS city_at_order_time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D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fact_orders 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D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dim_customer 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D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o.customer_id = c.customer_id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D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AND o.order_date BETWEEN c.effective_from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D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AND c.effective_to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D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o.status = 'Delivered';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532120" y="1170432"/>
            <a:ext cx="3337560" cy="868680"/>
          </a:xfrm>
          <a:prstGeom prst="rect">
            <a:avLst/>
          </a:prstGeom>
          <a:solidFill>
            <a:srgbClr val="243550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532120" y="1170432"/>
            <a:ext cx="54864" cy="86868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23560" y="128016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080760" y="126187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JOIN uses BETWEEN effective_from AND effective_to — not just ON customer_id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532120" y="2157984"/>
            <a:ext cx="3337560" cy="868680"/>
          </a:xfrm>
          <a:prstGeom prst="rect">
            <a:avLst/>
          </a:prstGeom>
          <a:solidFill>
            <a:srgbClr val="243550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532120" y="2157984"/>
            <a:ext cx="54864" cy="8686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23560" y="2267712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080760" y="2249424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finds which version of the dimension was active on the order date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532120" y="3145536"/>
            <a:ext cx="3337560" cy="868680"/>
          </a:xfrm>
          <a:prstGeom prst="rect">
            <a:avLst/>
          </a:prstGeom>
          <a:solidFill>
            <a:srgbClr val="243550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532120" y="3145536"/>
            <a:ext cx="54864" cy="86868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23560" y="3255264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080760" y="3236976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order placed when Priya lived in Mumbai shows Mumbai — even after she moved to Pune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" y="349300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makes SCD Type 2 the gold standard for historical accuracy in data warehouses.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 Pvt Ltd  ·  AWS Data Engineering for the AI Era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 Type 1 vs Type 2 — Quick Comparison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256032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80360" y="777240"/>
            <a:ext cx="2834640" cy="38404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0" y="777240"/>
            <a:ext cx="3108960" cy="384048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80360" y="77724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 Type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760720" y="7772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 Type 2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1225296"/>
            <a:ext cx="2560320" cy="420624"/>
          </a:xfrm>
          <a:prstGeom prst="rect">
            <a:avLst/>
          </a:prstGeom>
          <a:solidFill>
            <a:srgbClr val="E8ED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80360" y="1225296"/>
            <a:ext cx="28346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60720" y="1225296"/>
            <a:ext cx="31089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225296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kept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944368" y="1225296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— old value lost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824728" y="1225296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— every version preserved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1682496"/>
            <a:ext cx="2560320" cy="420624"/>
          </a:xfrm>
          <a:prstGeom prst="rect">
            <a:avLst/>
          </a:prstGeom>
          <a:solidFill>
            <a:srgbClr val="E8ED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80360" y="1682496"/>
            <a:ext cx="2834640" cy="420624"/>
          </a:xfrm>
          <a:prstGeom prst="rect">
            <a:avLst/>
          </a:prstGeom>
          <a:solidFill>
            <a:srgbClr val="F5F8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60720" y="1682496"/>
            <a:ext cx="3108960" cy="420624"/>
          </a:xfrm>
          <a:prstGeom prst="rect">
            <a:avLst/>
          </a:prstGeom>
          <a:solidFill>
            <a:srgbClr val="F5F8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1682496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count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944368" y="1682496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— no new rows added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824728" y="1682496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 — one new row per change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2139696"/>
            <a:ext cx="2560320" cy="420624"/>
          </a:xfrm>
          <a:prstGeom prst="rect">
            <a:avLst/>
          </a:prstGeom>
          <a:solidFill>
            <a:srgbClr val="E8ED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80360" y="2139696"/>
            <a:ext cx="28346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760720" y="2139696"/>
            <a:ext cx="31089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2139696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944368" y="2139696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key stays unique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824728" y="2139696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Surrogate key needed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2596896"/>
            <a:ext cx="2560320" cy="420624"/>
          </a:xfrm>
          <a:prstGeom prst="rect">
            <a:avLst/>
          </a:prstGeom>
          <a:solidFill>
            <a:srgbClr val="E8ED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880360" y="2596896"/>
            <a:ext cx="2834640" cy="420624"/>
          </a:xfrm>
          <a:prstGeom prst="rect">
            <a:avLst/>
          </a:prstGeom>
          <a:solidFill>
            <a:srgbClr val="F5F8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760720" y="2596896"/>
            <a:ext cx="3108960" cy="420624"/>
          </a:xfrm>
          <a:prstGeom prst="rect">
            <a:avLst/>
          </a:prstGeom>
          <a:solidFill>
            <a:srgbClr val="F5F8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2596896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simplicity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944368" y="2596896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— no date joins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824728" y="2596896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complex — date range JOIN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74320" y="3054096"/>
            <a:ext cx="2560320" cy="420624"/>
          </a:xfrm>
          <a:prstGeom prst="rect">
            <a:avLst/>
          </a:prstGeom>
          <a:solidFill>
            <a:srgbClr val="E8ED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880360" y="3054096"/>
            <a:ext cx="28346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760720" y="3054096"/>
            <a:ext cx="31089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3054096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2944368" y="3054096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 only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824728" y="3054096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accurate historically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74320" y="3511296"/>
            <a:ext cx="2560320" cy="420624"/>
          </a:xfrm>
          <a:prstGeom prst="rect">
            <a:avLst/>
          </a:prstGeom>
          <a:solidFill>
            <a:srgbClr val="E8ED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880360" y="3511296"/>
            <a:ext cx="2834640" cy="420624"/>
          </a:xfrm>
          <a:prstGeom prst="rect">
            <a:avLst/>
          </a:prstGeom>
          <a:solidFill>
            <a:srgbClr val="F5F8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760720" y="3511296"/>
            <a:ext cx="3108960" cy="420624"/>
          </a:xfrm>
          <a:prstGeom prst="rect">
            <a:avLst/>
          </a:prstGeom>
          <a:solidFill>
            <a:srgbClr val="F5F8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3511296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2944368" y="3511296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statement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824728" y="3511296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old + INSERT new (or MERGE)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274320" y="3968496"/>
            <a:ext cx="2560320" cy="420624"/>
          </a:xfrm>
          <a:prstGeom prst="rect">
            <a:avLst/>
          </a:prstGeom>
          <a:solidFill>
            <a:srgbClr val="E8ED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880360" y="3968496"/>
            <a:ext cx="28346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760720" y="3968496"/>
            <a:ext cx="31089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" y="3968496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2944368" y="3968496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typos, non-historical attrs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824728" y="3968496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moves, price changes, org restructure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274320" y="4480560"/>
            <a:ext cx="8595360" cy="347472"/>
          </a:xfrm>
          <a:prstGeom prst="rect">
            <a:avLst/>
          </a:prstGeom>
          <a:solidFill>
            <a:srgbClr val="1B3A2A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11480" y="448056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production — implement Type 2 using Delta Lake MERGE. Handles UPDATE + INSERT atomically in a single statement.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 Pvt Ltd  ·  AWS Data Engineering for the AI Era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03120"/>
            <a:ext cx="9144000" cy="1097280"/>
          </a:xfrm>
          <a:prstGeom prst="rect">
            <a:avLst/>
          </a:prstGeom>
          <a:solidFill>
            <a:srgbClr val="CE93D8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ON ATHENA vs REDSHIFT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differences  ·  Date &amp; string functions  ·  When to use which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CE93D8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Athena vs Redshift — Architecture Overview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265176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71800" y="777240"/>
            <a:ext cx="2788920" cy="38404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06440" y="777240"/>
            <a:ext cx="3063240" cy="384048"/>
          </a:xfrm>
          <a:prstGeom prst="rect">
            <a:avLst/>
          </a:prstGeom>
          <a:solidFill>
            <a:srgbClr val="E7157B"/>
          </a:solidFill>
          <a:ln w="12700">
            <a:solidFill>
              <a:srgbClr val="E715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71800" y="77724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Athena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806440" y="77724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Redshift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1225296"/>
            <a:ext cx="2651760" cy="438912"/>
          </a:xfrm>
          <a:prstGeom prst="rect">
            <a:avLst/>
          </a:prstGeom>
          <a:solidFill>
            <a:srgbClr val="E8ED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225296"/>
            <a:ext cx="2542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971800" y="1225296"/>
            <a:ext cx="27889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44952" y="1225296"/>
            <a:ext cx="2679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SQL query engine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806440" y="1225296"/>
            <a:ext cx="3063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79592" y="1225296"/>
            <a:ext cx="2953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columnar data warehouse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1700784"/>
            <a:ext cx="2651760" cy="438912"/>
          </a:xfrm>
          <a:prstGeom prst="rect">
            <a:avLst/>
          </a:prstGeom>
          <a:solidFill>
            <a:srgbClr val="E8ED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1700784"/>
            <a:ext cx="2542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971800" y="1700784"/>
            <a:ext cx="2788920" cy="438912"/>
          </a:xfrm>
          <a:prstGeom prst="rect">
            <a:avLst/>
          </a:prstGeom>
          <a:solidFill>
            <a:srgbClr val="F8F0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44952" y="1700784"/>
            <a:ext cx="2679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data directly from S3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806440" y="1700784"/>
            <a:ext cx="3063240" cy="438912"/>
          </a:xfrm>
          <a:prstGeom prst="rect">
            <a:avLst/>
          </a:prstGeom>
          <a:solidFill>
            <a:srgbClr val="F8F0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79592" y="1700784"/>
            <a:ext cx="2953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loaded into cluster storage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2176272"/>
            <a:ext cx="2651760" cy="438912"/>
          </a:xfrm>
          <a:prstGeom prst="rect">
            <a:avLst/>
          </a:prstGeom>
          <a:solidFill>
            <a:srgbClr val="E8ED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2176272"/>
            <a:ext cx="2542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engine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971800" y="2176272"/>
            <a:ext cx="27889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44952" y="2176272"/>
            <a:ext cx="2679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Presto / Trino (open source)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806440" y="2176272"/>
            <a:ext cx="3063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79592" y="2176272"/>
            <a:ext cx="2953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PostgreSQL-based (proprietary exts)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2651760"/>
            <a:ext cx="2651760" cy="438912"/>
          </a:xfrm>
          <a:prstGeom prst="rect">
            <a:avLst/>
          </a:prstGeom>
          <a:solidFill>
            <a:srgbClr val="E8ED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2651760"/>
            <a:ext cx="2542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971800" y="2651760"/>
            <a:ext cx="2788920" cy="438912"/>
          </a:xfrm>
          <a:prstGeom prst="rect">
            <a:avLst/>
          </a:prstGeom>
          <a:solidFill>
            <a:srgbClr val="F8F0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44952" y="2651760"/>
            <a:ext cx="2679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— point at S3 and query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806440" y="2651760"/>
            <a:ext cx="3063240" cy="438912"/>
          </a:xfrm>
          <a:prstGeom prst="rect">
            <a:avLst/>
          </a:prstGeom>
          <a:solidFill>
            <a:srgbClr val="F8F0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79592" y="2651760"/>
            <a:ext cx="2953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cluster or Serverless RPU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74320" y="3127248"/>
            <a:ext cx="2651760" cy="438912"/>
          </a:xfrm>
          <a:prstGeom prst="rect">
            <a:avLst/>
          </a:prstGeom>
          <a:solidFill>
            <a:srgbClr val="E8ED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472" y="3127248"/>
            <a:ext cx="2542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971800" y="3127248"/>
            <a:ext cx="27889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44952" y="3127248"/>
            <a:ext cx="2679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TB of data scanned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806440" y="3127248"/>
            <a:ext cx="3063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79592" y="3127248"/>
            <a:ext cx="2953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cluster hour or per RPU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74320" y="3602736"/>
            <a:ext cx="2651760" cy="438912"/>
          </a:xfrm>
          <a:prstGeom prst="rect">
            <a:avLst/>
          </a:prstGeom>
          <a:solidFill>
            <a:srgbClr val="E8ED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7472" y="3602736"/>
            <a:ext cx="2542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971800" y="3602736"/>
            <a:ext cx="2788920" cy="438912"/>
          </a:xfrm>
          <a:prstGeom prst="rect">
            <a:avLst/>
          </a:prstGeom>
          <a:solidFill>
            <a:srgbClr val="F8F0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044952" y="3602736"/>
            <a:ext cx="2679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Ad-hoc, exploration, lake queries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806440" y="3602736"/>
            <a:ext cx="3063240" cy="438912"/>
          </a:xfrm>
          <a:prstGeom prst="rect">
            <a:avLst/>
          </a:prstGeom>
          <a:solidFill>
            <a:srgbClr val="F8F0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879592" y="3602736"/>
            <a:ext cx="2953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analytics, BI, structured DW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274320" y="4078224"/>
            <a:ext cx="2651760" cy="438912"/>
          </a:xfrm>
          <a:prstGeom prst="rect">
            <a:avLst/>
          </a:prstGeom>
          <a:solidFill>
            <a:srgbClr val="E8ED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7472" y="4078224"/>
            <a:ext cx="2542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dialect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2971800" y="4078224"/>
            <a:ext cx="27889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044952" y="4078224"/>
            <a:ext cx="2679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 + Presto/Trino extensions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5806440" y="4078224"/>
            <a:ext cx="3063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879592" y="4078224"/>
            <a:ext cx="2953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 + PostgreSQL + Redshift extensions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 Pvt Ltd  ·  AWS Data Engineering for the AI Era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SQL Differences — Date &amp; String Functions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8595360" cy="3886200"/>
          </a:xfrm>
          <a:prstGeom prst="rect">
            <a:avLst/>
          </a:prstGeom>
          <a:solidFill>
            <a:srgbClr val="101C28"/>
          </a:solidFill>
          <a:ln w="12700">
            <a:solidFill>
              <a:srgbClr val="3344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896112"/>
            <a:ext cx="8375904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6BB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── DATE FUNCTIONS ───────────────────────────────────────────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D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Current date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D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Athena:    SELECT current_date, current_timestamp;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D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Redshift:  SELECT CURRENT_DATE, GETDATE();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D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D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Format a date as YYYY-MM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D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Athena:    SELECT date_format(order_date, '%Y-%m') AS month;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D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Redshift:  SELECT TO_CHAR(order_date, 'YYYY-MM')  AS month;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D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D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Date arithmetic (add 7 days)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D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Athena:    SELECT date_add('day', 7, current_date);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D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Redshift:  SELECT DATEADD(day, 7, CURRENT_DATE);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D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D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── STRING FUNCTIONS ─────────────────────────────────────────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D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Concatenation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D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Athena:    SELECT concat(first_name, ' ', last_name);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D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Redshift:  SELECT first_name || ' ' || last_name;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D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D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NVL (Redshift only — use COALESCE in Athena)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D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Redshift:  SELECT NVL(delivery_time, 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D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Athena:    SELECT COALESCE(delivery_time, 0);  -- works in both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 Pvt Ltd  ·  AWS Data Engineering for the AI Era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CE93D8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Athena vs Redshift — When to Use Which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283464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04672"/>
            <a:ext cx="54864" cy="40690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804672"/>
            <a:ext cx="2834640" cy="4572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80467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Athena when...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28" y="1325880"/>
            <a:ext cx="2633472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Querying raw/semi-processed data in S3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Ad-hoc exploration — one-off queries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movement needed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Pay-per-scan economics make sense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tables, schema on read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 Bronze / Silver layer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154680" y="804672"/>
            <a:ext cx="283464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804672"/>
            <a:ext cx="54864" cy="4069080"/>
          </a:xfrm>
          <a:prstGeom prst="rect">
            <a:avLst/>
          </a:prstGeom>
          <a:solidFill>
            <a:srgbClr val="E7157B"/>
          </a:solidFill>
          <a:ln w="12700">
            <a:solidFill>
              <a:srgbClr val="E7157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54680" y="804672"/>
            <a:ext cx="2834640" cy="457200"/>
          </a:xfrm>
          <a:prstGeom prst="rect">
            <a:avLst/>
          </a:prstGeom>
          <a:solidFill>
            <a:srgbClr val="E7157B"/>
          </a:solidFill>
          <a:ln w="12700">
            <a:solidFill>
              <a:srgbClr val="E715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64408" y="80467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Redshift when...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64408" y="1325880"/>
            <a:ext cx="2633472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tools query same data repeatedly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aggregations at scale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procedures and WLM needed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team sharing a structured DW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 and governance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 Gold layer powering dashboards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80760" y="804672"/>
            <a:ext cx="283464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0760" y="804672"/>
            <a:ext cx="54864" cy="406908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80760" y="804672"/>
            <a:ext cx="2834640" cy="45720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90488" y="80467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Both together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90488" y="1325880"/>
            <a:ext cx="2633472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Athena queries Bronze/Silver in S3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Redshift powers Gold for BI/reporting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Glue Catalog connects both engines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Redshift Spectrum bridges the gap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Cost-efficient: explore in Athena,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hot data to Redshift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 Pvt Ltd  ·  AWS Data Engineering for the AI Era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Key Takeaways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36576"/>
          </a:xfrm>
          <a:prstGeom prst="rect">
            <a:avLst/>
          </a:prstGeom>
          <a:solidFill>
            <a:srgbClr val="FF6600">
              <a:alpha val="60000"/>
            </a:srgbClr>
          </a:solidFill>
          <a:ln w="12700">
            <a:solidFill>
              <a:srgbClr val="FF6600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8412480" cy="1188720"/>
          </a:xfrm>
          <a:prstGeom prst="rect">
            <a:avLst/>
          </a:prstGeom>
          <a:solidFill>
            <a:srgbClr val="243550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73152" cy="118872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0584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Data Modelling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tables = events + measures. Dimension tables = descriptive context.  ·  Star: flat dims, fewer JOINs, faster queries — default for DW  ·  Snowflake: normalised, more JOINs — only for multi-level hierarchies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286000"/>
            <a:ext cx="8412480" cy="1188720"/>
          </a:xfrm>
          <a:prstGeom prst="rect">
            <a:avLst/>
          </a:prstGeom>
          <a:solidFill>
            <a:srgbClr val="243550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286000"/>
            <a:ext cx="73152" cy="11887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33172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SCD Type 1 &amp; 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2697480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1: UPDATE in place. Simple, no history. Good for corrections.  ·  Type 2: INSERT new row, expire old. Full history. Surrogate key + date range + is_current.  ·  Historical JOINs: ON customer_id AND order_date BETWEEN effective_from AND effective_to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611880"/>
            <a:ext cx="8412480" cy="1188720"/>
          </a:xfrm>
          <a:prstGeom prst="rect">
            <a:avLst/>
          </a:prstGeom>
          <a:solidFill>
            <a:srgbClr val="243550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611880"/>
            <a:ext cx="73152" cy="1188720"/>
          </a:xfrm>
          <a:prstGeom prst="rect">
            <a:avLst/>
          </a:prstGeom>
          <a:solidFill>
            <a:srgbClr val="CE93D8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65760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Athena vs Redshift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4023360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ANSI SQL core — differences are in date/string functions  ·  Athena: serverless, S3-native, pay-per-scan — use for exploration  ·  Redshift: columnar DW, stored procs, WLM — use for BI and production analytics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486460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 Pvt Ltd  ·  AWS Data Engineering for the AI Era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for Data Engineers — Day 3</dc:title>
  <dc:subject>PptxGenJS Presentation</dc:subject>
  <dc:creator>Keystone Edtech Pvt Ltd</dc:creator>
  <cp:lastModifiedBy>Keystone Edtech Pvt Ltd</cp:lastModifiedBy>
  <cp:revision>1</cp:revision>
  <dcterms:created xsi:type="dcterms:W3CDTF">2026-04-13T01:17:56Z</dcterms:created>
  <dcterms:modified xsi:type="dcterms:W3CDTF">2026-04-13T01:17:56Z</dcterms:modified>
</cp:coreProperties>
</file>